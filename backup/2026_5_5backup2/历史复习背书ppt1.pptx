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2.xml" ContentType="application/vnd.openxmlformats-officedocument.presentationml.notesSlide+xml"/>
  <Override PartName="/ppt/tags/tag68.xml" ContentType="application/vnd.openxmlformats-officedocument.presentationml.tags+xml"/>
  <Override PartName="/ppt/notesSlides/notesSlide3.xml" ContentType="application/vnd.openxmlformats-officedocument.presentationml.notesSlide+xml"/>
  <Override PartName="/ppt/tags/tag69.xml" ContentType="application/vnd.openxmlformats-officedocument.presentationml.tags+xml"/>
  <Override PartName="/ppt/notesSlides/notesSlide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5.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6.xml" ContentType="application/vnd.openxmlformats-officedocument.presentationml.notesSlide+xml"/>
  <Override PartName="/ppt/tags/tag74.xml" ContentType="application/vnd.openxmlformats-officedocument.presentationml.tags+xml"/>
  <Override PartName="/ppt/notesSlides/notesSlide7.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notesSlides/notesSlide9.xml" ContentType="application/vnd.openxmlformats-officedocument.presentationml.notesSlide+xml"/>
  <Override PartName="/ppt/tags/tag78.xml" ContentType="application/vnd.openxmlformats-officedocument.presentationml.tags+xml"/>
  <Override PartName="/ppt/notesSlides/notesSlide10.xml" ContentType="application/vnd.openxmlformats-officedocument.presentationml.notesSlide+xml"/>
  <Override PartName="/ppt/tags/tag79.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13.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14.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15.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16.xml" ContentType="application/vnd.openxmlformats-officedocument.presentationml.notesSlide+xml"/>
  <Override PartName="/ppt/tags/tag89.xml" ContentType="application/vnd.openxmlformats-officedocument.presentationml.tags+xml"/>
  <Override PartName="/ppt/notesSlides/notesSlide17.xml" ContentType="application/vnd.openxmlformats-officedocument.presentationml.notesSlide+xml"/>
  <Override PartName="/ppt/tags/tag90.xml" ContentType="application/vnd.openxmlformats-officedocument.presentationml.tags+xml"/>
  <Override PartName="/ppt/notesSlides/notesSlide18.xml" ContentType="application/vnd.openxmlformats-officedocument.presentationml.notesSlide+xml"/>
  <Override PartName="/ppt/tags/tag91.xml" ContentType="application/vnd.openxmlformats-officedocument.presentationml.tags+xml"/>
  <Override PartName="/ppt/notesSlides/notesSlide19.xml" ContentType="application/vnd.openxmlformats-officedocument.presentationml.notesSlide+xml"/>
  <Override PartName="/ppt/tags/tag92.xml" ContentType="application/vnd.openxmlformats-officedocument.presentationml.tags+xml"/>
  <Override PartName="/ppt/notesSlides/notesSlide20.xml" ContentType="application/vnd.openxmlformats-officedocument.presentationml.notesSlide+xml"/>
  <Override PartName="/ppt/tags/tag93.xml" ContentType="application/vnd.openxmlformats-officedocument.presentationml.tags+xml"/>
  <Override PartName="/ppt/notesSlides/notesSlide21.xml" ContentType="application/vnd.openxmlformats-officedocument.presentationml.notesSlide+xml"/>
  <Override PartName="/ppt/tags/tag94.xml" ContentType="application/vnd.openxmlformats-officedocument.presentationml.tags+xml"/>
  <Override PartName="/ppt/notesSlides/notesSlide22.xml" ContentType="application/vnd.openxmlformats-officedocument.presentationml.notesSlide+xml"/>
  <Override PartName="/ppt/tags/tag95.xml" ContentType="application/vnd.openxmlformats-officedocument.presentationml.tags+xml"/>
  <Override PartName="/ppt/notesSlides/notesSlide23.xml" ContentType="application/vnd.openxmlformats-officedocument.presentationml.notesSlide+xml"/>
  <Override PartName="/ppt/tags/tag96.xml" ContentType="application/vnd.openxmlformats-officedocument.presentationml.tags+xml"/>
  <Override PartName="/ppt/notesSlides/notesSlide24.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2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26.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notesSlides/notesSlide27.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28.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notesSlides/notesSlide29.xml" ContentType="application/vnd.openxmlformats-officedocument.presentationml.notesSlide+xml"/>
  <Override PartName="/ppt/tags/tag107.xml" ContentType="application/vnd.openxmlformats-officedocument.presentationml.tags+xml"/>
  <Override PartName="/ppt/notesSlides/notesSlide30.xml" ContentType="application/vnd.openxmlformats-officedocument.presentationml.notesSlide+xml"/>
  <Override PartName="/ppt/tags/tag108.xml" ContentType="application/vnd.openxmlformats-officedocument.presentationml.tags+xml"/>
  <Override PartName="/ppt/notesSlides/notesSlide31.xml" ContentType="application/vnd.openxmlformats-officedocument.presentationml.notesSlide+xml"/>
  <Override PartName="/ppt/tags/tag109.xml" ContentType="application/vnd.openxmlformats-officedocument.presentationml.tags+xml"/>
  <Override PartName="/ppt/notesSlides/notesSlide32.xml" ContentType="application/vnd.openxmlformats-officedocument.presentationml.notesSlide+xml"/>
  <Override PartName="/ppt/tags/tag110.xml" ContentType="application/vnd.openxmlformats-officedocument.presentationml.tags+xml"/>
  <Override PartName="/ppt/notesSlides/notesSlide33.xml" ContentType="application/vnd.openxmlformats-officedocument.presentationml.notesSlide+xml"/>
  <Override PartName="/ppt/tags/tag111.xml" ContentType="application/vnd.openxmlformats-officedocument.presentationml.tags+xml"/>
  <Override PartName="/ppt/notesSlides/notesSlide34.xml" ContentType="application/vnd.openxmlformats-officedocument.presentationml.notesSlide+xml"/>
  <Override PartName="/ppt/tags/tag112.xml" ContentType="application/vnd.openxmlformats-officedocument.presentationml.tags+xml"/>
  <Override PartName="/ppt/notesSlides/notesSlide35.xml" ContentType="application/vnd.openxmlformats-officedocument.presentationml.notesSlide+xml"/>
  <Override PartName="/ppt/tags/tag113.xml" ContentType="application/vnd.openxmlformats-officedocument.presentationml.tags+xml"/>
  <Override PartName="/ppt/notesSlides/notesSlide36.xml" ContentType="application/vnd.openxmlformats-officedocument.presentationml.notesSlide+xml"/>
  <Override PartName="/ppt/tags/tag114.xml" ContentType="application/vnd.openxmlformats-officedocument.presentationml.tags+xml"/>
  <Override PartName="/ppt/notesSlides/notesSlide37.xml" ContentType="application/vnd.openxmlformats-officedocument.presentationml.notesSlide+xml"/>
  <Override PartName="/ppt/tags/tag115.xml" ContentType="application/vnd.openxmlformats-officedocument.presentationml.tags+xml"/>
  <Override PartName="/ppt/notesSlides/notesSlide38.xml" ContentType="application/vnd.openxmlformats-officedocument.presentationml.notesSlide+xml"/>
  <Override PartName="/ppt/tags/tag116.xml" ContentType="application/vnd.openxmlformats-officedocument.presentationml.tags+xml"/>
  <Override PartName="/ppt/notesSlides/notesSlide39.xml" ContentType="application/vnd.openxmlformats-officedocument.presentationml.notesSlide+xml"/>
  <Override PartName="/ppt/tags/tag117.xml" ContentType="application/vnd.openxmlformats-officedocument.presentationml.tags+xml"/>
  <Override PartName="/ppt/notesSlides/notesSlide40.xml" ContentType="application/vnd.openxmlformats-officedocument.presentationml.notesSlide+xml"/>
  <Override PartName="/ppt/tags/tag118.xml" ContentType="application/vnd.openxmlformats-officedocument.presentationml.tags+xml"/>
  <Override PartName="/ppt/notesSlides/notesSlide41.xml" ContentType="application/vnd.openxmlformats-officedocument.presentationml.notesSlide+xml"/>
  <Override PartName="/ppt/tags/tag119.xml" ContentType="application/vnd.openxmlformats-officedocument.presentationml.tags+xml"/>
  <Override PartName="/ppt/notesSlides/notesSlide42.xml" ContentType="application/vnd.openxmlformats-officedocument.presentationml.notesSlide+xml"/>
  <Override PartName="/ppt/tags/tag120.xml" ContentType="application/vnd.openxmlformats-officedocument.presentationml.tags+xml"/>
  <Override PartName="/ppt/notesSlides/notesSlide43.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notesSlides/notesSlide44.xml" ContentType="application/vnd.openxmlformats-officedocument.presentationml.notesSlide+xml"/>
  <Override PartName="/ppt/tags/tag123.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24.xml" ContentType="application/vnd.openxmlformats-officedocument.presentationml.tags+xml"/>
  <Override PartName="/ppt/notesSlides/notesSlide47.xml" ContentType="application/vnd.openxmlformats-officedocument.presentationml.notesSlide+xml"/>
  <Override PartName="/ppt/tags/tag125.xml" ContentType="application/vnd.openxmlformats-officedocument.presentationml.tags+xml"/>
  <Override PartName="/ppt/notesSlides/notesSlide48.xml" ContentType="application/vnd.openxmlformats-officedocument.presentationml.notesSlide+xml"/>
  <Override PartName="/ppt/tags/tag126.xml" ContentType="application/vnd.openxmlformats-officedocument.presentationml.tags+xml"/>
  <Override PartName="/ppt/notesSlides/notesSlide49.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50.xml" ContentType="application/vnd.openxmlformats-officedocument.presentationml.notesSlide+xml"/>
  <Override PartName="/ppt/tags/tag134.xml" ContentType="application/vnd.openxmlformats-officedocument.presentationml.tags+xml"/>
  <Override PartName="/ppt/notesSlides/notesSlide51.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52.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53.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notesSlides/notesSlide54.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notesSlides/notesSlide55.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notesSlides/notesSlide56.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notesSlides/notesSlide57.xml" ContentType="application/vnd.openxmlformats-officedocument.presentationml.notesSlide+xml"/>
  <Override PartName="/ppt/tags/tag147.xml" ContentType="application/vnd.openxmlformats-officedocument.presentationml.tags+xml"/>
  <Override PartName="/ppt/notesSlides/notesSlide58.xml" ContentType="application/vnd.openxmlformats-officedocument.presentationml.notesSlide+xml"/>
  <Override PartName="/ppt/tags/tag148.xml" ContentType="application/vnd.openxmlformats-officedocument.presentationml.tags+xml"/>
  <Override PartName="/ppt/notesSlides/notesSlide59.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INESE-BC06F90" initials="" lastIdx="0" clrIdx="0"/>
  <p:cmAuthor id="2" name="Administrator" initials="A" lastIdx="0" clrIdx="1"/>
  <p:cmAuthor id="3" name="微软用户" initials="微" lastIdx="0" clrIdx="2"/>
  <p:cmAuthor id="4" name="新课标第一网" initials="新" lastIdx="0" clrIdx="3"/>
  <p:cmAuthor id="5" name="Windows 用户" initials="W" lastIdx="0" clrIdx="4"/>
  <p:cmAuthor id="6" name="lenovo" initials="l" lastIdx="0" clrIdx="5"/>
  <p:cmAuthor id="7" name="番茄花园" initials="番" lastIdx="0" clrIdx="6"/>
  <p:cmAuthor id="8" name="xkb1.com" initials="x" lastIdx="0" clrIdx="7"/>
  <p:cmAuthor id="9" name="xiaoxuan Zeng" initials="x" lastIdx="0" clrIdx="8"/>
  <p:cmAuthor id="10" name="dongyu" initials="d" lastIdx="0" clrIdx="9"/>
  <p:cmAuthor id="11" name="PC" initials="P" lastIdx="0" clrIdx="10"/>
  <p:cmAuthor id="12" name="houyanan21" initials="h" lastIdx="0" clrIdx="11"/>
  <p:cmAuthor id="13" name="jinli" initials="j" lastIdx="0" clrIdx="12"/>
  <p:cmAuthor id="14" name="李丽" initials="李" lastIdx="0" clrIdx="13"/>
  <p:cmAuthor id="15" name="Nicole Li  李倩" initials="N" lastIdx="0" clrIdx="14"/>
  <p:cmAuthor id="16" name="admin" initials="a" lastIdx="0" clrIdx="15"/>
  <p:cmAuthor id="17" name="222" initials="2" lastIdx="0" clrIdx="16"/>
  <p:cmAuthor id="18" name="作者" initials="A" lastIdx="0" clrIdx="17"/>
  <p:cmAuthor id="19" name="FtpDown" initials="F" lastIdx="0" clrIdx="18"/>
  <p:cmAuthor id="20" name="Pueschner, Franziska {FA~Shanghai}" initials="P" lastIdx="0" clrIdx="19"/>
  <p:cmAuthor id="21" name="葛赛" initials="葛" lastIdx="0" clrIdx="20"/>
  <p:cmAuthor id="22" name="MC SYSTEM" initials="M"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93" autoAdjust="0"/>
    <p:restoredTop sz="94660"/>
  </p:normalViewPr>
  <p:slideViewPr>
    <p:cSldViewPr snapToGrid="0" showGuides="1">
      <p:cViewPr>
        <p:scale>
          <a:sx n="120" d="100"/>
          <a:sy n="120" d="100"/>
        </p:scale>
        <p:origin x="560" y="34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506136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3835015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500782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546165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18626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842872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783426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468162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492952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840692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3737936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470218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1524520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1013282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762182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382989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2656076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237654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931040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17375636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1398480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2955936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2699157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1253888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42331922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254039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3670496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28</a:t>
            </a:fld>
            <a:endParaRPr lang="zh-CN" altLang="en-US"/>
          </a:p>
        </p:txBody>
      </p:sp>
    </p:spTree>
    <p:extLst>
      <p:ext uri="{BB962C8B-B14F-4D97-AF65-F5344CB8AC3E}">
        <p14:creationId xmlns:p14="http://schemas.microsoft.com/office/powerpoint/2010/main" val="3954281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29</a:t>
            </a:fld>
            <a:endParaRPr lang="zh-CN" altLang="en-US"/>
          </a:p>
        </p:txBody>
      </p:sp>
    </p:spTree>
    <p:extLst>
      <p:ext uri="{BB962C8B-B14F-4D97-AF65-F5344CB8AC3E}">
        <p14:creationId xmlns:p14="http://schemas.microsoft.com/office/powerpoint/2010/main" val="1954347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30</a:t>
            </a:fld>
            <a:endParaRPr lang="zh-CN" altLang="en-US"/>
          </a:p>
        </p:txBody>
      </p:sp>
    </p:spTree>
    <p:extLst>
      <p:ext uri="{BB962C8B-B14F-4D97-AF65-F5344CB8AC3E}">
        <p14:creationId xmlns:p14="http://schemas.microsoft.com/office/powerpoint/2010/main" val="2168339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2450007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32</a:t>
            </a:fld>
            <a:endParaRPr lang="zh-CN" altLang="en-US"/>
          </a:p>
        </p:txBody>
      </p:sp>
    </p:spTree>
    <p:extLst>
      <p:ext uri="{BB962C8B-B14F-4D97-AF65-F5344CB8AC3E}">
        <p14:creationId xmlns:p14="http://schemas.microsoft.com/office/powerpoint/2010/main" val="32566815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33</a:t>
            </a:fld>
            <a:endParaRPr lang="zh-CN" altLang="en-US"/>
          </a:p>
        </p:txBody>
      </p:sp>
    </p:spTree>
    <p:extLst>
      <p:ext uri="{BB962C8B-B14F-4D97-AF65-F5344CB8AC3E}">
        <p14:creationId xmlns:p14="http://schemas.microsoft.com/office/powerpoint/2010/main" val="11976099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29694911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22852984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36</a:t>
            </a:fld>
            <a:endParaRPr lang="zh-CN" altLang="en-US"/>
          </a:p>
        </p:txBody>
      </p:sp>
    </p:spTree>
    <p:extLst>
      <p:ext uri="{BB962C8B-B14F-4D97-AF65-F5344CB8AC3E}">
        <p14:creationId xmlns:p14="http://schemas.microsoft.com/office/powerpoint/2010/main" val="2887199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37</a:t>
            </a:fld>
            <a:endParaRPr lang="zh-CN" altLang="en-US"/>
          </a:p>
        </p:txBody>
      </p:sp>
    </p:spTree>
    <p:extLst>
      <p:ext uri="{BB962C8B-B14F-4D97-AF65-F5344CB8AC3E}">
        <p14:creationId xmlns:p14="http://schemas.microsoft.com/office/powerpoint/2010/main" val="5457222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38</a:t>
            </a:fld>
            <a:endParaRPr lang="zh-CN" altLang="en-US"/>
          </a:p>
        </p:txBody>
      </p:sp>
    </p:spTree>
    <p:extLst>
      <p:ext uri="{BB962C8B-B14F-4D97-AF65-F5344CB8AC3E}">
        <p14:creationId xmlns:p14="http://schemas.microsoft.com/office/powerpoint/2010/main" val="17115557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31910524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16806648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30780867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42</a:t>
            </a:fld>
            <a:endParaRPr lang="zh-CN" altLang="en-US"/>
          </a:p>
        </p:txBody>
      </p:sp>
    </p:spTree>
    <p:extLst>
      <p:ext uri="{BB962C8B-B14F-4D97-AF65-F5344CB8AC3E}">
        <p14:creationId xmlns:p14="http://schemas.microsoft.com/office/powerpoint/2010/main" val="15248133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2984146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26676667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45</a:t>
            </a:fld>
            <a:endParaRPr lang="zh-CN" altLang="en-US"/>
          </a:p>
        </p:txBody>
      </p:sp>
    </p:spTree>
    <p:extLst>
      <p:ext uri="{BB962C8B-B14F-4D97-AF65-F5344CB8AC3E}">
        <p14:creationId xmlns:p14="http://schemas.microsoft.com/office/powerpoint/2010/main" val="3112627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46</a:t>
            </a:fld>
            <a:endParaRPr lang="zh-CN" altLang="en-US"/>
          </a:p>
        </p:txBody>
      </p:sp>
    </p:spTree>
    <p:extLst>
      <p:ext uri="{BB962C8B-B14F-4D97-AF65-F5344CB8AC3E}">
        <p14:creationId xmlns:p14="http://schemas.microsoft.com/office/powerpoint/2010/main" val="29558848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47</a:t>
            </a:fld>
            <a:endParaRPr lang="zh-CN" altLang="en-US"/>
          </a:p>
        </p:txBody>
      </p:sp>
    </p:spTree>
    <p:extLst>
      <p:ext uri="{BB962C8B-B14F-4D97-AF65-F5344CB8AC3E}">
        <p14:creationId xmlns:p14="http://schemas.microsoft.com/office/powerpoint/2010/main" val="5861361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48</a:t>
            </a:fld>
            <a:endParaRPr lang="zh-CN" altLang="en-US"/>
          </a:p>
        </p:txBody>
      </p:sp>
    </p:spTree>
    <p:extLst>
      <p:ext uri="{BB962C8B-B14F-4D97-AF65-F5344CB8AC3E}">
        <p14:creationId xmlns:p14="http://schemas.microsoft.com/office/powerpoint/2010/main" val="35914266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49</a:t>
            </a:fld>
            <a:endParaRPr lang="zh-CN" altLang="en-US"/>
          </a:p>
        </p:txBody>
      </p:sp>
    </p:spTree>
    <p:extLst>
      <p:ext uri="{BB962C8B-B14F-4D97-AF65-F5344CB8AC3E}">
        <p14:creationId xmlns:p14="http://schemas.microsoft.com/office/powerpoint/2010/main" val="10536309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51</a:t>
            </a:fld>
            <a:endParaRPr lang="zh-CN" altLang="en-US"/>
          </a:p>
        </p:txBody>
      </p:sp>
    </p:spTree>
    <p:extLst>
      <p:ext uri="{BB962C8B-B14F-4D97-AF65-F5344CB8AC3E}">
        <p14:creationId xmlns:p14="http://schemas.microsoft.com/office/powerpoint/2010/main" val="36712700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19359587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53</a:t>
            </a:fld>
            <a:endParaRPr lang="zh-CN" altLang="en-US"/>
          </a:p>
        </p:txBody>
      </p:sp>
    </p:spTree>
    <p:extLst>
      <p:ext uri="{BB962C8B-B14F-4D97-AF65-F5344CB8AC3E}">
        <p14:creationId xmlns:p14="http://schemas.microsoft.com/office/powerpoint/2010/main" val="23748681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54</a:t>
            </a:fld>
            <a:endParaRPr lang="zh-CN" altLang="en-US"/>
          </a:p>
        </p:txBody>
      </p:sp>
    </p:spTree>
    <p:extLst>
      <p:ext uri="{BB962C8B-B14F-4D97-AF65-F5344CB8AC3E}">
        <p14:creationId xmlns:p14="http://schemas.microsoft.com/office/powerpoint/2010/main" val="22330552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55</a:t>
            </a:fld>
            <a:endParaRPr lang="zh-CN" altLang="en-US"/>
          </a:p>
        </p:txBody>
      </p:sp>
    </p:spTree>
    <p:extLst>
      <p:ext uri="{BB962C8B-B14F-4D97-AF65-F5344CB8AC3E}">
        <p14:creationId xmlns:p14="http://schemas.microsoft.com/office/powerpoint/2010/main" val="9100575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56</a:t>
            </a:fld>
            <a:endParaRPr lang="zh-CN" altLang="en-US"/>
          </a:p>
        </p:txBody>
      </p:sp>
    </p:spTree>
    <p:extLst>
      <p:ext uri="{BB962C8B-B14F-4D97-AF65-F5344CB8AC3E}">
        <p14:creationId xmlns:p14="http://schemas.microsoft.com/office/powerpoint/2010/main" val="9353266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57</a:t>
            </a:fld>
            <a:endParaRPr lang="zh-CN" altLang="en-US"/>
          </a:p>
        </p:txBody>
      </p:sp>
    </p:spTree>
    <p:extLst>
      <p:ext uri="{BB962C8B-B14F-4D97-AF65-F5344CB8AC3E}">
        <p14:creationId xmlns:p14="http://schemas.microsoft.com/office/powerpoint/2010/main" val="11634153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58</a:t>
            </a:fld>
            <a:endParaRPr lang="zh-CN" altLang="en-US"/>
          </a:p>
        </p:txBody>
      </p:sp>
    </p:spTree>
    <p:extLst>
      <p:ext uri="{BB962C8B-B14F-4D97-AF65-F5344CB8AC3E}">
        <p14:creationId xmlns:p14="http://schemas.microsoft.com/office/powerpoint/2010/main" val="2890389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59</a:t>
            </a:fld>
            <a:endParaRPr lang="zh-CN" altLang="en-US"/>
          </a:p>
        </p:txBody>
      </p:sp>
    </p:spTree>
    <p:extLst>
      <p:ext uri="{BB962C8B-B14F-4D97-AF65-F5344CB8AC3E}">
        <p14:creationId xmlns:p14="http://schemas.microsoft.com/office/powerpoint/2010/main" val="6691464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60</a:t>
            </a:fld>
            <a:endParaRPr lang="zh-CN" altLang="en-US"/>
          </a:p>
        </p:txBody>
      </p:sp>
    </p:spTree>
    <p:extLst>
      <p:ext uri="{BB962C8B-B14F-4D97-AF65-F5344CB8AC3E}">
        <p14:creationId xmlns:p14="http://schemas.microsoft.com/office/powerpoint/2010/main" val="2047714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2026/4/20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2026/4/21</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2026/4/21</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2026/4/21</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2026/4/21</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2026/4/20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2026/4/20</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7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tags" Target="../tags/tag8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9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9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9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9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9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9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9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98.xml"/><Relationship Id="rId1" Type="http://schemas.openxmlformats.org/officeDocument/2006/relationships/tags" Target="../tags/tag97.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tags" Target="../tags/tag10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tags" Target="../tags/tag103.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10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11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11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1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1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11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11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11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tags" Target="../tags/tag11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1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126.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9.xml"/><Relationship Id="rId7" Type="http://schemas.openxmlformats.org/officeDocument/2006/relationships/tags" Target="../tags/tag13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tags" Target="../tags/tag135.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4.xml"/><Relationship Id="rId1" Type="http://schemas.openxmlformats.org/officeDocument/2006/relationships/tags" Target="../tags/tag143.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148.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0.xml"/><Relationship Id="rId1" Type="http://schemas.openxmlformats.org/officeDocument/2006/relationships/tags" Target="../tags/tag149.xml"/><Relationship Id="rId4"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endParaRPr lang="zh-CN" altLang="zh-CN"/>
          </a:p>
        </p:txBody>
      </p:sp>
      <p:sp>
        <p:nvSpPr>
          <p:cNvPr id="3" name="副标题 2"/>
          <p:cNvSpPr>
            <a:spLocks noGrp="1"/>
          </p:cNvSpPr>
          <p:nvPr>
            <p:ph type="subTitle" idx="1"/>
            <p:custDataLst>
              <p:tags r:id="rId3"/>
            </p:custDataLst>
          </p:nvPr>
        </p:nvSpPr>
        <p:spPr/>
        <p:txBody>
          <a:bodyPr/>
          <a:lstStyle/>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131445" y="0"/>
            <a:ext cx="12060555" cy="6781800"/>
          </a:xfrm>
        </p:spPr>
        <p:txBody>
          <a:bodyPr>
            <a:noAutofit/>
          </a:bodyPr>
          <a:lstStyle/>
          <a:p>
            <a:r>
              <a:rPr lang="en-US" altLang="zh-CN" sz="2000" dirty="0"/>
              <a:t>1</a:t>
            </a:r>
            <a:r>
              <a:rPr lang="zh-CN" altLang="en-US" sz="2000" dirty="0"/>
              <a:t>、私有制出现、贫富分化、早期国家产生：</a:t>
            </a:r>
            <a:r>
              <a:rPr lang="zh-CN" altLang="en-US" sz="2000" dirty="0">
                <a:solidFill>
                  <a:srgbClr val="FF0000"/>
                </a:solidFill>
              </a:rPr>
              <a:t>大汶口、良渚、陶寺遗址（新石器时代、磨制石器）。</a:t>
            </a:r>
          </a:p>
          <a:p>
            <a:r>
              <a:rPr lang="en-US" altLang="zh-CN" sz="2000" dirty="0"/>
              <a:t>2</a:t>
            </a:r>
            <a:r>
              <a:rPr lang="zh-CN" altLang="en-US" sz="2000" dirty="0"/>
              <a:t>、人文初祖：</a:t>
            </a:r>
            <a:r>
              <a:rPr lang="zh-CN" altLang="en-US" sz="2000" dirty="0">
                <a:solidFill>
                  <a:srgbClr val="FF0000"/>
                </a:solidFill>
              </a:rPr>
              <a:t>炎黄</a:t>
            </a:r>
          </a:p>
          <a:p>
            <a:r>
              <a:rPr lang="en-US" altLang="zh-CN" sz="2000" dirty="0"/>
              <a:t>3</a:t>
            </a:r>
            <a:r>
              <a:rPr lang="zh-CN" altLang="en-US" sz="2000" dirty="0"/>
              <a:t>、</a:t>
            </a:r>
            <a:r>
              <a:rPr lang="zh-CN" altLang="en-US" sz="2000" dirty="0">
                <a:sym typeface="+mn-ea"/>
              </a:rPr>
              <a:t>原始农业兴起和发展的标志是：</a:t>
            </a:r>
            <a:r>
              <a:rPr lang="zh-CN" altLang="en-US" sz="2000" dirty="0">
                <a:solidFill>
                  <a:srgbClr val="FF0000"/>
                </a:solidFill>
                <a:latin typeface="Calibri" panose="020F0502020204030204" charset="0"/>
                <a:sym typeface="+mn-ea"/>
              </a:rPr>
              <a:t>农作物种植、家畜饲养、磨制石器、聚落</a:t>
            </a:r>
            <a:endParaRPr lang="zh-CN" altLang="en-US" sz="2000" dirty="0">
              <a:sym typeface="+mn-ea"/>
            </a:endParaRPr>
          </a:p>
          <a:p>
            <a:pPr>
              <a:lnSpc>
                <a:spcPct val="100000"/>
              </a:lnSpc>
            </a:pPr>
            <a:r>
              <a:rPr lang="en-US" altLang="zh-CN" sz="2000" dirty="0">
                <a:sym typeface="+mn-ea"/>
              </a:rPr>
              <a:t>4</a:t>
            </a:r>
            <a:r>
              <a:rPr lang="zh-CN" altLang="en-US" sz="2000" dirty="0">
                <a:sym typeface="+mn-ea"/>
              </a:rPr>
              <a:t>、春秋时期时代特征：</a:t>
            </a:r>
            <a:r>
              <a:rPr lang="zh-CN" altLang="en-US" sz="2000" dirty="0">
                <a:solidFill>
                  <a:srgbClr val="FF0000"/>
                </a:solidFill>
                <a:sym typeface="+mn-ea"/>
              </a:rPr>
              <a:t>王室衰微、诸侯争霸、分封制瓦解。</a:t>
            </a:r>
          </a:p>
          <a:p>
            <a:pPr>
              <a:lnSpc>
                <a:spcPct val="100000"/>
              </a:lnSpc>
            </a:pPr>
            <a:r>
              <a:rPr lang="en-US" altLang="zh-CN" sz="2000" dirty="0">
                <a:sym typeface="+mn-ea"/>
              </a:rPr>
              <a:t>5</a:t>
            </a:r>
            <a:r>
              <a:rPr lang="zh-CN" altLang="en-US" sz="2000" dirty="0">
                <a:sym typeface="+mn-ea"/>
              </a:rPr>
              <a:t>、战国时期时代特征：</a:t>
            </a:r>
            <a:r>
              <a:rPr lang="zh-CN" altLang="en-US" sz="2000" dirty="0">
                <a:solidFill>
                  <a:srgbClr val="FF0000"/>
                </a:solidFill>
                <a:sym typeface="+mn-ea"/>
              </a:rPr>
              <a:t>奴隶社会向封建社会转变。</a:t>
            </a:r>
          </a:p>
          <a:p>
            <a:r>
              <a:rPr lang="en-US" altLang="zh-CN" sz="2000" dirty="0">
                <a:sym typeface="+mn-ea"/>
              </a:rPr>
              <a:t>6</a:t>
            </a:r>
            <a:r>
              <a:rPr lang="zh-CN" altLang="en-US" sz="2000" dirty="0">
                <a:sym typeface="+mn-ea"/>
              </a:rPr>
              <a:t>、阪泉之战：</a:t>
            </a:r>
            <a:r>
              <a:rPr lang="zh-CN" altLang="en-US" sz="2000" dirty="0">
                <a:solidFill>
                  <a:srgbClr val="FF0000"/>
                </a:solidFill>
                <a:sym typeface="+mn-ea"/>
              </a:rPr>
              <a:t>炎帝</a:t>
            </a:r>
            <a:r>
              <a:rPr lang="en-US" altLang="zh-CN" sz="2000" dirty="0">
                <a:solidFill>
                  <a:srgbClr val="FF0000"/>
                </a:solidFill>
                <a:sym typeface="+mn-ea"/>
              </a:rPr>
              <a:t>VS</a:t>
            </a:r>
            <a:r>
              <a:rPr lang="zh-CN" altLang="en-US" sz="2000" dirty="0">
                <a:solidFill>
                  <a:srgbClr val="FF0000"/>
                </a:solidFill>
                <a:sym typeface="+mn-ea"/>
              </a:rPr>
              <a:t>黄帝</a:t>
            </a:r>
            <a:r>
              <a:rPr lang="en-US" altLang="zh-CN" sz="2000" dirty="0">
                <a:solidFill>
                  <a:srgbClr val="FF0000"/>
                </a:solidFill>
                <a:sym typeface="+mn-ea"/>
              </a:rPr>
              <a:t>    </a:t>
            </a:r>
            <a:r>
              <a:rPr lang="zh-CN" altLang="en-US" sz="2000" dirty="0">
                <a:sym typeface="+mn-ea"/>
              </a:rPr>
              <a:t>涿鹿之战：</a:t>
            </a:r>
            <a:r>
              <a:rPr lang="zh-CN" altLang="en-US" sz="2000" dirty="0">
                <a:solidFill>
                  <a:srgbClr val="FF0000"/>
                </a:solidFill>
                <a:sym typeface="+mn-ea"/>
              </a:rPr>
              <a:t>炎黄</a:t>
            </a:r>
            <a:r>
              <a:rPr lang="en-US" altLang="zh-CN" sz="2000" dirty="0">
                <a:solidFill>
                  <a:srgbClr val="FF0000"/>
                </a:solidFill>
                <a:sym typeface="+mn-ea"/>
              </a:rPr>
              <a:t>VS</a:t>
            </a:r>
            <a:r>
              <a:rPr lang="zh-CN" altLang="en-US" sz="2000" dirty="0">
                <a:solidFill>
                  <a:srgbClr val="FF0000"/>
                </a:solidFill>
                <a:sym typeface="+mn-ea"/>
              </a:rPr>
              <a:t>蚩尤</a:t>
            </a:r>
            <a:r>
              <a:rPr lang="en-US" altLang="zh-CN" sz="2000" dirty="0">
                <a:solidFill>
                  <a:srgbClr val="FF0000"/>
                </a:solidFill>
                <a:sym typeface="+mn-ea"/>
              </a:rPr>
              <a:t>   </a:t>
            </a:r>
            <a:r>
              <a:rPr lang="zh-CN" altLang="en-US" sz="2000" dirty="0">
                <a:sym typeface="+mn-ea"/>
              </a:rPr>
              <a:t>牧野之战：</a:t>
            </a:r>
            <a:r>
              <a:rPr lang="zh-CN" altLang="en-US" sz="2000" dirty="0">
                <a:solidFill>
                  <a:srgbClr val="FF0000"/>
                </a:solidFill>
                <a:sym typeface="+mn-ea"/>
              </a:rPr>
              <a:t>武王伐纣</a:t>
            </a:r>
            <a:r>
              <a:rPr lang="en-US" altLang="zh-CN" sz="2000" dirty="0">
                <a:solidFill>
                  <a:srgbClr val="FF0000"/>
                </a:solidFill>
                <a:sym typeface="+mn-ea"/>
              </a:rPr>
              <a:t>  </a:t>
            </a:r>
            <a:r>
              <a:rPr lang="zh-CN" altLang="en-US" sz="2000" dirty="0">
                <a:solidFill>
                  <a:srgbClr val="FF0000"/>
                </a:solidFill>
                <a:sym typeface="+mn-ea"/>
              </a:rPr>
              <a:t>巨鹿：项羽</a:t>
            </a:r>
            <a:r>
              <a:rPr lang="en-US" altLang="zh-CN" sz="2000" dirty="0">
                <a:solidFill>
                  <a:srgbClr val="FF0000"/>
                </a:solidFill>
                <a:sym typeface="+mn-ea"/>
              </a:rPr>
              <a:t>vs</a:t>
            </a:r>
            <a:r>
              <a:rPr lang="zh-CN" altLang="en-US" sz="2000" dirty="0">
                <a:solidFill>
                  <a:srgbClr val="FF0000"/>
                </a:solidFill>
                <a:sym typeface="+mn-ea"/>
              </a:rPr>
              <a:t>秦军主力</a:t>
            </a:r>
            <a:r>
              <a:rPr lang="en-US" altLang="zh-CN" sz="2000" dirty="0">
                <a:solidFill>
                  <a:srgbClr val="FF0000"/>
                </a:solidFill>
                <a:sym typeface="+mn-ea"/>
              </a:rPr>
              <a:t>  </a:t>
            </a:r>
            <a:r>
              <a:rPr lang="zh-CN" altLang="en-US" sz="2000" dirty="0">
                <a:sym typeface="+mn-ea"/>
              </a:rPr>
              <a:t>官渡：</a:t>
            </a:r>
            <a:r>
              <a:rPr lang="zh-CN" altLang="en-US" sz="2000" dirty="0">
                <a:solidFill>
                  <a:srgbClr val="FF0000"/>
                </a:solidFill>
                <a:sym typeface="+mn-ea"/>
              </a:rPr>
              <a:t>袁绍</a:t>
            </a:r>
            <a:r>
              <a:rPr lang="en-US" altLang="zh-CN" sz="2000" dirty="0">
                <a:solidFill>
                  <a:srgbClr val="FF0000"/>
                </a:solidFill>
                <a:sym typeface="+mn-ea"/>
              </a:rPr>
              <a:t>vs</a:t>
            </a:r>
            <a:r>
              <a:rPr lang="zh-CN" altLang="en-US" sz="2000" dirty="0">
                <a:solidFill>
                  <a:srgbClr val="FF0000"/>
                </a:solidFill>
                <a:sym typeface="+mn-ea"/>
              </a:rPr>
              <a:t>曹操（胜），奠定北方统一的基础</a:t>
            </a:r>
            <a:r>
              <a:rPr lang="en-US" altLang="zh-CN" sz="2000" dirty="0">
                <a:solidFill>
                  <a:srgbClr val="FF0000"/>
                </a:solidFill>
                <a:sym typeface="+mn-ea"/>
              </a:rPr>
              <a:t>   </a:t>
            </a:r>
            <a:r>
              <a:rPr lang="zh-CN" altLang="en-US" sz="2000" dirty="0">
                <a:sym typeface="+mn-ea"/>
              </a:rPr>
              <a:t>赤壁：</a:t>
            </a:r>
            <a:r>
              <a:rPr lang="zh-CN" altLang="en-US" sz="2000" dirty="0">
                <a:solidFill>
                  <a:srgbClr val="FF0000"/>
                </a:solidFill>
                <a:sym typeface="+mn-ea"/>
              </a:rPr>
              <a:t>孙刘（胜）</a:t>
            </a:r>
            <a:r>
              <a:rPr lang="en-US" altLang="zh-CN" sz="2000" dirty="0">
                <a:solidFill>
                  <a:srgbClr val="FF0000"/>
                </a:solidFill>
                <a:sym typeface="+mn-ea"/>
              </a:rPr>
              <a:t>VS</a:t>
            </a:r>
            <a:r>
              <a:rPr lang="zh-CN" altLang="en-US" sz="2000" dirty="0">
                <a:solidFill>
                  <a:srgbClr val="FF0000"/>
                </a:solidFill>
                <a:sym typeface="+mn-ea"/>
              </a:rPr>
              <a:t>曹操，奠定三国基础</a:t>
            </a:r>
            <a:r>
              <a:rPr lang="en-US" altLang="zh-CN" sz="2000" dirty="0">
                <a:solidFill>
                  <a:srgbClr val="FF0000"/>
                </a:solidFill>
                <a:sym typeface="+mn-ea"/>
              </a:rPr>
              <a:t>   </a:t>
            </a:r>
            <a:r>
              <a:rPr lang="zh-CN" altLang="en-US" sz="2000" dirty="0">
                <a:sym typeface="+mn-ea"/>
              </a:rPr>
              <a:t>肥水：</a:t>
            </a:r>
            <a:r>
              <a:rPr lang="zh-CN" altLang="en-US" sz="2000" dirty="0">
                <a:solidFill>
                  <a:srgbClr val="FF0000"/>
                </a:solidFill>
                <a:sym typeface="+mn-ea"/>
              </a:rPr>
              <a:t>前秦</a:t>
            </a:r>
            <a:r>
              <a:rPr lang="en-US" altLang="zh-CN" sz="2000" dirty="0">
                <a:solidFill>
                  <a:srgbClr val="FF0000"/>
                </a:solidFill>
                <a:sym typeface="+mn-ea"/>
              </a:rPr>
              <a:t>VS</a:t>
            </a:r>
            <a:r>
              <a:rPr lang="zh-CN" altLang="en-US" sz="2000" dirty="0">
                <a:solidFill>
                  <a:srgbClr val="FF0000"/>
                </a:solidFill>
                <a:sym typeface="+mn-ea"/>
              </a:rPr>
              <a:t>东晋（胜），前秦氐族苻坚。</a:t>
            </a:r>
          </a:p>
          <a:p>
            <a:pPr>
              <a:lnSpc>
                <a:spcPct val="100000"/>
              </a:lnSpc>
            </a:pPr>
            <a:r>
              <a:rPr lang="en-US" altLang="zh-CN" sz="2000" dirty="0">
                <a:sym typeface="+mn-ea"/>
              </a:rPr>
              <a:t>7</a:t>
            </a:r>
            <a:r>
              <a:rPr lang="zh-CN" altLang="en-US" sz="2000" dirty="0">
                <a:sym typeface="+mn-ea"/>
              </a:rPr>
              <a:t>、我国有文字可考的历史从</a:t>
            </a:r>
            <a:r>
              <a:rPr lang="zh-CN" altLang="en-US" sz="2000" dirty="0">
                <a:solidFill>
                  <a:srgbClr val="FF0000"/>
                </a:solidFill>
                <a:sym typeface="+mn-ea"/>
              </a:rPr>
              <a:t>商朝</a:t>
            </a:r>
            <a:r>
              <a:rPr lang="zh-CN" altLang="en-US" sz="2000" dirty="0">
                <a:sym typeface="+mn-ea"/>
              </a:rPr>
              <a:t>开始。</a:t>
            </a:r>
          </a:p>
          <a:p>
            <a:pPr>
              <a:lnSpc>
                <a:spcPct val="100000"/>
              </a:lnSpc>
            </a:pPr>
            <a:r>
              <a:rPr lang="en-US" altLang="zh-CN" sz="2000" dirty="0">
                <a:sym typeface="+mn-ea"/>
              </a:rPr>
              <a:t>8</a:t>
            </a:r>
            <a:r>
              <a:rPr lang="zh-CN" altLang="en-US" sz="2000" dirty="0">
                <a:sym typeface="+mn-ea"/>
              </a:rPr>
              <a:t>、甲骨文：</a:t>
            </a:r>
            <a:r>
              <a:rPr lang="zh-CN" altLang="en-US" sz="2000" dirty="0">
                <a:solidFill>
                  <a:srgbClr val="FF0000"/>
                </a:solidFill>
                <a:sym typeface="+mn-ea"/>
              </a:rPr>
              <a:t>是中国已发现的古代文字中年代最早、体系较为完整的文字</a:t>
            </a:r>
            <a:r>
              <a:rPr lang="zh-CN" altLang="en-US" sz="2000" dirty="0">
                <a:sym typeface="+mn-ea"/>
              </a:rPr>
              <a:t>。</a:t>
            </a:r>
          </a:p>
          <a:p>
            <a:pPr>
              <a:lnSpc>
                <a:spcPct val="100000"/>
              </a:lnSpc>
            </a:pPr>
            <a:r>
              <a:rPr lang="en-US" altLang="zh-CN" sz="2000" dirty="0">
                <a:highlight>
                  <a:srgbClr val="FFFF00"/>
                </a:highlight>
                <a:sym typeface="+mn-ea"/>
              </a:rPr>
              <a:t>9</a:t>
            </a:r>
            <a:r>
              <a:rPr lang="zh-CN" altLang="en-US" sz="2000" dirty="0">
                <a:highlight>
                  <a:srgbClr val="FFFF00"/>
                </a:highlight>
                <a:sym typeface="+mn-ea"/>
              </a:rPr>
              <a:t>、商鞅变法和百家争鸣的根因： </a:t>
            </a:r>
            <a:r>
              <a:rPr lang="en-US" altLang="zh-CN" sz="2000" dirty="0">
                <a:highlight>
                  <a:srgbClr val="FFFF00"/>
                </a:highlight>
                <a:sym typeface="+mn-ea"/>
              </a:rPr>
              <a:t> </a:t>
            </a:r>
            <a:r>
              <a:rPr lang="zh-CN" altLang="en-US" sz="2000" dirty="0">
                <a:solidFill>
                  <a:srgbClr val="FF0000"/>
                </a:solidFill>
                <a:highlight>
                  <a:srgbClr val="FFFF00"/>
                </a:highlight>
                <a:sym typeface="+mn-ea"/>
              </a:rPr>
              <a:t>铁农具和牛耕的使用和推广，生产力水平提高 </a:t>
            </a:r>
            <a:r>
              <a:rPr lang="en-US" altLang="zh-CN" sz="2000" dirty="0">
                <a:solidFill>
                  <a:srgbClr val="FF0000"/>
                </a:solidFill>
                <a:sym typeface="+mn-ea"/>
              </a:rPr>
              <a:t>.</a:t>
            </a:r>
          </a:p>
          <a:p>
            <a:pPr>
              <a:lnSpc>
                <a:spcPct val="100000"/>
              </a:lnSpc>
            </a:pPr>
            <a:r>
              <a:rPr lang="zh-CN" altLang="en-US" sz="2000" dirty="0">
                <a:sym typeface="+mn-ea"/>
              </a:rPr>
              <a:t>商鞅变法：</a:t>
            </a:r>
            <a:r>
              <a:rPr lang="zh-CN" altLang="en-US" sz="2000" dirty="0">
                <a:solidFill>
                  <a:srgbClr val="FF0000"/>
                </a:solidFill>
                <a:sym typeface="+mn-ea"/>
              </a:rPr>
              <a:t>前</a:t>
            </a:r>
            <a:r>
              <a:rPr lang="en-US" altLang="zh-CN" sz="2000" dirty="0">
                <a:solidFill>
                  <a:srgbClr val="FF0000"/>
                </a:solidFill>
                <a:sym typeface="+mn-ea"/>
              </a:rPr>
              <a:t>356</a:t>
            </a:r>
            <a:r>
              <a:rPr lang="zh-CN" altLang="en-US" sz="2000" dirty="0">
                <a:solidFill>
                  <a:srgbClr val="FF0000"/>
                </a:solidFill>
                <a:sym typeface="+mn-ea"/>
              </a:rPr>
              <a:t>年，秦孝公</a:t>
            </a:r>
            <a:r>
              <a:rPr lang="en-US" altLang="zh-CN" sz="2000" dirty="0">
                <a:solidFill>
                  <a:srgbClr val="FF0000"/>
                </a:solidFill>
                <a:sym typeface="+mn-ea"/>
              </a:rPr>
              <a:t>  </a:t>
            </a:r>
            <a:r>
              <a:rPr lang="zh-CN" altLang="en-US" sz="2000" dirty="0">
                <a:solidFill>
                  <a:srgbClr val="FF0000"/>
                </a:solidFill>
                <a:sym typeface="+mn-ea"/>
              </a:rPr>
              <a:t>封建性质改革</a:t>
            </a:r>
          </a:p>
          <a:p>
            <a:pPr>
              <a:lnSpc>
                <a:spcPct val="100000"/>
              </a:lnSpc>
            </a:pPr>
            <a:r>
              <a:rPr lang="zh-CN" altLang="en-US" sz="2000" dirty="0">
                <a:sym typeface="+mn-ea"/>
              </a:rPr>
              <a:t>政治：</a:t>
            </a:r>
            <a:r>
              <a:rPr lang="zh-CN" altLang="en-US" sz="2000" dirty="0">
                <a:solidFill>
                  <a:srgbClr val="FF0000"/>
                </a:solidFill>
                <a:sym typeface="+mn-ea"/>
              </a:rPr>
              <a:t>确立县制、由国君直接派官吏治理（加强中央对地方的控制）</a:t>
            </a:r>
          </a:p>
          <a:p>
            <a:pPr algn="l">
              <a:lnSpc>
                <a:spcPct val="100000"/>
              </a:lnSpc>
              <a:buClrTx/>
              <a:buSzTx/>
            </a:pPr>
            <a:r>
              <a:rPr lang="zh-CN" altLang="en-US" sz="2000" dirty="0">
                <a:sym typeface="+mn-ea"/>
              </a:rPr>
              <a:t>经济：</a:t>
            </a:r>
            <a:r>
              <a:rPr lang="zh-CN" altLang="en-US" sz="2000" dirty="0">
                <a:solidFill>
                  <a:srgbClr val="FF0000"/>
                </a:solidFill>
                <a:sym typeface="+mn-ea"/>
              </a:rPr>
              <a:t>废除井田制，允许土地自由买卖（确立封建土地私有制）</a:t>
            </a:r>
          </a:p>
          <a:p>
            <a:pPr>
              <a:lnSpc>
                <a:spcPct val="100000"/>
              </a:lnSpc>
            </a:pPr>
            <a:r>
              <a:rPr lang="zh-CN" altLang="en-US" sz="2000" dirty="0">
                <a:sym typeface="+mn-ea"/>
              </a:rPr>
              <a:t>影响：</a:t>
            </a:r>
            <a:r>
              <a:rPr lang="zh-CN" altLang="en-US" sz="2000" dirty="0">
                <a:solidFill>
                  <a:srgbClr val="FF0000"/>
                </a:solidFill>
                <a:sym typeface="+mn-ea"/>
              </a:rPr>
              <a:t>秦国国力增强，提高军队战斗力，成为最强盛的诸侯国，为秦统一全国奠基。</a:t>
            </a:r>
            <a:endParaRPr lang="zh-CN" altLang="en-US" sz="2000" dirty="0">
              <a:solidFill>
                <a:srgbClr val="FF0000"/>
              </a:solidFill>
            </a:endParaRPr>
          </a:p>
          <a:p>
            <a:pPr>
              <a:lnSpc>
                <a:spcPct val="100000"/>
              </a:lnSpc>
            </a:pPr>
            <a:endParaRPr lang="zh-CN" altLang="en-US" sz="2000" dirty="0"/>
          </a:p>
          <a:p>
            <a:endParaRPr lang="zh-CN" altLang="en-US" sz="2000"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7175" y="159385"/>
            <a:ext cx="11808460" cy="6550660"/>
          </a:xfrm>
        </p:spPr>
        <p:txBody>
          <a:bodyPr>
            <a:noAutofit/>
          </a:bodyPr>
          <a:lstStyle/>
          <a:p>
            <a:pPr algn="l">
              <a:lnSpc>
                <a:spcPts val="2040"/>
              </a:lnSpc>
              <a:buClrTx/>
              <a:buSzTx/>
            </a:pPr>
            <a:r>
              <a:rPr lang="en-US" altLang="zh-CN" sz="2200" dirty="0">
                <a:sym typeface="+mn-ea"/>
              </a:rPr>
              <a:t>1</a:t>
            </a:r>
            <a:r>
              <a:rPr lang="zh-CN" altLang="en-US" sz="2200" dirty="0">
                <a:sym typeface="+mn-ea"/>
              </a:rPr>
              <a:t>、春秋：</a:t>
            </a:r>
            <a:r>
              <a:rPr lang="zh-CN" altLang="en-US" sz="2200" dirty="0">
                <a:solidFill>
                  <a:srgbClr val="FF0000"/>
                </a:solidFill>
                <a:sym typeface="+mn-ea"/>
              </a:rPr>
              <a:t>老子，道家学派创始人。无为而治，顺应自然，事物都有对立面，可以相互转化。</a:t>
            </a:r>
            <a:endParaRPr lang="zh-CN" altLang="en-US" sz="2200" dirty="0">
              <a:solidFill>
                <a:srgbClr val="FF0000"/>
              </a:solidFill>
            </a:endParaRPr>
          </a:p>
          <a:p>
            <a:pPr algn="l">
              <a:lnSpc>
                <a:spcPts val="2040"/>
              </a:lnSpc>
              <a:buClrTx/>
              <a:buSzTx/>
            </a:pPr>
            <a:r>
              <a:rPr lang="zh-CN" altLang="en-US" sz="2200" dirty="0">
                <a:solidFill>
                  <a:srgbClr val="FF0000"/>
                </a:solidFill>
                <a:sym typeface="+mn-ea"/>
              </a:rPr>
              <a:t>              孔子，儒家学派创始人。仁，仁者爱人。以德治国。创办私学，有教无类。</a:t>
            </a:r>
            <a:endParaRPr lang="zh-CN" altLang="en-US" sz="2200" dirty="0">
              <a:solidFill>
                <a:srgbClr val="FF0000"/>
              </a:solidFill>
            </a:endParaRPr>
          </a:p>
          <a:p>
            <a:pPr algn="l">
              <a:lnSpc>
                <a:spcPts val="2040"/>
              </a:lnSpc>
              <a:buClrTx/>
              <a:buSzTx/>
            </a:pPr>
            <a:r>
              <a:rPr lang="en-US" altLang="zh-CN" sz="2200" dirty="0">
                <a:sym typeface="+mn-ea"/>
              </a:rPr>
              <a:t>2</a:t>
            </a:r>
            <a:r>
              <a:rPr lang="zh-CN" altLang="en-US" sz="2200" dirty="0">
                <a:sym typeface="+mn-ea"/>
              </a:rPr>
              <a:t>、</a:t>
            </a:r>
            <a:r>
              <a:rPr lang="zh-CN" altLang="en-US" sz="2200" b="1" u="sng" dirty="0">
                <a:solidFill>
                  <a:schemeClr val="accent1">
                    <a:lumMod val="75000"/>
                  </a:schemeClr>
                </a:solidFill>
                <a:sym typeface="+mn-ea"/>
              </a:rPr>
              <a:t>百家争鸣：</a:t>
            </a:r>
            <a:r>
              <a:rPr lang="zh-CN" altLang="en-US" sz="2200" dirty="0">
                <a:sym typeface="+mn-ea"/>
              </a:rPr>
              <a:t>战国：</a:t>
            </a:r>
            <a:r>
              <a:rPr lang="en-US" altLang="zh-CN" sz="2200" dirty="0">
                <a:sym typeface="+mn-ea"/>
              </a:rPr>
              <a:t> </a:t>
            </a:r>
            <a:r>
              <a:rPr lang="zh-CN" altLang="en-US" sz="2200" dirty="0">
                <a:solidFill>
                  <a:srgbClr val="FF0000"/>
                </a:solidFill>
                <a:sym typeface="+mn-ea"/>
              </a:rPr>
              <a:t>墨家：兼爱非攻尚贤节俭</a:t>
            </a:r>
            <a:endParaRPr lang="zh-CN" altLang="en-US" sz="2200" dirty="0">
              <a:solidFill>
                <a:srgbClr val="FF0000"/>
              </a:solidFill>
            </a:endParaRPr>
          </a:p>
          <a:p>
            <a:pPr algn="l">
              <a:lnSpc>
                <a:spcPts val="2040"/>
              </a:lnSpc>
              <a:buClrTx/>
              <a:buSzTx/>
            </a:pPr>
            <a:r>
              <a:rPr lang="zh-CN" altLang="en-US" sz="2200" dirty="0">
                <a:solidFill>
                  <a:srgbClr val="FF0000"/>
                </a:solidFill>
                <a:sym typeface="+mn-ea"/>
              </a:rPr>
              <a:t>            </a:t>
            </a:r>
            <a:r>
              <a:rPr lang="en-US" altLang="zh-CN" sz="2200" dirty="0">
                <a:solidFill>
                  <a:srgbClr val="FF0000"/>
                </a:solidFill>
                <a:sym typeface="+mn-ea"/>
              </a:rPr>
              <a:t>               </a:t>
            </a:r>
            <a:r>
              <a:rPr lang="zh-CN" altLang="en-US" sz="2200" dirty="0">
                <a:solidFill>
                  <a:srgbClr val="FF0000"/>
                </a:solidFill>
                <a:sym typeface="+mn-ea"/>
              </a:rPr>
              <a:t> </a:t>
            </a:r>
            <a:r>
              <a:rPr lang="en-US" altLang="zh-CN" sz="2200" dirty="0">
                <a:solidFill>
                  <a:srgbClr val="FF0000"/>
                </a:solidFill>
                <a:sym typeface="+mn-ea"/>
              </a:rPr>
              <a:t>  </a:t>
            </a:r>
            <a:r>
              <a:rPr lang="zh-CN" altLang="en-US" sz="2200" dirty="0">
                <a:solidFill>
                  <a:srgbClr val="FF0000"/>
                </a:solidFill>
                <a:sym typeface="+mn-ea"/>
              </a:rPr>
              <a:t>儒家：孟子，仁政，民贵君轻，反对一切非正义战争</a:t>
            </a:r>
            <a:endParaRPr lang="zh-CN" altLang="en-US" sz="2200" dirty="0">
              <a:solidFill>
                <a:srgbClr val="FF0000"/>
              </a:solidFill>
            </a:endParaRPr>
          </a:p>
          <a:p>
            <a:pPr algn="l">
              <a:lnSpc>
                <a:spcPts val="2040"/>
              </a:lnSpc>
              <a:buClrTx/>
              <a:buSzTx/>
            </a:pPr>
            <a:r>
              <a:rPr lang="zh-CN" altLang="en-US" sz="2200" dirty="0">
                <a:solidFill>
                  <a:srgbClr val="FF0000"/>
                </a:solidFill>
                <a:sym typeface="+mn-ea"/>
              </a:rPr>
              <a:t>             </a:t>
            </a:r>
            <a:r>
              <a:rPr lang="en-US" altLang="zh-CN" sz="2200" dirty="0">
                <a:solidFill>
                  <a:srgbClr val="FF0000"/>
                </a:solidFill>
                <a:sym typeface="+mn-ea"/>
              </a:rPr>
              <a:t>                </a:t>
            </a:r>
            <a:r>
              <a:rPr lang="zh-CN" altLang="en-US" sz="2200" dirty="0">
                <a:solidFill>
                  <a:srgbClr val="FF0000"/>
                </a:solidFill>
                <a:sym typeface="+mn-ea"/>
              </a:rPr>
              <a:t> 儒家：荀子，礼治</a:t>
            </a:r>
            <a:endParaRPr lang="zh-CN" altLang="en-US" sz="2200" dirty="0">
              <a:solidFill>
                <a:srgbClr val="FF0000"/>
              </a:solidFill>
            </a:endParaRPr>
          </a:p>
          <a:p>
            <a:pPr algn="l">
              <a:lnSpc>
                <a:spcPts val="2040"/>
              </a:lnSpc>
              <a:buClrTx/>
              <a:buSzTx/>
            </a:pPr>
            <a:r>
              <a:rPr lang="zh-CN" altLang="en-US" sz="2200" dirty="0">
                <a:solidFill>
                  <a:srgbClr val="FF0000"/>
                </a:solidFill>
                <a:sym typeface="+mn-ea"/>
              </a:rPr>
              <a:t>              </a:t>
            </a:r>
            <a:r>
              <a:rPr lang="en-US" altLang="zh-CN" sz="2200" dirty="0">
                <a:solidFill>
                  <a:srgbClr val="FF0000"/>
                </a:solidFill>
                <a:sym typeface="+mn-ea"/>
              </a:rPr>
              <a:t>                </a:t>
            </a:r>
            <a:r>
              <a:rPr lang="zh-CN" altLang="en-US" sz="2200" dirty="0">
                <a:solidFill>
                  <a:srgbClr val="FF0000"/>
                </a:solidFill>
                <a:sym typeface="+mn-ea"/>
              </a:rPr>
              <a:t>道家：庄子，顺应自然和民心，精神自由，人格独立</a:t>
            </a:r>
            <a:endParaRPr lang="zh-CN" altLang="en-US" sz="2200" dirty="0">
              <a:solidFill>
                <a:srgbClr val="FF0000"/>
              </a:solidFill>
            </a:endParaRPr>
          </a:p>
          <a:p>
            <a:pPr algn="l">
              <a:lnSpc>
                <a:spcPts val="2040"/>
              </a:lnSpc>
              <a:buClrTx/>
              <a:buSzTx/>
            </a:pPr>
            <a:r>
              <a:rPr lang="zh-CN" altLang="en-US" sz="2200" dirty="0">
                <a:solidFill>
                  <a:srgbClr val="FF0000"/>
                </a:solidFill>
                <a:sym typeface="+mn-ea"/>
              </a:rPr>
              <a:t>              </a:t>
            </a:r>
            <a:r>
              <a:rPr lang="en-US" altLang="zh-CN" sz="2200" dirty="0">
                <a:solidFill>
                  <a:srgbClr val="FF0000"/>
                </a:solidFill>
                <a:sym typeface="+mn-ea"/>
              </a:rPr>
              <a:t>                </a:t>
            </a:r>
            <a:r>
              <a:rPr lang="zh-CN" altLang="en-US" sz="2200" dirty="0">
                <a:solidFill>
                  <a:srgbClr val="FF0000"/>
                </a:solidFill>
                <a:sym typeface="+mn-ea"/>
              </a:rPr>
              <a:t>法家：韩非，以法治国，树立君主权威，建立中央集权专制统治。</a:t>
            </a:r>
            <a:endParaRPr lang="zh-CN" altLang="en-US" sz="2200" dirty="0">
              <a:solidFill>
                <a:srgbClr val="FF0000"/>
              </a:solidFill>
            </a:endParaRPr>
          </a:p>
          <a:p>
            <a:pPr algn="l">
              <a:lnSpc>
                <a:spcPts val="2040"/>
              </a:lnSpc>
              <a:buClrTx/>
              <a:buSzTx/>
            </a:pPr>
            <a:r>
              <a:rPr lang="en-US" altLang="zh-CN" sz="2200" dirty="0">
                <a:highlight>
                  <a:srgbClr val="FFFF00"/>
                </a:highlight>
                <a:sym typeface="+mn-ea"/>
              </a:rPr>
              <a:t>3</a:t>
            </a:r>
            <a:r>
              <a:rPr lang="zh-CN" altLang="en-US" sz="2200" dirty="0">
                <a:highlight>
                  <a:srgbClr val="FFFF00"/>
                </a:highlight>
                <a:sym typeface="+mn-ea"/>
              </a:rPr>
              <a:t>、百家争鸣的影响：</a:t>
            </a:r>
            <a:r>
              <a:rPr lang="zh-CN" altLang="en-US" sz="2200" dirty="0">
                <a:solidFill>
                  <a:srgbClr val="FF0000"/>
                </a:solidFill>
                <a:highlight>
                  <a:srgbClr val="FFFF00"/>
                </a:highlight>
                <a:sym typeface="+mn-ea"/>
              </a:rPr>
              <a:t>促进了思想和学术的繁荣，成为中国古代第一次思想文化发展的高峰。为中国古代文化的发展奠定了基础，对后世有十分重要的影响。</a:t>
            </a:r>
            <a:endParaRPr lang="zh-CN" altLang="en-US" sz="2200" dirty="0">
              <a:solidFill>
                <a:srgbClr val="FF0000"/>
              </a:solidFill>
              <a:highlight>
                <a:srgbClr val="FFFF00"/>
              </a:highlight>
            </a:endParaRPr>
          </a:p>
          <a:p>
            <a:pPr algn="l">
              <a:lnSpc>
                <a:spcPts val="2040"/>
              </a:lnSpc>
              <a:buClrTx/>
              <a:buSzTx/>
            </a:pPr>
            <a:r>
              <a:rPr lang="zh-CN" altLang="en-US" sz="2200" dirty="0"/>
              <a:t>4、</a:t>
            </a:r>
            <a:r>
              <a:rPr lang="zh-CN" altLang="en-US" sz="2200" dirty="0">
                <a:sym typeface="+mn-ea"/>
              </a:rPr>
              <a:t>江南地区开发的根本原因：</a:t>
            </a:r>
            <a:r>
              <a:rPr lang="zh-CN" altLang="en-US" sz="2200" dirty="0">
                <a:solidFill>
                  <a:srgbClr val="FF0000"/>
                </a:solidFill>
                <a:sym typeface="+mn-ea"/>
              </a:rPr>
              <a:t>北人南迁带来了劳动力、技术、工具</a:t>
            </a:r>
            <a:endParaRPr lang="zh-CN" altLang="en-US" sz="2200" dirty="0">
              <a:solidFill>
                <a:srgbClr val="FF0000"/>
              </a:solidFill>
            </a:endParaRPr>
          </a:p>
          <a:p>
            <a:pPr algn="l">
              <a:lnSpc>
                <a:spcPts val="2040"/>
              </a:lnSpc>
              <a:buClrTx/>
              <a:buSzTx/>
            </a:pPr>
            <a:r>
              <a:rPr lang="zh-CN" altLang="en-US" sz="2200" dirty="0"/>
              <a:t>5、魏晋时期，北方民族交融的表现：</a:t>
            </a:r>
            <a:r>
              <a:rPr lang="zh-CN" altLang="en-US" sz="2200" dirty="0">
                <a:solidFill>
                  <a:srgbClr val="FF0000"/>
                </a:solidFill>
              </a:rPr>
              <a:t>胡汉观念淡薄，民族偏见和隔阂减少</a:t>
            </a:r>
          </a:p>
          <a:p>
            <a:pPr algn="l">
              <a:lnSpc>
                <a:spcPts val="2040"/>
              </a:lnSpc>
              <a:buClrTx/>
              <a:buSzTx/>
            </a:pPr>
            <a:r>
              <a:rPr lang="zh-CN" altLang="en-US" sz="2200" dirty="0">
                <a:highlight>
                  <a:srgbClr val="FFFF00"/>
                </a:highlight>
              </a:rPr>
              <a:t>6、首都：</a:t>
            </a:r>
            <a:r>
              <a:rPr lang="zh-CN" altLang="en-US" sz="2200" dirty="0">
                <a:solidFill>
                  <a:srgbClr val="FF0000"/>
                </a:solidFill>
                <a:highlight>
                  <a:srgbClr val="FFFF00"/>
                </a:highlight>
              </a:rPr>
              <a:t>秦：咸阳</a:t>
            </a:r>
            <a:r>
              <a:rPr lang="en-US" altLang="zh-CN" sz="2200" dirty="0">
                <a:solidFill>
                  <a:srgbClr val="FF0000"/>
                </a:solidFill>
                <a:highlight>
                  <a:srgbClr val="FFFF00"/>
                </a:highlight>
              </a:rPr>
              <a:t>   </a:t>
            </a:r>
            <a:r>
              <a:rPr lang="zh-CN" altLang="en-US" sz="2200" dirty="0">
                <a:solidFill>
                  <a:srgbClr val="FF0000"/>
                </a:solidFill>
                <a:highlight>
                  <a:srgbClr val="FFFF00"/>
                </a:highlight>
              </a:rPr>
              <a:t>西汉：长安</a:t>
            </a:r>
            <a:r>
              <a:rPr lang="en-US" altLang="zh-CN" sz="2200" dirty="0">
                <a:solidFill>
                  <a:srgbClr val="FF0000"/>
                </a:solidFill>
                <a:highlight>
                  <a:srgbClr val="FFFF00"/>
                </a:highlight>
              </a:rPr>
              <a:t>   </a:t>
            </a:r>
            <a:r>
              <a:rPr lang="zh-CN" altLang="en-US" sz="2200" dirty="0">
                <a:solidFill>
                  <a:srgbClr val="FF0000"/>
                </a:solidFill>
                <a:highlight>
                  <a:srgbClr val="FFFF00"/>
                </a:highlight>
              </a:rPr>
              <a:t>东汉：洛阳</a:t>
            </a:r>
          </a:p>
          <a:p>
            <a:pPr marL="0" lvl="8" algn="l">
              <a:lnSpc>
                <a:spcPts val="2040"/>
              </a:lnSpc>
              <a:buClrTx/>
              <a:buSzTx/>
            </a:pPr>
            <a:r>
              <a:rPr lang="zh-CN" altLang="en-US" sz="2200" spc="150" dirty="0">
                <a:solidFill>
                  <a:schemeClr val="tx1">
                    <a:lumMod val="65000"/>
                    <a:lumOff val="35000"/>
                  </a:schemeClr>
                </a:solidFill>
                <a:uFillTx/>
              </a:rPr>
              <a:t>7、</a:t>
            </a:r>
            <a:r>
              <a:rPr lang="zh-CN" altLang="en-US" sz="2200" spc="150" dirty="0">
                <a:solidFill>
                  <a:schemeClr val="tx1">
                    <a:lumMod val="65000"/>
                    <a:lumOff val="35000"/>
                  </a:schemeClr>
                </a:solidFill>
                <a:uFillTx/>
                <a:sym typeface="+mn-ea"/>
              </a:rPr>
              <a:t>第一次人口迁徙高潮的事件？</a:t>
            </a:r>
            <a:r>
              <a:rPr lang="zh-CN" altLang="en-US" sz="2200" dirty="0">
                <a:solidFill>
                  <a:srgbClr val="FF0000"/>
                </a:solidFill>
                <a:sym typeface="+mn-ea"/>
              </a:rPr>
              <a:t>西晋八王之乱</a:t>
            </a:r>
          </a:p>
          <a:p>
            <a:pPr marL="0" lvl="8" algn="l">
              <a:lnSpc>
                <a:spcPts val="2040"/>
              </a:lnSpc>
              <a:buClrTx/>
              <a:buSzTx/>
            </a:pPr>
            <a:endParaRPr lang="zh-CN" altLang="en-US" sz="2200" dirty="0">
              <a:solidFill>
                <a:srgbClr val="FF0000"/>
              </a:solidFill>
              <a:sym typeface="+mn-ea"/>
            </a:endParaRPr>
          </a:p>
          <a:p>
            <a:pPr>
              <a:lnSpc>
                <a:spcPts val="2040"/>
              </a:lnSpc>
            </a:pPr>
            <a:r>
              <a:rPr lang="en-US" altLang="zh-CN" sz="2200" dirty="0">
                <a:highlight>
                  <a:srgbClr val="FFFF00"/>
                </a:highlight>
                <a:sym typeface="+mn-ea"/>
              </a:rPr>
              <a:t>8</a:t>
            </a:r>
            <a:r>
              <a:rPr lang="zh-CN" altLang="en-US" sz="2200" dirty="0">
                <a:highlight>
                  <a:srgbClr val="FFFF00"/>
                </a:highlight>
                <a:sym typeface="+mn-ea"/>
              </a:rPr>
              <a:t>、西周分封制</a:t>
            </a:r>
            <a:r>
              <a:rPr lang="zh-CN" altLang="en-US" sz="2200" b="1" u="sng" dirty="0">
                <a:solidFill>
                  <a:srgbClr val="FF0000"/>
                </a:solidFill>
                <a:highlight>
                  <a:srgbClr val="FFFF00"/>
                </a:highlight>
                <a:sym typeface="+mn-ea"/>
              </a:rPr>
              <a:t>（奴隶制）</a:t>
            </a:r>
            <a:r>
              <a:rPr lang="zh-CN" altLang="en-US" sz="2200" dirty="0">
                <a:highlight>
                  <a:srgbClr val="FFFF00"/>
                </a:highlight>
                <a:sym typeface="+mn-ea"/>
              </a:rPr>
              <a:t>影响：</a:t>
            </a:r>
            <a:r>
              <a:rPr lang="zh-CN" altLang="en-US" sz="2200" dirty="0">
                <a:solidFill>
                  <a:srgbClr val="FF0000"/>
                </a:solidFill>
                <a:highlight>
                  <a:srgbClr val="FFFF00"/>
                </a:highlight>
                <a:sym typeface="+mn-ea"/>
              </a:rPr>
              <a:t>积极：保证了周王朝对地方的控制，稳定了政局，扩大了统治范围。有利于边远地区的开发和民族交融。</a:t>
            </a:r>
            <a:endParaRPr lang="zh-CN" altLang="en-US" sz="2200" dirty="0">
              <a:solidFill>
                <a:srgbClr val="FF0000"/>
              </a:solidFill>
              <a:highlight>
                <a:srgbClr val="FFFF00"/>
              </a:highlight>
            </a:endParaRPr>
          </a:p>
          <a:p>
            <a:pPr>
              <a:lnSpc>
                <a:spcPts val="2040"/>
              </a:lnSpc>
            </a:pPr>
            <a:r>
              <a:rPr lang="zh-CN" altLang="en-US" sz="2200" dirty="0">
                <a:solidFill>
                  <a:srgbClr val="FF0000"/>
                </a:solidFill>
                <a:highlight>
                  <a:srgbClr val="FFFF00"/>
                </a:highlight>
                <a:sym typeface="+mn-ea"/>
              </a:rPr>
              <a:t>消极：诸侯具有较大独立性，导致了春秋战国的分裂动荡局面。</a:t>
            </a:r>
            <a:endParaRPr lang="zh-CN" altLang="en-US" sz="2200" dirty="0">
              <a:solidFill>
                <a:srgbClr val="FF0000"/>
              </a:solidFill>
              <a:highlight>
                <a:srgbClr val="FFFF00"/>
              </a:highlight>
            </a:endParaRPr>
          </a:p>
          <a:p>
            <a:pPr marL="0" lvl="8" algn="l">
              <a:lnSpc>
                <a:spcPts val="2040"/>
              </a:lnSpc>
              <a:buClrTx/>
              <a:buSzTx/>
            </a:pPr>
            <a:endParaRPr lang="zh-CN" altLang="en-US" sz="2200" spc="150" dirty="0">
              <a:solidFill>
                <a:srgbClr val="FF0000"/>
              </a:solidFill>
              <a:uFillTx/>
            </a:endParaRPr>
          </a:p>
          <a:p>
            <a:pPr algn="l">
              <a:lnSpc>
                <a:spcPts val="2040"/>
              </a:lnSpc>
              <a:buClrTx/>
              <a:buSzTx/>
            </a:pPr>
            <a:endParaRPr lang="zh-CN" altLang="en-US" sz="2200" dirty="0">
              <a:solidFill>
                <a:srgbClr val="FF0000"/>
              </a:solidFill>
            </a:endParaRPr>
          </a:p>
          <a:p>
            <a:pPr>
              <a:lnSpc>
                <a:spcPts val="2040"/>
              </a:lnSpc>
            </a:pPr>
            <a:endParaRPr lang="zh-CN" altLang="en-US" sz="2200" dirty="0">
              <a:solidFill>
                <a:srgbClr val="FF0000"/>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5600" y="135255"/>
            <a:ext cx="11221720" cy="6114415"/>
          </a:xfrm>
        </p:spPr>
        <p:txBody>
          <a:bodyPr>
            <a:noAutofit/>
          </a:bodyPr>
          <a:lstStyle/>
          <a:p>
            <a:r>
              <a:rPr lang="zh-CN" altLang="en-US" sz="2800" dirty="0">
                <a:highlight>
                  <a:srgbClr val="FFFF00"/>
                </a:highlight>
              </a:rPr>
              <a:t>秦始皇</a:t>
            </a:r>
            <a:r>
              <a:rPr lang="zh-CN" altLang="en-US" sz="2800" dirty="0"/>
              <a:t>巩固统一的措施：</a:t>
            </a:r>
            <a:r>
              <a:rPr lang="zh-CN" altLang="en-US" sz="2800" dirty="0">
                <a:solidFill>
                  <a:srgbClr val="FF0000"/>
                </a:solidFill>
                <a:latin typeface="Calibri" panose="020F0502020204030204" charset="0"/>
              </a:rPr>
              <a:t>①</a:t>
            </a:r>
            <a:r>
              <a:rPr lang="zh-CN" altLang="en-US" sz="2800" dirty="0">
                <a:solidFill>
                  <a:srgbClr val="FF0000"/>
                </a:solidFill>
              </a:rPr>
              <a:t>统一文字：小篆；</a:t>
            </a:r>
            <a:r>
              <a:rPr lang="zh-CN" altLang="en-US" sz="2800" dirty="0">
                <a:solidFill>
                  <a:srgbClr val="FF0000"/>
                </a:solidFill>
                <a:latin typeface="Calibri" panose="020F0502020204030204" charset="0"/>
                <a:sym typeface="+mn-ea"/>
              </a:rPr>
              <a:t>②</a:t>
            </a:r>
            <a:r>
              <a:rPr lang="zh-CN" altLang="en-US" sz="2800" dirty="0">
                <a:solidFill>
                  <a:srgbClr val="FF0000"/>
                </a:solidFill>
              </a:rPr>
              <a:t>统一度量衡；</a:t>
            </a:r>
            <a:r>
              <a:rPr lang="zh-CN" altLang="en-US" sz="2800" dirty="0">
                <a:solidFill>
                  <a:srgbClr val="FF0000"/>
                </a:solidFill>
                <a:latin typeface="Calibri" panose="020F0502020204030204" charset="0"/>
                <a:sym typeface="+mn-ea"/>
              </a:rPr>
              <a:t>③</a:t>
            </a:r>
            <a:r>
              <a:rPr lang="zh-CN" altLang="en-US" sz="2800" dirty="0">
                <a:solidFill>
                  <a:srgbClr val="FF0000"/>
                </a:solidFill>
              </a:rPr>
              <a:t>统一车轨；</a:t>
            </a:r>
            <a:r>
              <a:rPr lang="zh-CN" altLang="en-US" sz="2800" dirty="0">
                <a:solidFill>
                  <a:srgbClr val="FF0000"/>
                </a:solidFill>
                <a:latin typeface="Calibri" panose="020F0502020204030204" charset="0"/>
                <a:sym typeface="+mn-ea"/>
              </a:rPr>
              <a:t>④</a:t>
            </a:r>
            <a:r>
              <a:rPr lang="zh-CN" altLang="en-US" sz="2800" dirty="0">
                <a:solidFill>
                  <a:srgbClr val="FF0000"/>
                </a:solidFill>
              </a:rPr>
              <a:t>统一货币：圆形方孔半两钱；</a:t>
            </a:r>
            <a:r>
              <a:rPr lang="zh-CN" altLang="en-US" sz="2800" dirty="0">
                <a:solidFill>
                  <a:srgbClr val="FF0000"/>
                </a:solidFill>
                <a:latin typeface="Calibri" panose="020F0502020204030204" charset="0"/>
                <a:sym typeface="+mn-ea"/>
              </a:rPr>
              <a:t>⑤</a:t>
            </a:r>
            <a:r>
              <a:rPr lang="zh-CN" altLang="en-US" sz="2800" dirty="0">
                <a:solidFill>
                  <a:srgbClr val="FF0000"/>
                </a:solidFill>
              </a:rPr>
              <a:t>统一岭南；</a:t>
            </a:r>
            <a:r>
              <a:rPr lang="zh-CN" altLang="en-US" sz="2800" dirty="0">
                <a:solidFill>
                  <a:srgbClr val="FF0000"/>
                </a:solidFill>
                <a:latin typeface="Calibri" panose="020F0502020204030204" charset="0"/>
                <a:sym typeface="+mn-ea"/>
              </a:rPr>
              <a:t>⑥</a:t>
            </a:r>
            <a:r>
              <a:rPr lang="zh-CN" altLang="en-US" sz="2800" dirty="0">
                <a:solidFill>
                  <a:srgbClr val="FF0000"/>
                </a:solidFill>
              </a:rPr>
              <a:t>派蒙恬北击匈奴，修东起</a:t>
            </a:r>
            <a:r>
              <a:rPr lang="zh-CN" altLang="en-US" sz="2800" dirty="0">
                <a:solidFill>
                  <a:srgbClr val="FF0000"/>
                </a:solidFill>
                <a:sym typeface="+mn-ea"/>
              </a:rPr>
              <a:t>辽东</a:t>
            </a:r>
            <a:r>
              <a:rPr lang="zh-CN" altLang="en-US" sz="2800" dirty="0">
                <a:solidFill>
                  <a:srgbClr val="FF0000"/>
                </a:solidFill>
              </a:rPr>
              <a:t>，西至</a:t>
            </a:r>
            <a:r>
              <a:rPr lang="zh-CN" altLang="en-US" sz="2800" dirty="0">
                <a:solidFill>
                  <a:srgbClr val="FF0000"/>
                </a:solidFill>
                <a:sym typeface="+mn-ea"/>
              </a:rPr>
              <a:t>临洮的长城；</a:t>
            </a:r>
            <a:r>
              <a:rPr lang="zh-CN" altLang="en-US" sz="2800" dirty="0">
                <a:solidFill>
                  <a:srgbClr val="FF0000"/>
                </a:solidFill>
                <a:latin typeface="Calibri" panose="020F0502020204030204" charset="0"/>
                <a:sym typeface="+mn-ea"/>
              </a:rPr>
              <a:t>⑦</a:t>
            </a:r>
            <a:r>
              <a:rPr lang="zh-CN" altLang="en-US" sz="2800" dirty="0">
                <a:solidFill>
                  <a:srgbClr val="FF0000"/>
                </a:solidFill>
                <a:sym typeface="+mn-ea"/>
              </a:rPr>
              <a:t>开凿灵渠。</a:t>
            </a:r>
            <a:endParaRPr lang="zh-CN" altLang="en-US" sz="2800" dirty="0">
              <a:sym typeface="+mn-ea"/>
            </a:endParaRPr>
          </a:p>
          <a:p>
            <a:pPr algn="l">
              <a:buClrTx/>
              <a:buSzTx/>
            </a:pPr>
            <a:r>
              <a:rPr lang="zh-CN" altLang="en-US" sz="2800" dirty="0">
                <a:sym typeface="+mn-ea"/>
              </a:rPr>
              <a:t>秦朝疆域：</a:t>
            </a:r>
            <a:r>
              <a:rPr lang="zh-CN" altLang="en-US" sz="2800" dirty="0">
                <a:solidFill>
                  <a:srgbClr val="FF0000"/>
                </a:solidFill>
                <a:latin typeface="Calibri" panose="020F0502020204030204" charset="0"/>
                <a:sym typeface="+mn-ea"/>
              </a:rPr>
              <a:t>东至东海，西到陇西，北至长城，南达南海。</a:t>
            </a:r>
          </a:p>
          <a:p>
            <a:r>
              <a:rPr lang="zh-CN" altLang="en-US" sz="2800" dirty="0">
                <a:highlight>
                  <a:srgbClr val="FFFF00"/>
                </a:highlight>
                <a:sym typeface="+mn-ea"/>
              </a:rPr>
              <a:t>汉武帝</a:t>
            </a:r>
            <a:r>
              <a:rPr lang="zh-CN" altLang="en-US" sz="2800" dirty="0">
                <a:sym typeface="+mn-ea"/>
              </a:rPr>
              <a:t>巩固大一统王朝的措施：</a:t>
            </a:r>
            <a:r>
              <a:rPr lang="zh-CN" altLang="en-US" sz="2800" dirty="0">
                <a:solidFill>
                  <a:srgbClr val="FF0000"/>
                </a:solidFill>
                <a:latin typeface="Calibri" panose="020F0502020204030204" charset="0"/>
                <a:sym typeface="+mn-ea"/>
              </a:rPr>
              <a:t>①推恩令（主父偃），建立刺史制度；②罢黜百家，尊崇儒术（董仲舒），把儒家学说立为正统思想，兴办太学；③把铸币权收归中央，铸造五铢钱；实行盐铁官营专卖；④派张骞出使西域；⑤开辟陆上和海上丝绸之路；⑥派卫青、霍去病北击匈奴。</a:t>
            </a:r>
          </a:p>
          <a:p>
            <a:pPr algn="l">
              <a:buClrTx/>
              <a:buSzTx/>
            </a:pPr>
            <a:r>
              <a:rPr lang="zh-CN" altLang="en-US" sz="2800" dirty="0">
                <a:solidFill>
                  <a:srgbClr val="FF0000"/>
                </a:solidFill>
                <a:latin typeface="Calibri" panose="020F0502020204030204" charset="0"/>
                <a:sym typeface="+mn-ea"/>
              </a:rPr>
              <a:t>汉武帝从政治、经济、思想和军事等方面巩固了大一统的局面，使西汉开始进入鼎盛时期。</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06400" y="246380"/>
            <a:ext cx="11344275" cy="6379210"/>
          </a:xfrm>
        </p:spPr>
        <p:txBody>
          <a:bodyPr>
            <a:noAutofit/>
          </a:bodyPr>
          <a:lstStyle/>
          <a:p>
            <a:pPr>
              <a:lnSpc>
                <a:spcPct val="100000"/>
              </a:lnSpc>
            </a:pPr>
            <a:r>
              <a:rPr lang="en-US" altLang="zh-CN" sz="2200" dirty="0"/>
              <a:t>1</a:t>
            </a:r>
            <a:r>
              <a:rPr lang="zh-CN" altLang="en-US" sz="2200" dirty="0"/>
              <a:t>、</a:t>
            </a:r>
            <a:r>
              <a:rPr lang="zh-CN" altLang="en-US" sz="2200" dirty="0">
                <a:solidFill>
                  <a:srgbClr val="FF0000"/>
                </a:solidFill>
                <a:sym typeface="+mn-ea"/>
              </a:rPr>
              <a:t>战国、秦国、李冰、都江堰、成都平原、岷江。</a:t>
            </a:r>
          </a:p>
          <a:p>
            <a:pPr>
              <a:lnSpc>
                <a:spcPct val="100000"/>
              </a:lnSpc>
            </a:pPr>
            <a:r>
              <a:rPr lang="zh-CN" altLang="en-US" sz="2200" dirty="0">
                <a:sym typeface="+mn-ea"/>
              </a:rPr>
              <a:t>2、秦统一时间：</a:t>
            </a:r>
            <a:r>
              <a:rPr lang="zh-CN" altLang="en-US" sz="2200" dirty="0">
                <a:solidFill>
                  <a:srgbClr val="FF0000"/>
                </a:solidFill>
                <a:sym typeface="+mn-ea"/>
              </a:rPr>
              <a:t>前</a:t>
            </a:r>
            <a:r>
              <a:rPr lang="en-US" altLang="zh-CN" sz="2200" dirty="0">
                <a:solidFill>
                  <a:srgbClr val="FF0000"/>
                </a:solidFill>
                <a:sym typeface="+mn-ea"/>
              </a:rPr>
              <a:t>221</a:t>
            </a:r>
            <a:r>
              <a:rPr lang="zh-CN" altLang="en-US" sz="2200" dirty="0">
                <a:solidFill>
                  <a:srgbClr val="FF0000"/>
                </a:solidFill>
                <a:sym typeface="+mn-ea"/>
              </a:rPr>
              <a:t>年，定都：咸阳。</a:t>
            </a:r>
            <a:endParaRPr lang="zh-CN" altLang="en-US" sz="2200" dirty="0">
              <a:solidFill>
                <a:srgbClr val="FF0000"/>
              </a:solidFill>
            </a:endParaRPr>
          </a:p>
          <a:p>
            <a:pPr>
              <a:lnSpc>
                <a:spcPct val="100000"/>
              </a:lnSpc>
            </a:pPr>
            <a:r>
              <a:rPr lang="en-US" altLang="zh-CN" sz="2200" dirty="0"/>
              <a:t>3</a:t>
            </a:r>
            <a:r>
              <a:rPr lang="zh-CN" altLang="en-US" sz="2200" dirty="0"/>
              <a:t>、秦朝建立了</a:t>
            </a:r>
            <a:r>
              <a:rPr lang="zh-CN" altLang="en-US" sz="2200" dirty="0">
                <a:solidFill>
                  <a:srgbClr val="FF0000"/>
                </a:solidFill>
              </a:rPr>
              <a:t>君主专制中央集权制度。</a:t>
            </a:r>
          </a:p>
          <a:p>
            <a:pPr algn="l">
              <a:lnSpc>
                <a:spcPct val="100000"/>
              </a:lnSpc>
              <a:buClrTx/>
              <a:buSzTx/>
            </a:pPr>
            <a:r>
              <a:rPr lang="en-US" altLang="zh-CN" sz="2200" dirty="0"/>
              <a:t>4</a:t>
            </a:r>
            <a:r>
              <a:rPr lang="zh-CN" altLang="en-US" sz="2200" dirty="0"/>
              <a:t>、影响：</a:t>
            </a:r>
            <a:r>
              <a:rPr lang="zh-CN" altLang="en-US" sz="2200" dirty="0">
                <a:solidFill>
                  <a:srgbClr val="FF0000"/>
                </a:solidFill>
              </a:rPr>
              <a:t>奠定了中国两千多年封建政治制度的基本格局，为历代王朝所沿用。封建社会后期阻碍社会进步。</a:t>
            </a:r>
          </a:p>
          <a:p>
            <a:pPr algn="l">
              <a:lnSpc>
                <a:spcPct val="100000"/>
              </a:lnSpc>
              <a:buClrTx/>
              <a:buSzTx/>
            </a:pPr>
            <a:r>
              <a:rPr lang="en-US" altLang="zh-CN" sz="2200" dirty="0">
                <a:solidFill>
                  <a:srgbClr val="FF0000"/>
                </a:solidFill>
                <a:highlight>
                  <a:srgbClr val="FFFF00"/>
                </a:highlight>
              </a:rPr>
              <a:t>5</a:t>
            </a:r>
            <a:r>
              <a:rPr lang="zh-CN" altLang="en-US" sz="2200" dirty="0">
                <a:solidFill>
                  <a:srgbClr val="FF0000"/>
                </a:solidFill>
                <a:highlight>
                  <a:srgbClr val="FFFF00"/>
                </a:highlight>
              </a:rPr>
              <a:t>、</a:t>
            </a:r>
            <a:r>
              <a:rPr lang="zh-CN" altLang="en-US" sz="2200" dirty="0">
                <a:highlight>
                  <a:srgbClr val="FFFF00"/>
                </a:highlight>
              </a:rPr>
              <a:t>大泽乡起义、陈胜吴广</a:t>
            </a:r>
            <a:r>
              <a:rPr lang="zh-CN" altLang="en-US" sz="2200" dirty="0">
                <a:solidFill>
                  <a:srgbClr val="FF0000"/>
                </a:solidFill>
                <a:highlight>
                  <a:srgbClr val="FFFF00"/>
                </a:highlight>
              </a:rPr>
              <a:t>、前</a:t>
            </a:r>
            <a:r>
              <a:rPr lang="en-US" altLang="zh-CN" sz="2200" dirty="0">
                <a:solidFill>
                  <a:srgbClr val="FF0000"/>
                </a:solidFill>
                <a:highlight>
                  <a:srgbClr val="FFFF00"/>
                </a:highlight>
              </a:rPr>
              <a:t>209</a:t>
            </a:r>
            <a:r>
              <a:rPr lang="zh-CN" altLang="en-US" sz="2200" dirty="0">
                <a:solidFill>
                  <a:srgbClr val="FF0000"/>
                </a:solidFill>
                <a:highlight>
                  <a:srgbClr val="FFFF00"/>
                </a:highlight>
              </a:rPr>
              <a:t>年，张楚政权，我国历史上第一次农民起义。沉重打击秦朝的统治。</a:t>
            </a:r>
          </a:p>
          <a:p>
            <a:pPr algn="l">
              <a:lnSpc>
                <a:spcPct val="100000"/>
              </a:lnSpc>
              <a:buClrTx/>
              <a:buSzTx/>
            </a:pPr>
            <a:r>
              <a:rPr lang="en-US" altLang="zh-CN" sz="2200" dirty="0"/>
              <a:t>6</a:t>
            </a:r>
            <a:r>
              <a:rPr lang="zh-CN" altLang="en-US" sz="2200" dirty="0"/>
              <a:t>、汉初，采取休养生息政策的皇帝有：</a:t>
            </a:r>
            <a:r>
              <a:rPr lang="zh-CN" altLang="en-US" sz="2200" dirty="0">
                <a:solidFill>
                  <a:srgbClr val="FF0000"/>
                </a:solidFill>
              </a:rPr>
              <a:t>汉高祖（刘邦）、文帝、景帝。</a:t>
            </a:r>
          </a:p>
          <a:p>
            <a:pPr algn="l">
              <a:lnSpc>
                <a:spcPct val="100000"/>
              </a:lnSpc>
              <a:buClrTx/>
              <a:buSzTx/>
            </a:pPr>
            <a:r>
              <a:rPr lang="en-US" altLang="zh-CN" sz="2200" dirty="0"/>
              <a:t>7</a:t>
            </a:r>
            <a:r>
              <a:rPr lang="zh-CN" altLang="en-US" sz="2200" dirty="0"/>
              <a:t>、张骞第一次出使西域的目的：</a:t>
            </a:r>
            <a:r>
              <a:rPr lang="zh-CN" altLang="en-US" sz="2200" dirty="0">
                <a:solidFill>
                  <a:srgbClr val="FF0000"/>
                </a:solidFill>
              </a:rPr>
              <a:t>联络大月氏夹击匈奴；</a:t>
            </a:r>
            <a:r>
              <a:rPr lang="zh-CN" altLang="en-US" sz="2200" dirty="0"/>
              <a:t>第二次：</a:t>
            </a:r>
            <a:r>
              <a:rPr lang="zh-CN" altLang="en-US" sz="2200" dirty="0">
                <a:solidFill>
                  <a:srgbClr val="FF0000"/>
                </a:solidFill>
              </a:rPr>
              <a:t>加强与西域各国的联系。</a:t>
            </a:r>
          </a:p>
          <a:p>
            <a:pPr algn="l">
              <a:lnSpc>
                <a:spcPct val="100000"/>
              </a:lnSpc>
              <a:buClrTx/>
              <a:buSzTx/>
            </a:pPr>
            <a:r>
              <a:rPr lang="en-US" altLang="zh-CN" sz="2200" dirty="0"/>
              <a:t>8</a:t>
            </a:r>
            <a:r>
              <a:rPr lang="zh-CN" altLang="en-US" sz="2200" dirty="0"/>
              <a:t>、张骞出使西域的影响：</a:t>
            </a:r>
            <a:r>
              <a:rPr lang="zh-CN" altLang="en-US" sz="2200" dirty="0">
                <a:solidFill>
                  <a:srgbClr val="FF0000"/>
                </a:solidFill>
              </a:rPr>
              <a:t>开辟了通往西域的道路，促进汉朝与西域各国的相互了解与往来。促进东西方经济文化交流，为丝绸之路开通奠基。</a:t>
            </a:r>
          </a:p>
          <a:p>
            <a:pPr algn="l">
              <a:lnSpc>
                <a:spcPct val="100000"/>
              </a:lnSpc>
              <a:buClrTx/>
              <a:buSzTx/>
            </a:pPr>
            <a:r>
              <a:rPr lang="zh-CN" altLang="en-US" sz="2200" dirty="0">
                <a:highlight>
                  <a:srgbClr val="FFFF00"/>
                </a:highlight>
              </a:rPr>
              <a:t>9、</a:t>
            </a:r>
            <a:r>
              <a:rPr lang="zh-CN" altLang="en-US" sz="2200" dirty="0">
                <a:highlight>
                  <a:srgbClr val="FFFF00"/>
                </a:highlight>
                <a:sym typeface="+mn-ea"/>
              </a:rPr>
              <a:t>东汉末年的农民起义是</a:t>
            </a:r>
            <a:r>
              <a:rPr lang="zh-CN" altLang="en-US" sz="2200" dirty="0">
                <a:solidFill>
                  <a:srgbClr val="FF0000"/>
                </a:solidFill>
                <a:highlight>
                  <a:srgbClr val="FFFF00"/>
                </a:highlight>
                <a:sym typeface="+mn-ea"/>
              </a:rPr>
              <a:t>黄巾起义，张角。</a:t>
            </a:r>
          </a:p>
          <a:p>
            <a:pPr algn="l">
              <a:lnSpc>
                <a:spcPct val="100000"/>
              </a:lnSpc>
              <a:buClrTx/>
              <a:buSzTx/>
            </a:pPr>
            <a:r>
              <a:rPr lang="zh-CN" altLang="en-US" sz="2200" dirty="0"/>
              <a:t>10、华佗：</a:t>
            </a:r>
            <a:r>
              <a:rPr lang="zh-CN" altLang="en-US" sz="2200" dirty="0">
                <a:solidFill>
                  <a:srgbClr val="FF0000"/>
                </a:solidFill>
              </a:rPr>
              <a:t>东汉，麻沸散、外科手术、五禽戏</a:t>
            </a:r>
          </a:p>
          <a:p>
            <a:pPr algn="l">
              <a:lnSpc>
                <a:spcPct val="100000"/>
              </a:lnSpc>
              <a:buClrTx/>
              <a:buSzTx/>
            </a:pPr>
            <a:r>
              <a:rPr lang="zh-CN" altLang="en-US" sz="2200" dirty="0"/>
              <a:t>11、张仲景：</a:t>
            </a:r>
            <a:r>
              <a:rPr lang="zh-CN" altLang="en-US" sz="2200" dirty="0">
                <a:solidFill>
                  <a:srgbClr val="FF0000"/>
                </a:solidFill>
              </a:rPr>
              <a:t>东汉，《伤寒杂病论》，治未病。</a:t>
            </a:r>
          </a:p>
          <a:p>
            <a:pPr algn="l">
              <a:lnSpc>
                <a:spcPct val="100000"/>
              </a:lnSpc>
              <a:buClrTx/>
              <a:buSzTx/>
            </a:pPr>
            <a:endParaRPr lang="zh-CN" altLang="en-US" sz="2200" dirty="0">
              <a:solidFill>
                <a:srgbClr val="FF0000"/>
              </a:solidFill>
            </a:endParaRPr>
          </a:p>
          <a:p>
            <a:pPr algn="l">
              <a:buClrTx/>
              <a:buSzTx/>
            </a:pPr>
            <a:endParaRPr lang="zh-CN" altLang="en-US" sz="2200" dirty="0">
              <a:solidFill>
                <a:srgbClr val="FF0000"/>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34975" y="147320"/>
            <a:ext cx="11520170" cy="6102350"/>
          </a:xfrm>
        </p:spPr>
        <p:txBody>
          <a:bodyPr>
            <a:normAutofit fontScale="25000" lnSpcReduction="20000"/>
          </a:bodyPr>
          <a:lstStyle/>
          <a:p>
            <a:pPr algn="l">
              <a:buClrTx/>
              <a:buSzTx/>
            </a:pPr>
            <a:r>
              <a:rPr lang="zh-CN" altLang="en-US" sz="8000" dirty="0"/>
              <a:t>江南地区开发的原因：</a:t>
            </a:r>
            <a:r>
              <a:rPr lang="zh-CN" altLang="en-US" sz="8000" dirty="0">
                <a:solidFill>
                  <a:srgbClr val="FF0000"/>
                </a:solidFill>
              </a:rPr>
              <a:t>南方战乱较少，社会比较安定，统治者的政策支持；北人南迁，带来了劳动力、先进的生产工具和生产技术（根因）；南方自然条件优越。</a:t>
            </a:r>
          </a:p>
          <a:p>
            <a:pPr algn="l">
              <a:buClrTx/>
              <a:buSzTx/>
            </a:pPr>
            <a:r>
              <a:rPr lang="zh-CN" altLang="en-US" sz="8000" dirty="0">
                <a:sym typeface="+mn-ea"/>
              </a:rPr>
              <a:t>江南地区开发的影响：</a:t>
            </a:r>
            <a:r>
              <a:rPr lang="zh-CN" altLang="en-US" sz="8000" dirty="0">
                <a:solidFill>
                  <a:srgbClr val="FF0000"/>
                </a:solidFill>
                <a:sym typeface="+mn-ea"/>
              </a:rPr>
              <a:t>为我国古代经济重心的南移奠基。</a:t>
            </a:r>
          </a:p>
          <a:p>
            <a:r>
              <a:rPr lang="zh-CN" altLang="en-US" sz="8000" dirty="0"/>
              <a:t>魏晋时期人口迁徙：</a:t>
            </a:r>
            <a:r>
              <a:rPr lang="zh-CN" altLang="en-US" sz="8000" dirty="0">
                <a:solidFill>
                  <a:srgbClr val="FF0000"/>
                </a:solidFill>
              </a:rPr>
              <a:t>少数民族内迁（五胡内迁）；汉族人迁往江南（人口南迁）。</a:t>
            </a:r>
          </a:p>
          <a:p>
            <a:r>
              <a:rPr lang="zh-CN" altLang="en-US" sz="8000" dirty="0"/>
              <a:t>北方民族交融的表现：</a:t>
            </a:r>
            <a:r>
              <a:rPr lang="zh-CN" altLang="en-US" sz="8000" dirty="0">
                <a:solidFill>
                  <a:srgbClr val="FF0000"/>
                </a:solidFill>
              </a:rPr>
              <a:t>胡汉观念逐渐淡薄，民族隔阂与偏见减少。</a:t>
            </a:r>
          </a:p>
          <a:p>
            <a:r>
              <a:rPr lang="zh-CN" altLang="en-US" sz="8000" dirty="0"/>
              <a:t>祖冲之：</a:t>
            </a:r>
            <a:r>
              <a:rPr lang="zh-CN" altLang="en-US" sz="8000" dirty="0">
                <a:solidFill>
                  <a:srgbClr val="FF0000"/>
                </a:solidFill>
              </a:rPr>
              <a:t>南北朝，把圆周率</a:t>
            </a:r>
            <a:r>
              <a:rPr lang="zh-CN" altLang="en-US" sz="6200" dirty="0">
                <a:solidFill>
                  <a:srgbClr val="FF0000"/>
                </a:solidFill>
              </a:rPr>
              <a:t>精确</a:t>
            </a:r>
            <a:r>
              <a:rPr lang="zh-CN" altLang="en-US" sz="8000" dirty="0">
                <a:solidFill>
                  <a:srgbClr val="FF0000"/>
                </a:solidFill>
              </a:rPr>
              <a:t>到</a:t>
            </a:r>
            <a:r>
              <a:rPr lang="zh-CN" altLang="en-US" sz="8000" b="1" u="sng" dirty="0">
                <a:solidFill>
                  <a:srgbClr val="FF0000"/>
                </a:solidFill>
              </a:rPr>
              <a:t>小数点后第七位</a:t>
            </a:r>
            <a:r>
              <a:rPr lang="zh-CN" altLang="en-US" sz="8000" dirty="0">
                <a:solidFill>
                  <a:srgbClr val="FF0000"/>
                </a:solidFill>
              </a:rPr>
              <a:t>，领先世界近千年。《大明历》《缀术》</a:t>
            </a:r>
          </a:p>
          <a:p>
            <a:r>
              <a:rPr lang="zh-CN" altLang="en-US" sz="8000" dirty="0">
                <a:solidFill>
                  <a:srgbClr val="FF0000"/>
                </a:solidFill>
              </a:rPr>
              <a:t>锺繇独创楷书书法</a:t>
            </a:r>
          </a:p>
          <a:p>
            <a:r>
              <a:rPr lang="zh-CN" altLang="en-US" sz="8000" dirty="0"/>
              <a:t>《齐民要术》的原则：</a:t>
            </a:r>
            <a:r>
              <a:rPr lang="zh-CN" altLang="en-US" sz="8000" dirty="0">
                <a:solidFill>
                  <a:srgbClr val="FF0000"/>
                </a:solidFill>
              </a:rPr>
              <a:t>民生为本；农业生产遵循自然规律；农作物种植因地制宜、不误农时。</a:t>
            </a:r>
          </a:p>
          <a:p>
            <a:r>
              <a:rPr lang="zh-CN" altLang="en-US" sz="8000" dirty="0">
                <a:solidFill>
                  <a:srgbClr val="FF0000"/>
                </a:solidFill>
              </a:rPr>
              <a:t>东晋、王羲之，书圣，《兰亭集序》，天下第一行书。</a:t>
            </a:r>
          </a:p>
          <a:p>
            <a:r>
              <a:rPr lang="zh-CN" altLang="en-US" sz="8000" dirty="0">
                <a:solidFill>
                  <a:srgbClr val="FF0000"/>
                </a:solidFill>
              </a:rPr>
              <a:t>东晋、顾恺之《女史箴图》《洛神赋图》</a:t>
            </a:r>
          </a:p>
          <a:p>
            <a:r>
              <a:rPr lang="zh-CN" altLang="en-US" sz="8000" dirty="0">
                <a:solidFill>
                  <a:srgbClr val="FF0000"/>
                </a:solidFill>
              </a:rPr>
              <a:t>山西大同云冈石窟、河南洛阳龙门石窟：佛教主题</a:t>
            </a:r>
          </a:p>
          <a:p>
            <a:r>
              <a:rPr lang="zh-CN" altLang="en-US" sz="8000" dirty="0">
                <a:solidFill>
                  <a:schemeClr val="tx1"/>
                </a:solidFill>
                <a:highlight>
                  <a:srgbClr val="FFFF00"/>
                </a:highlight>
              </a:rPr>
              <a:t>秦汉的朝代特征：</a:t>
            </a:r>
            <a:r>
              <a:rPr lang="zh-CN" altLang="en-US" sz="8000" dirty="0">
                <a:solidFill>
                  <a:srgbClr val="FF0000"/>
                </a:solidFill>
                <a:highlight>
                  <a:srgbClr val="FFFF00"/>
                </a:highlight>
              </a:rPr>
              <a:t>统一多民族国家的建立和巩固</a:t>
            </a:r>
            <a:r>
              <a:rPr lang="en-US" altLang="zh-CN" sz="8000" dirty="0">
                <a:solidFill>
                  <a:srgbClr val="FF0000"/>
                </a:solidFill>
                <a:highlight>
                  <a:srgbClr val="FFFF00"/>
                </a:highlight>
              </a:rPr>
              <a:t>   </a:t>
            </a:r>
            <a:r>
              <a:rPr lang="zh-CN" altLang="en-US" sz="8000" dirty="0">
                <a:solidFill>
                  <a:schemeClr val="tx1"/>
                </a:solidFill>
                <a:highlight>
                  <a:srgbClr val="FFFF00"/>
                </a:highlight>
              </a:rPr>
              <a:t>魏晋朝代特征：</a:t>
            </a:r>
            <a:r>
              <a:rPr lang="zh-CN" altLang="en-US" sz="8000" dirty="0">
                <a:solidFill>
                  <a:srgbClr val="FF0000"/>
                </a:solidFill>
                <a:highlight>
                  <a:srgbClr val="FFFF00"/>
                </a:highlight>
              </a:rPr>
              <a:t>政权分立与民族交融</a:t>
            </a:r>
          </a:p>
          <a:p>
            <a:endParaRPr lang="zh-CN" altLang="en-US" dirty="0">
              <a:solidFill>
                <a:srgbClr val="FF0000"/>
              </a:solidFill>
            </a:endParaRPr>
          </a:p>
          <a:p>
            <a:endParaRPr lang="zh-CN" altLang="en-US" dirty="0">
              <a:solidFill>
                <a:srgbClr val="FF0000"/>
              </a:solidFill>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0810" y="0"/>
            <a:ext cx="11872595" cy="6790055"/>
          </a:xfrm>
        </p:spPr>
        <p:txBody>
          <a:bodyPr>
            <a:normAutofit/>
          </a:bodyPr>
          <a:lstStyle/>
          <a:p>
            <a:r>
              <a:rPr lang="zh-CN" altLang="en-US" sz="2800" dirty="0">
                <a:sym typeface="+mn-ea"/>
              </a:rPr>
              <a:t>秦朝疆域：</a:t>
            </a:r>
            <a:r>
              <a:rPr lang="zh-CN" altLang="en-US" sz="2800" dirty="0">
                <a:solidFill>
                  <a:srgbClr val="FF0000"/>
                </a:solidFill>
                <a:latin typeface="Calibri" panose="020F0502020204030204" charset="0"/>
                <a:sym typeface="+mn-ea"/>
              </a:rPr>
              <a:t>东至东海，西到陇西，北至长城，南达南海。</a:t>
            </a:r>
          </a:p>
          <a:p>
            <a:r>
              <a:rPr lang="zh-CN" altLang="en-US" sz="2800" dirty="0">
                <a:sym typeface="+mn-ea"/>
              </a:rPr>
              <a:t>汉武帝巩固大一统得影响：</a:t>
            </a:r>
            <a:r>
              <a:rPr lang="zh-CN" altLang="en-US" sz="2800" dirty="0">
                <a:solidFill>
                  <a:srgbClr val="FF0000"/>
                </a:solidFill>
                <a:latin typeface="Calibri" panose="020F0502020204030204" charset="0"/>
                <a:sym typeface="+mn-ea"/>
              </a:rPr>
              <a:t>汉武帝从政治、经济、思想和军事等方面巩固了大一统的局面，使西汉开始进入鼎盛时期。</a:t>
            </a:r>
          </a:p>
          <a:p>
            <a:r>
              <a:rPr lang="zh-CN" altLang="en-US" sz="2800" dirty="0">
                <a:sym typeface="+mn-ea"/>
              </a:rPr>
              <a:t>秦朝负责监察的是？</a:t>
            </a:r>
            <a:r>
              <a:rPr lang="zh-CN" altLang="en-US" sz="2800" dirty="0">
                <a:solidFill>
                  <a:srgbClr val="FF0000"/>
                </a:solidFill>
                <a:sym typeface="+mn-ea"/>
              </a:rPr>
              <a:t>御史大夫</a:t>
            </a:r>
            <a:r>
              <a:rPr lang="en-US" altLang="zh-CN" sz="2800" dirty="0">
                <a:solidFill>
                  <a:srgbClr val="FF0000"/>
                </a:solidFill>
                <a:sym typeface="+mn-ea"/>
              </a:rPr>
              <a:t>       </a:t>
            </a:r>
            <a:r>
              <a:rPr lang="zh-CN" altLang="en-US" sz="2800" dirty="0">
                <a:sym typeface="+mn-ea"/>
              </a:rPr>
              <a:t>汉朝的监察机构是？</a:t>
            </a:r>
            <a:r>
              <a:rPr lang="zh-CN" altLang="en-US" sz="2800" b="1" dirty="0">
                <a:solidFill>
                  <a:srgbClr val="FF0000"/>
                </a:solidFill>
                <a:sym typeface="+mn-ea"/>
              </a:rPr>
              <a:t> 刺史</a:t>
            </a:r>
          </a:p>
          <a:p>
            <a:r>
              <a:rPr lang="zh-CN" altLang="en-US" sz="2800" dirty="0">
                <a:sym typeface="+mn-ea"/>
              </a:rPr>
              <a:t>汉朝海上丝绸之路最远抵达：</a:t>
            </a:r>
            <a:r>
              <a:rPr lang="zh-CN" altLang="en-US" sz="2800" b="1" dirty="0">
                <a:solidFill>
                  <a:srgbClr val="FF0000"/>
                </a:solidFill>
                <a:sym typeface="+mn-ea"/>
              </a:rPr>
              <a:t>印度半岛南端，锡兰</a:t>
            </a:r>
          </a:p>
          <a:p>
            <a:r>
              <a:rPr lang="zh-CN" altLang="en-US" sz="2800" b="1" dirty="0">
                <a:sym typeface="+mn-ea"/>
              </a:rPr>
              <a:t>灭三国，统一全国的政权是？</a:t>
            </a:r>
            <a:r>
              <a:rPr lang="zh-CN" altLang="en-US" sz="2800" b="1" dirty="0">
                <a:solidFill>
                  <a:srgbClr val="FF0000"/>
                </a:solidFill>
                <a:sym typeface="+mn-ea"/>
              </a:rPr>
              <a:t>西晋</a:t>
            </a:r>
          </a:p>
          <a:p>
            <a:r>
              <a:rPr lang="zh-CN" altLang="en-US" sz="2800" dirty="0">
                <a:sym typeface="+mn-ea"/>
              </a:rPr>
              <a:t>奠定祖国医学的理论基础是</a:t>
            </a:r>
            <a:r>
              <a:rPr lang="zh-CN" altLang="en-US" sz="2800" dirty="0">
                <a:solidFill>
                  <a:srgbClr val="FF0000"/>
                </a:solidFill>
                <a:sym typeface="+mn-ea"/>
              </a:rPr>
              <a:t>《黄帝内经》</a:t>
            </a:r>
            <a:r>
              <a:rPr lang="en-US" altLang="zh-CN" sz="2800" dirty="0">
                <a:solidFill>
                  <a:srgbClr val="FF0000"/>
                </a:solidFill>
                <a:sym typeface="+mn-ea"/>
              </a:rPr>
              <a:t> </a:t>
            </a:r>
            <a:r>
              <a:rPr lang="zh-CN" altLang="en-US" sz="2800" dirty="0">
                <a:solidFill>
                  <a:srgbClr val="FF0000"/>
                </a:solidFill>
                <a:sym typeface="+mn-ea"/>
              </a:rPr>
              <a:t>战国问世、西汉编定</a:t>
            </a:r>
          </a:p>
          <a:p>
            <a:r>
              <a:rPr lang="zh-CN" altLang="en-US" sz="2800" dirty="0">
                <a:sym typeface="+mn-ea"/>
              </a:rPr>
              <a:t>商鞅变法成功的根本原因：</a:t>
            </a:r>
            <a:r>
              <a:rPr lang="zh-CN" altLang="en-US" sz="2800" dirty="0">
                <a:solidFill>
                  <a:srgbClr val="FF0000"/>
                </a:solidFill>
                <a:sym typeface="+mn-ea"/>
              </a:rPr>
              <a:t>顺应历史发展潮流</a:t>
            </a:r>
          </a:p>
          <a:p>
            <a:r>
              <a:rPr lang="zh-CN" altLang="en-US" sz="2800" dirty="0">
                <a:sym typeface="+mn-ea"/>
              </a:rPr>
              <a:t>开启家天下的人物：</a:t>
            </a:r>
            <a:r>
              <a:rPr lang="zh-CN" altLang="en-US" sz="2800" dirty="0">
                <a:solidFill>
                  <a:srgbClr val="FF0000"/>
                </a:solidFill>
                <a:sym typeface="+mn-ea"/>
              </a:rPr>
              <a:t>启</a:t>
            </a:r>
          </a:p>
          <a:p>
            <a:endParaRPr lang="zh-CN" altLang="en-US" sz="2800" dirty="0">
              <a:solidFill>
                <a:srgbClr val="FF0000"/>
              </a:solidFill>
              <a:sym typeface="+mn-ea"/>
            </a:endParaRPr>
          </a:p>
          <a:p>
            <a:endParaRPr lang="en-US" altLang="zh-CN" sz="2800" b="1" dirty="0">
              <a:solidFill>
                <a:srgbClr val="FF0000"/>
              </a:solidFill>
            </a:endParaRPr>
          </a:p>
          <a:p>
            <a:endParaRPr lang="zh-CN" altLang="en-US" b="1" dirty="0">
              <a:solidFill>
                <a:srgbClr val="FF0000"/>
              </a:solidFill>
              <a:sym typeface="+mn-ea"/>
            </a:endParaRPr>
          </a:p>
          <a:p>
            <a:endParaRPr lang="zh-CN" altLang="en-US" b="1" dirty="0">
              <a:solidFill>
                <a:srgbClr val="FF0000"/>
              </a:solidFill>
            </a:endParaRPr>
          </a:p>
          <a:p>
            <a:endParaRPr lang="zh-CN" altLang="en-US" dirty="0">
              <a:solidFill>
                <a:srgbClr val="FF0000"/>
              </a:solidFill>
              <a:latin typeface="Calibri" panose="020F0502020204030204" charset="0"/>
              <a:sym typeface="+mn-ea"/>
            </a:endParaRPr>
          </a:p>
          <a:p>
            <a:endParaRPr lang="zh-CN" altLang="en-US" dirty="0">
              <a:solidFill>
                <a:srgbClr val="FF0000"/>
              </a:solidFill>
              <a:latin typeface="Calibri" panose="020F0502020204030204" charset="0"/>
              <a:sym typeface="+mn-ea"/>
            </a:endParaRPr>
          </a:p>
          <a:p>
            <a:endParaRPr lang="zh-CN" altLang="en-US" dirty="0">
              <a:solidFill>
                <a:srgbClr val="FF0000"/>
              </a:solidFill>
              <a:latin typeface="Calibri" panose="020F0502020204030204" charset="0"/>
              <a:sym typeface="+mn-ea"/>
            </a:endParaRPr>
          </a:p>
          <a:p>
            <a:endParaRPr lang="zh-CN" altLang="en-US"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a:normAutofit fontScale="97500"/>
          </a:bodyPr>
          <a:lstStyle/>
          <a:p>
            <a:pPr>
              <a:lnSpc>
                <a:spcPct val="100000"/>
              </a:lnSpc>
            </a:pPr>
            <a:r>
              <a:rPr lang="zh-CN" altLang="en-US" sz="2600" dirty="0">
                <a:highlight>
                  <a:srgbClr val="FFFF00"/>
                </a:highlight>
                <a:sym typeface="+mn-ea"/>
              </a:rPr>
              <a:t>西周分封制</a:t>
            </a:r>
            <a:r>
              <a:rPr lang="zh-CN" altLang="en-US" sz="2600" b="1" u="sng" dirty="0">
                <a:solidFill>
                  <a:srgbClr val="FF0000"/>
                </a:solidFill>
                <a:highlight>
                  <a:srgbClr val="FFFF00"/>
                </a:highlight>
                <a:sym typeface="+mn-ea"/>
              </a:rPr>
              <a:t>（奴隶制）</a:t>
            </a:r>
            <a:r>
              <a:rPr lang="zh-CN" altLang="en-US" sz="2600" dirty="0">
                <a:highlight>
                  <a:srgbClr val="FFFF00"/>
                </a:highlight>
                <a:sym typeface="+mn-ea"/>
              </a:rPr>
              <a:t>影响：</a:t>
            </a:r>
            <a:r>
              <a:rPr lang="zh-CN" altLang="en-US" sz="2600" dirty="0">
                <a:solidFill>
                  <a:srgbClr val="FF0000"/>
                </a:solidFill>
                <a:highlight>
                  <a:srgbClr val="FFFF00"/>
                </a:highlight>
                <a:sym typeface="+mn-ea"/>
              </a:rPr>
              <a:t>积极：保证了周王朝对地方的控制，稳定了政局，扩大了统治范围。有利于边远地区的开发和民族交融。</a:t>
            </a:r>
            <a:endParaRPr lang="zh-CN" altLang="en-US" sz="2600" dirty="0">
              <a:solidFill>
                <a:srgbClr val="FF0000"/>
              </a:solidFill>
              <a:highlight>
                <a:srgbClr val="FFFF00"/>
              </a:highlight>
            </a:endParaRPr>
          </a:p>
          <a:p>
            <a:pPr>
              <a:lnSpc>
                <a:spcPct val="100000"/>
              </a:lnSpc>
            </a:pPr>
            <a:r>
              <a:rPr lang="zh-CN" altLang="en-US" sz="2600" dirty="0">
                <a:solidFill>
                  <a:srgbClr val="FF0000"/>
                </a:solidFill>
                <a:highlight>
                  <a:srgbClr val="FFFF00"/>
                </a:highlight>
                <a:sym typeface="+mn-ea"/>
              </a:rPr>
              <a:t>消极：诸侯具有较大独立性，导致了春秋战国的分裂动荡局面。</a:t>
            </a:r>
            <a:endParaRPr lang="zh-CN" altLang="en-US" sz="2600" dirty="0">
              <a:solidFill>
                <a:srgbClr val="FF0000"/>
              </a:solidFill>
              <a:highlight>
                <a:srgbClr val="FFFF00"/>
              </a:highlight>
            </a:endParaRPr>
          </a:p>
          <a:p>
            <a:r>
              <a:rPr lang="zh-CN" altLang="en-US" sz="2600" dirty="0">
                <a:highlight>
                  <a:srgbClr val="FFFF00"/>
                </a:highlight>
                <a:sym typeface="+mn-ea"/>
              </a:rPr>
              <a:t>封君封臣制度</a:t>
            </a:r>
            <a:r>
              <a:rPr lang="zh-CN" altLang="en-US" sz="2600" b="1" u="sng" dirty="0">
                <a:solidFill>
                  <a:srgbClr val="FF0000"/>
                </a:solidFill>
                <a:highlight>
                  <a:srgbClr val="FFFF00"/>
                </a:highlight>
                <a:sym typeface="+mn-ea"/>
              </a:rPr>
              <a:t>（封建制）</a:t>
            </a:r>
            <a:r>
              <a:rPr lang="zh-CN" altLang="en-US" sz="2600" dirty="0">
                <a:highlight>
                  <a:srgbClr val="FFFF00"/>
                </a:highlight>
                <a:sym typeface="+mn-ea"/>
              </a:rPr>
              <a:t>的特点：</a:t>
            </a:r>
            <a:r>
              <a:rPr lang="zh-CN" altLang="en-US" sz="2600" dirty="0">
                <a:solidFill>
                  <a:srgbClr val="FF0000"/>
                </a:solidFill>
                <a:highlight>
                  <a:srgbClr val="FFFF00"/>
                </a:highlight>
                <a:sym typeface="+mn-ea"/>
              </a:rPr>
              <a:t>严格的等级性、不能越级从属、权利义务交织在一起、有契约意义、以土地封赐为纽带。</a:t>
            </a:r>
            <a:endParaRPr lang="zh-CN" altLang="en-US" sz="2600" b="1" dirty="0">
              <a:solidFill>
                <a:srgbClr val="FF0000"/>
              </a:solidFill>
              <a:highlight>
                <a:srgbClr val="FFFF00"/>
              </a:highlight>
              <a:sym typeface="+mn-ea"/>
            </a:endParaRPr>
          </a:p>
          <a:p>
            <a:r>
              <a:rPr lang="zh-CN" altLang="en-US" sz="2800" b="1" dirty="0">
                <a:solidFill>
                  <a:srgbClr val="FF0000"/>
                </a:solidFill>
                <a:sym typeface="+mn-ea"/>
              </a:rPr>
              <a:t>中央集权制度：</a:t>
            </a:r>
            <a:r>
              <a:rPr lang="en-US" altLang="zh-CN" sz="2800" b="1" dirty="0">
                <a:solidFill>
                  <a:srgbClr val="FF0000"/>
                </a:solidFill>
                <a:sym typeface="+mn-ea"/>
              </a:rPr>
              <a:t>1</a:t>
            </a:r>
            <a:r>
              <a:rPr lang="zh-CN" altLang="en-US" sz="2800" b="1" dirty="0">
                <a:solidFill>
                  <a:srgbClr val="FF0000"/>
                </a:solidFill>
                <a:sym typeface="+mn-ea"/>
              </a:rPr>
              <a:t>、皇帝制度；</a:t>
            </a:r>
            <a:r>
              <a:rPr lang="en-US" altLang="zh-CN" sz="2800" b="1" dirty="0">
                <a:solidFill>
                  <a:srgbClr val="FF0000"/>
                </a:solidFill>
                <a:sym typeface="+mn-ea"/>
              </a:rPr>
              <a:t>2</a:t>
            </a:r>
            <a:r>
              <a:rPr lang="zh-CN" altLang="en-US" sz="2800" b="1" dirty="0">
                <a:solidFill>
                  <a:srgbClr val="FF0000"/>
                </a:solidFill>
                <a:sym typeface="+mn-ea"/>
              </a:rPr>
              <a:t>、三公，丞相管行政，太尉管军事，御史大夫管监察；</a:t>
            </a:r>
            <a:r>
              <a:rPr lang="en-US" altLang="zh-CN" sz="2800" b="1" dirty="0">
                <a:solidFill>
                  <a:srgbClr val="FF0000"/>
                </a:solidFill>
                <a:sym typeface="+mn-ea"/>
              </a:rPr>
              <a:t>3</a:t>
            </a:r>
            <a:r>
              <a:rPr lang="zh-CN" altLang="en-US" sz="2800" b="1" dirty="0">
                <a:solidFill>
                  <a:srgbClr val="FF0000"/>
                </a:solidFill>
                <a:sym typeface="+mn-ea"/>
              </a:rPr>
              <a:t>、郡县制，加强了中央集权，开创了历代王朝地方行政管理的基本模式。</a:t>
            </a:r>
          </a:p>
          <a:p>
            <a:endParaRPr lang="zh-CN" altLang="en-US" sz="2800" dirty="0">
              <a:sym typeface="+mn-ea"/>
            </a:endParaRPr>
          </a:p>
          <a:p>
            <a:endParaRPr lang="zh-CN" altLang="en-US" sz="28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085" y="247015"/>
            <a:ext cx="11151235" cy="6002655"/>
          </a:xfrm>
        </p:spPr>
        <p:txBody>
          <a:bodyPr>
            <a:normAutofit/>
          </a:bodyPr>
          <a:lstStyle/>
          <a:p>
            <a:pPr algn="l">
              <a:buClrTx/>
              <a:buSzTx/>
            </a:pPr>
            <a:r>
              <a:rPr lang="en-US" altLang="zh-CN" b="1" dirty="0">
                <a:sym typeface="+mn-ea"/>
              </a:rPr>
              <a:t>1</a:t>
            </a:r>
            <a:r>
              <a:rPr lang="zh-CN" altLang="en-US" b="1" dirty="0">
                <a:sym typeface="+mn-ea"/>
              </a:rPr>
              <a:t>、丝绸之路的影响：</a:t>
            </a:r>
          </a:p>
          <a:p>
            <a:pPr algn="l">
              <a:buClrTx/>
              <a:buSzTx/>
            </a:pPr>
            <a:r>
              <a:rPr lang="en-US" altLang="zh-CN" b="1" dirty="0">
                <a:sym typeface="+mn-ea"/>
              </a:rPr>
              <a:t>2</a:t>
            </a:r>
            <a:r>
              <a:rPr lang="zh-CN" altLang="en-US" b="1" dirty="0">
                <a:sym typeface="+mn-ea"/>
              </a:rPr>
              <a:t>、造纸术的影响：</a:t>
            </a:r>
          </a:p>
          <a:p>
            <a:pPr algn="l">
              <a:buClrTx/>
              <a:buSzTx/>
            </a:pPr>
            <a:r>
              <a:rPr lang="en-US" altLang="zh-CN" b="1" dirty="0">
                <a:sym typeface="+mn-ea"/>
              </a:rPr>
              <a:t>3</a:t>
            </a:r>
            <a:r>
              <a:rPr lang="zh-CN" altLang="en-US" b="1" dirty="0">
                <a:sym typeface="+mn-ea"/>
              </a:rPr>
              <a:t>、（ </a:t>
            </a:r>
            <a:r>
              <a:rPr lang="zh-CN" altLang="en-US" b="1" dirty="0">
                <a:solidFill>
                  <a:srgbClr val="FF0000"/>
                </a:solidFill>
                <a:sym typeface="+mn-ea"/>
              </a:rPr>
              <a:t>前</a:t>
            </a:r>
            <a:r>
              <a:rPr lang="en-US" altLang="zh-CN" b="1" dirty="0">
                <a:solidFill>
                  <a:srgbClr val="FF0000"/>
                </a:solidFill>
                <a:sym typeface="+mn-ea"/>
              </a:rPr>
              <a:t>60</a:t>
            </a:r>
            <a:r>
              <a:rPr lang="zh-CN" altLang="en-US" b="1" dirty="0">
                <a:solidFill>
                  <a:srgbClr val="FF0000"/>
                </a:solidFill>
                <a:sym typeface="+mn-ea"/>
              </a:rPr>
              <a:t> </a:t>
            </a:r>
            <a:r>
              <a:rPr lang="zh-CN" altLang="en-US" b="1" dirty="0">
                <a:sym typeface="+mn-ea"/>
              </a:rPr>
              <a:t>    ）年，西域都护设置，加强了中央对（  </a:t>
            </a:r>
            <a:r>
              <a:rPr lang="zh-CN" altLang="en-US" b="1" dirty="0">
                <a:solidFill>
                  <a:srgbClr val="FF0000"/>
                </a:solidFill>
                <a:sym typeface="+mn-ea"/>
              </a:rPr>
              <a:t>新疆或西域  </a:t>
            </a:r>
            <a:r>
              <a:rPr lang="zh-CN" altLang="en-US" b="1" dirty="0">
                <a:sym typeface="+mn-ea"/>
              </a:rPr>
              <a:t> ）的管辖。</a:t>
            </a:r>
          </a:p>
          <a:p>
            <a:pPr algn="l">
              <a:buClrTx/>
              <a:buSzTx/>
            </a:pPr>
            <a:r>
              <a:rPr lang="en-US" altLang="zh-CN" b="1" dirty="0">
                <a:sym typeface="+mn-ea"/>
              </a:rPr>
              <a:t>4</a:t>
            </a:r>
            <a:r>
              <a:rPr lang="zh-CN" altLang="en-US" b="1" dirty="0">
                <a:sym typeface="+mn-ea"/>
              </a:rPr>
              <a:t>、汉武帝时，海上丝绸之路最远抵达？</a:t>
            </a:r>
            <a:r>
              <a:rPr lang="zh-CN" altLang="en-US" b="1" dirty="0">
                <a:solidFill>
                  <a:srgbClr val="FF0000"/>
                </a:solidFill>
                <a:sym typeface="+mn-ea"/>
              </a:rPr>
              <a:t>印度半岛南端、锡兰</a:t>
            </a:r>
          </a:p>
          <a:p>
            <a:pPr algn="l">
              <a:buClrTx/>
              <a:buSzTx/>
            </a:pPr>
            <a:r>
              <a:rPr lang="en-US" altLang="zh-CN" b="1" dirty="0">
                <a:sym typeface="+mn-ea"/>
              </a:rPr>
              <a:t>5</a:t>
            </a:r>
            <a:r>
              <a:rPr lang="zh-CN" altLang="en-US" b="1" dirty="0">
                <a:sym typeface="+mn-ea"/>
              </a:rPr>
              <a:t>、秦汉朝代特征：</a:t>
            </a:r>
            <a:r>
              <a:rPr lang="zh-CN" altLang="en-US" b="1" dirty="0">
                <a:solidFill>
                  <a:srgbClr val="FF0000"/>
                </a:solidFill>
                <a:sym typeface="+mn-ea"/>
              </a:rPr>
              <a:t>统一多民族国家的建立和巩固</a:t>
            </a:r>
            <a:r>
              <a:rPr lang="en-US" altLang="zh-CN" b="1" dirty="0">
                <a:sym typeface="+mn-ea"/>
              </a:rPr>
              <a:t>        </a:t>
            </a:r>
            <a:r>
              <a:rPr lang="zh-CN" altLang="en-US" b="1" dirty="0">
                <a:sym typeface="+mn-ea"/>
              </a:rPr>
              <a:t>三国两晋南北朝特征：</a:t>
            </a:r>
            <a:r>
              <a:rPr lang="zh-CN" altLang="en-US" b="1" dirty="0">
                <a:solidFill>
                  <a:srgbClr val="FF0000"/>
                </a:solidFill>
                <a:sym typeface="+mn-ea"/>
              </a:rPr>
              <a:t>政权分立与民族交融</a:t>
            </a:r>
            <a:endParaRPr lang="zh-CN" altLang="en-US" b="1" dirty="0">
              <a:sym typeface="+mn-ea"/>
            </a:endParaRPr>
          </a:p>
          <a:p>
            <a:pPr algn="l">
              <a:buClrTx/>
              <a:buSzTx/>
            </a:pPr>
            <a:r>
              <a:rPr lang="en-US" altLang="zh-CN" b="1" dirty="0">
                <a:sym typeface="+mn-ea"/>
              </a:rPr>
              <a:t>6</a:t>
            </a:r>
            <a:r>
              <a:rPr lang="zh-CN" altLang="en-US" b="1" dirty="0">
                <a:sym typeface="+mn-ea"/>
              </a:rPr>
              <a:t>、《史记》的地位是？</a:t>
            </a:r>
            <a:r>
              <a:rPr lang="zh-CN" altLang="en-US" b="1" dirty="0">
                <a:solidFill>
                  <a:srgbClr val="FF0000"/>
                </a:solidFill>
                <a:sym typeface="+mn-ea"/>
              </a:rPr>
              <a:t>第一部纪传体通史</a:t>
            </a:r>
            <a:r>
              <a:rPr lang="en-US" altLang="zh-CN" b="1" dirty="0">
                <a:sym typeface="+mn-ea"/>
              </a:rPr>
              <a:t>    </a:t>
            </a:r>
            <a:r>
              <a:rPr lang="zh-CN" altLang="en-US" b="1" dirty="0">
                <a:sym typeface="+mn-ea"/>
              </a:rPr>
              <a:t>记述什么时候的历史？</a:t>
            </a:r>
            <a:r>
              <a:rPr lang="zh-CN" altLang="en-US" b="1" dirty="0">
                <a:solidFill>
                  <a:srgbClr val="FF0000"/>
                </a:solidFill>
                <a:sym typeface="+mn-ea"/>
              </a:rPr>
              <a:t>黄帝到汉武帝</a:t>
            </a:r>
          </a:p>
          <a:p>
            <a:pPr algn="l">
              <a:buClrTx/>
              <a:buSzTx/>
            </a:pPr>
            <a:r>
              <a:rPr lang="en-US" altLang="zh-CN" b="1" dirty="0">
                <a:sym typeface="+mn-ea"/>
              </a:rPr>
              <a:t>7</a:t>
            </a:r>
            <a:r>
              <a:rPr lang="zh-CN" altLang="en-US" b="1" dirty="0">
                <a:sym typeface="+mn-ea"/>
              </a:rPr>
              <a:t>、医圣是谁？</a:t>
            </a:r>
            <a:r>
              <a:rPr lang="zh-CN" altLang="en-US" b="1" dirty="0">
                <a:solidFill>
                  <a:srgbClr val="FF0000"/>
                </a:solidFill>
                <a:sym typeface="+mn-ea"/>
              </a:rPr>
              <a:t>张仲景</a:t>
            </a:r>
            <a:r>
              <a:rPr lang="en-US" altLang="zh-CN" b="1" dirty="0">
                <a:sym typeface="+mn-ea"/>
              </a:rPr>
              <a:t>  </a:t>
            </a:r>
            <a:r>
              <a:rPr lang="zh-CN" altLang="en-US" b="1" dirty="0">
                <a:sym typeface="+mn-ea"/>
              </a:rPr>
              <a:t>成就写一点：</a:t>
            </a:r>
            <a:r>
              <a:rPr lang="zh-CN" altLang="en-US" b="1" dirty="0">
                <a:solidFill>
                  <a:srgbClr val="FF0000"/>
                </a:solidFill>
                <a:sym typeface="+mn-ea"/>
              </a:rPr>
              <a:t>《伤寒杂病论》、治未病</a:t>
            </a:r>
          </a:p>
          <a:p>
            <a:pPr algn="l">
              <a:buClrTx/>
              <a:buSzTx/>
            </a:pPr>
            <a:r>
              <a:rPr lang="en-US" altLang="zh-CN" b="1" dirty="0">
                <a:sym typeface="+mn-ea"/>
              </a:rPr>
              <a:t>8</a:t>
            </a:r>
            <a:r>
              <a:rPr lang="zh-CN" altLang="en-US" b="1" dirty="0">
                <a:sym typeface="+mn-ea"/>
              </a:rPr>
              <a:t>、奠定三国基础的是哪场战争？</a:t>
            </a:r>
            <a:r>
              <a:rPr lang="zh-CN" altLang="en-US" b="1" dirty="0">
                <a:solidFill>
                  <a:srgbClr val="FF0000"/>
                </a:solidFill>
                <a:sym typeface="+mn-ea"/>
              </a:rPr>
              <a:t>赤壁</a:t>
            </a:r>
            <a:endParaRPr lang="zh-CN" altLang="en-US" b="1" dirty="0">
              <a:sym typeface="+mn-ea"/>
            </a:endParaRPr>
          </a:p>
          <a:p>
            <a:pPr algn="l">
              <a:buClrTx/>
              <a:buSzTx/>
            </a:pPr>
            <a:r>
              <a:rPr lang="en-US" altLang="zh-CN" b="1" dirty="0">
                <a:sym typeface="+mn-ea"/>
              </a:rPr>
              <a:t>9</a:t>
            </a:r>
            <a:r>
              <a:rPr lang="zh-CN" altLang="en-US" b="1" dirty="0">
                <a:sym typeface="+mn-ea"/>
              </a:rPr>
              <a:t>、陆上丝绸之路的起点是？</a:t>
            </a:r>
            <a:r>
              <a:rPr lang="zh-CN" altLang="en-US" b="1" dirty="0">
                <a:solidFill>
                  <a:srgbClr val="FF0000"/>
                </a:solidFill>
                <a:sym typeface="+mn-ea"/>
              </a:rPr>
              <a:t>长安</a:t>
            </a:r>
            <a:r>
              <a:rPr lang="en-US" altLang="zh-CN" b="1" dirty="0">
                <a:sym typeface="+mn-ea"/>
              </a:rPr>
              <a:t>    </a:t>
            </a:r>
            <a:r>
              <a:rPr lang="zh-CN" altLang="en-US" b="1" dirty="0">
                <a:sym typeface="+mn-ea"/>
              </a:rPr>
              <a:t>最远去到？</a:t>
            </a:r>
            <a:r>
              <a:rPr lang="zh-CN" altLang="en-US" b="1" dirty="0">
                <a:solidFill>
                  <a:srgbClr val="FF0000"/>
                </a:solidFill>
                <a:sym typeface="+mn-ea"/>
              </a:rPr>
              <a:t>欧洲大秦（罗马帝国）</a:t>
            </a:r>
            <a:endParaRPr lang="zh-CN" altLang="en-US" b="1" dirty="0">
              <a:sym typeface="+mn-ea"/>
            </a:endParaRPr>
          </a:p>
          <a:p>
            <a:pPr algn="l">
              <a:buClrTx/>
              <a:buSzTx/>
            </a:pPr>
            <a:r>
              <a:rPr lang="en-US" altLang="zh-CN" b="1" dirty="0">
                <a:sym typeface="+mn-ea"/>
              </a:rPr>
              <a:t>10</a:t>
            </a:r>
            <a:r>
              <a:rPr lang="zh-CN" altLang="en-US" b="1" dirty="0">
                <a:sym typeface="+mn-ea"/>
              </a:rPr>
              <a:t>、东汉的建立者是？</a:t>
            </a:r>
            <a:r>
              <a:rPr lang="zh-CN" altLang="en-US" b="1" dirty="0">
                <a:solidFill>
                  <a:srgbClr val="FF0000"/>
                </a:solidFill>
                <a:sym typeface="+mn-ea"/>
              </a:rPr>
              <a:t>刘秀 </a:t>
            </a:r>
            <a:r>
              <a:rPr lang="en-US" altLang="zh-CN" b="1" dirty="0">
                <a:sym typeface="+mn-ea"/>
              </a:rPr>
              <a:t>    </a:t>
            </a:r>
            <a:r>
              <a:rPr lang="zh-CN" altLang="en-US" b="1" dirty="0">
                <a:sym typeface="+mn-ea"/>
              </a:rPr>
              <a:t>他的统治时期称为？</a:t>
            </a:r>
            <a:r>
              <a:rPr lang="zh-CN" altLang="en-US" b="1" dirty="0">
                <a:solidFill>
                  <a:srgbClr val="FF0000"/>
                </a:solidFill>
                <a:sym typeface="+mn-ea"/>
              </a:rPr>
              <a:t>光武中兴</a:t>
            </a:r>
          </a:p>
          <a:p>
            <a:pPr algn="l">
              <a:buClrTx/>
              <a:buSzTx/>
            </a:pPr>
            <a:r>
              <a:rPr lang="en-US" altLang="zh-CN" b="1" dirty="0">
                <a:sym typeface="+mn-ea"/>
              </a:rPr>
              <a:t>11</a:t>
            </a:r>
            <a:r>
              <a:rPr lang="zh-CN" altLang="en-US" b="1" dirty="0">
                <a:sym typeface="+mn-ea"/>
              </a:rPr>
              <a:t>、孙权派卫温去了哪里？</a:t>
            </a:r>
            <a:r>
              <a:rPr lang="zh-CN" altLang="en-US" b="1" dirty="0">
                <a:solidFill>
                  <a:srgbClr val="FF0000"/>
                </a:solidFill>
                <a:sym typeface="+mn-ea"/>
              </a:rPr>
              <a:t>夷洲（台湾）</a:t>
            </a:r>
            <a:endParaRPr lang="zh-CN" altLang="en-US" b="1" dirty="0">
              <a:sym typeface="+mn-ea"/>
            </a:endParaRPr>
          </a:p>
          <a:p>
            <a:pPr algn="l">
              <a:buClrTx/>
              <a:buSzTx/>
            </a:pPr>
            <a:r>
              <a:rPr lang="en-US" altLang="zh-CN" b="1" dirty="0">
                <a:sym typeface="+mn-ea"/>
              </a:rPr>
              <a:t>12</a:t>
            </a:r>
            <a:r>
              <a:rPr lang="zh-CN" altLang="en-US" b="1" dirty="0">
                <a:sym typeface="+mn-ea"/>
              </a:rPr>
              <a:t>、灭三国，统一全国的政权是？</a:t>
            </a:r>
            <a:r>
              <a:rPr lang="en-US" altLang="zh-CN" b="1" dirty="0">
                <a:sym typeface="+mn-ea"/>
              </a:rPr>
              <a:t> </a:t>
            </a:r>
            <a:r>
              <a:rPr lang="zh-CN" altLang="en-US" b="1" dirty="0">
                <a:solidFill>
                  <a:srgbClr val="FF0000"/>
                </a:solidFill>
                <a:sym typeface="+mn-ea"/>
              </a:rPr>
              <a:t> 西晋</a:t>
            </a:r>
            <a:endParaRPr lang="zh-CN" altLang="en-US" b="1" dirty="0">
              <a:solidFill>
                <a:srgbClr val="FF0000"/>
              </a:solidFill>
            </a:endParaRPr>
          </a:p>
          <a:p>
            <a:endParaRPr lang="zh-CN" altLang="en-US"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335915" y="178435"/>
            <a:ext cx="11791950" cy="6679565"/>
          </a:xfrm>
        </p:spPr>
        <p:txBody>
          <a:bodyPr>
            <a:noAutofit/>
          </a:bodyPr>
          <a:lstStyle/>
          <a:p>
            <a:pPr>
              <a:lnSpc>
                <a:spcPct val="100000"/>
              </a:lnSpc>
              <a:spcAft>
                <a:spcPts val="600"/>
              </a:spcAft>
            </a:pPr>
            <a:r>
              <a:rPr lang="zh-CN" altLang="en-US" sz="2800" dirty="0">
                <a:sym typeface="+mn-ea"/>
              </a:rPr>
              <a:t>选择题：</a:t>
            </a:r>
            <a:endParaRPr lang="en-US" altLang="zh-CN" sz="2800" dirty="0">
              <a:sym typeface="+mn-ea"/>
            </a:endParaRPr>
          </a:p>
          <a:p>
            <a:pPr>
              <a:lnSpc>
                <a:spcPct val="100000"/>
              </a:lnSpc>
              <a:spcAft>
                <a:spcPts val="600"/>
              </a:spcAft>
            </a:pPr>
            <a:r>
              <a:rPr lang="en-US" altLang="zh-CN" sz="2800" dirty="0">
                <a:sym typeface="+mn-ea"/>
              </a:rPr>
              <a:t>1</a:t>
            </a:r>
            <a:r>
              <a:rPr lang="zh-CN" altLang="en-US" sz="2800" dirty="0">
                <a:sym typeface="+mn-ea"/>
              </a:rPr>
              <a:t>、种植水稻的是谁？</a:t>
            </a:r>
            <a:r>
              <a:rPr lang="zh-CN" altLang="en-US" sz="2800" dirty="0">
                <a:solidFill>
                  <a:srgbClr val="FF0000"/>
                </a:solidFill>
                <a:latin typeface="Calibri" panose="020F0502020204030204" charset="0"/>
                <a:sym typeface="+mn-ea"/>
              </a:rPr>
              <a:t>⑤</a:t>
            </a:r>
            <a:r>
              <a:rPr lang="en-US" altLang="zh-CN" sz="2800" dirty="0">
                <a:solidFill>
                  <a:srgbClr val="FF0000"/>
                </a:solidFill>
                <a:sym typeface="+mn-ea"/>
              </a:rPr>
              <a:t> </a:t>
            </a:r>
            <a:r>
              <a:rPr lang="zh-CN" altLang="en-US" sz="2800" dirty="0">
                <a:solidFill>
                  <a:srgbClr val="FF0000"/>
                </a:solidFill>
                <a:sym typeface="+mn-ea"/>
              </a:rPr>
              <a:t>河姆渡居民</a:t>
            </a:r>
          </a:p>
          <a:p>
            <a:pPr algn="l">
              <a:lnSpc>
                <a:spcPct val="100000"/>
              </a:lnSpc>
              <a:spcAft>
                <a:spcPts val="600"/>
              </a:spcAft>
              <a:buClrTx/>
              <a:buSzTx/>
            </a:pPr>
            <a:r>
              <a:rPr lang="en-US" altLang="zh-CN" sz="2800" dirty="0">
                <a:sym typeface="+mn-ea"/>
              </a:rPr>
              <a:t>2</a:t>
            </a:r>
            <a:r>
              <a:rPr lang="zh-CN" altLang="en-US" sz="2800" dirty="0">
                <a:sym typeface="+mn-ea"/>
              </a:rPr>
              <a:t>、已懂得人工取火的是？</a:t>
            </a:r>
            <a:r>
              <a:rPr lang="zh-CN" altLang="en-US" sz="2800" dirty="0">
                <a:solidFill>
                  <a:srgbClr val="FF0000"/>
                </a:solidFill>
                <a:latin typeface="Calibri" panose="020F0502020204030204" charset="0"/>
                <a:sym typeface="+mn-ea"/>
              </a:rPr>
              <a:t>②山顶洞人</a:t>
            </a:r>
            <a:endParaRPr lang="zh-CN" altLang="en-US" sz="2800" dirty="0">
              <a:solidFill>
                <a:srgbClr val="FF0000"/>
              </a:solidFill>
              <a:latin typeface="Calibri" panose="020F0502020204030204" charset="0"/>
            </a:endParaRPr>
          </a:p>
          <a:p>
            <a:pPr algn="l">
              <a:lnSpc>
                <a:spcPct val="100000"/>
              </a:lnSpc>
              <a:spcAft>
                <a:spcPts val="600"/>
              </a:spcAft>
              <a:buClrTx/>
              <a:buSzTx/>
            </a:pPr>
            <a:r>
              <a:rPr lang="en-US" altLang="zh-CN" sz="2800" dirty="0">
                <a:sym typeface="+mn-ea"/>
              </a:rPr>
              <a:t>3</a:t>
            </a:r>
            <a:r>
              <a:rPr lang="zh-CN" altLang="en-US" sz="2800" dirty="0">
                <a:sym typeface="+mn-ea"/>
              </a:rPr>
              <a:t>、距今</a:t>
            </a:r>
            <a:r>
              <a:rPr lang="en-US" altLang="zh-CN" sz="2800" dirty="0">
                <a:sym typeface="+mn-ea"/>
              </a:rPr>
              <a:t>70-20</a:t>
            </a:r>
            <a:r>
              <a:rPr lang="zh-CN" altLang="en-US" sz="2800" dirty="0">
                <a:sym typeface="+mn-ea"/>
              </a:rPr>
              <a:t>万年的是谁？</a:t>
            </a:r>
            <a:r>
              <a:rPr lang="zh-CN" altLang="en-US" sz="2800" dirty="0">
                <a:solidFill>
                  <a:srgbClr val="FF0000"/>
                </a:solidFill>
                <a:latin typeface="Calibri" panose="020F0502020204030204" charset="0"/>
                <a:sym typeface="+mn-ea"/>
              </a:rPr>
              <a:t>③北京人</a:t>
            </a:r>
            <a:endParaRPr lang="zh-CN" altLang="en-US" sz="2800" dirty="0">
              <a:solidFill>
                <a:srgbClr val="FF0000"/>
              </a:solidFill>
              <a:latin typeface="Calibri" panose="020F0502020204030204" charset="0"/>
            </a:endParaRPr>
          </a:p>
          <a:p>
            <a:pPr algn="l">
              <a:lnSpc>
                <a:spcPct val="100000"/>
              </a:lnSpc>
              <a:spcAft>
                <a:spcPts val="600"/>
              </a:spcAft>
              <a:buClrTx/>
              <a:buSzTx/>
            </a:pPr>
            <a:r>
              <a:rPr lang="en-US" altLang="zh-CN" sz="2800" dirty="0">
                <a:sym typeface="+mn-ea"/>
              </a:rPr>
              <a:t>4</a:t>
            </a:r>
            <a:r>
              <a:rPr lang="zh-CN" altLang="en-US" sz="2800" dirty="0">
                <a:sym typeface="+mn-ea"/>
              </a:rPr>
              <a:t>、研究人类起源的重要证据是</a:t>
            </a:r>
            <a:r>
              <a:rPr lang="zh-CN" altLang="en-US" sz="2800" dirty="0">
                <a:solidFill>
                  <a:srgbClr val="FF0000"/>
                </a:solidFill>
                <a:latin typeface="Calibri" panose="020F0502020204030204" charset="0"/>
                <a:sym typeface="+mn-ea"/>
              </a:rPr>
              <a:t>化石</a:t>
            </a:r>
            <a:endParaRPr lang="zh-CN" altLang="en-US" sz="2800" dirty="0">
              <a:solidFill>
                <a:srgbClr val="FF0000"/>
              </a:solidFill>
              <a:latin typeface="Calibri" panose="020F0502020204030204" charset="0"/>
            </a:endParaRPr>
          </a:p>
          <a:p>
            <a:pPr algn="l">
              <a:lnSpc>
                <a:spcPct val="100000"/>
              </a:lnSpc>
              <a:spcAft>
                <a:spcPts val="600"/>
              </a:spcAft>
              <a:buClrTx/>
              <a:buSzTx/>
            </a:pPr>
            <a:r>
              <a:rPr lang="en-US" altLang="zh-CN" sz="2800" dirty="0">
                <a:sym typeface="+mn-ea"/>
              </a:rPr>
              <a:t>5</a:t>
            </a:r>
            <a:r>
              <a:rPr lang="zh-CN" altLang="en-US" sz="2800" dirty="0">
                <a:sym typeface="+mn-ea"/>
              </a:rPr>
              <a:t>、</a:t>
            </a:r>
            <a:r>
              <a:rPr lang="zh-CN" altLang="en-US" sz="2800" dirty="0">
                <a:highlight>
                  <a:srgbClr val="FFFF00"/>
                </a:highlight>
                <a:sym typeface="+mn-ea"/>
              </a:rPr>
              <a:t>原始农业兴起和发展的标志是：</a:t>
            </a:r>
            <a:r>
              <a:rPr lang="zh-CN" altLang="en-US" sz="2800" dirty="0">
                <a:solidFill>
                  <a:srgbClr val="FF0000"/>
                </a:solidFill>
                <a:highlight>
                  <a:srgbClr val="FFFF00"/>
                </a:highlight>
                <a:latin typeface="Calibri" panose="020F0502020204030204" charset="0"/>
                <a:sym typeface="+mn-ea"/>
              </a:rPr>
              <a:t>农作物种植、家畜饲养、磨制石器、聚落</a:t>
            </a:r>
            <a:endParaRPr lang="zh-CN" altLang="en-US" sz="2800" dirty="0">
              <a:solidFill>
                <a:srgbClr val="FF0000"/>
              </a:solidFill>
              <a:highlight>
                <a:srgbClr val="FFFF00"/>
              </a:highlight>
              <a:latin typeface="Calibri" panose="020F0502020204030204" charset="0"/>
            </a:endParaRPr>
          </a:p>
          <a:p>
            <a:pPr>
              <a:lnSpc>
                <a:spcPct val="100000"/>
              </a:lnSpc>
              <a:spcAft>
                <a:spcPts val="600"/>
              </a:spcAft>
            </a:pPr>
            <a:r>
              <a:rPr lang="en-US" altLang="zh-CN" sz="2800" dirty="0">
                <a:sym typeface="+mn-ea"/>
              </a:rPr>
              <a:t>6</a:t>
            </a:r>
            <a:r>
              <a:rPr lang="zh-CN" altLang="en-US" sz="2800" dirty="0">
                <a:sym typeface="+mn-ea"/>
              </a:rPr>
              <a:t>、秦统一六国的时间是：</a:t>
            </a:r>
            <a:r>
              <a:rPr lang="zh-CN" altLang="en-US" sz="2800" dirty="0">
                <a:solidFill>
                  <a:srgbClr val="FF0000"/>
                </a:solidFill>
                <a:latin typeface="Calibri" panose="020F0502020204030204" charset="0"/>
                <a:sym typeface="+mn-ea"/>
              </a:rPr>
              <a:t>前221    </a:t>
            </a:r>
            <a:r>
              <a:rPr lang="en-US" altLang="zh-CN" sz="2800" dirty="0">
                <a:sym typeface="+mn-ea"/>
              </a:rPr>
              <a:t>     </a:t>
            </a:r>
            <a:endParaRPr lang="zh-CN" altLang="en-US" sz="2800" dirty="0"/>
          </a:p>
          <a:p>
            <a:pPr>
              <a:lnSpc>
                <a:spcPct val="100000"/>
              </a:lnSpc>
              <a:spcAft>
                <a:spcPts val="600"/>
              </a:spcAft>
            </a:pPr>
            <a:r>
              <a:rPr lang="en-US" altLang="zh-CN" sz="2800" dirty="0">
                <a:sym typeface="+mn-ea"/>
              </a:rPr>
              <a:t>7</a:t>
            </a:r>
            <a:r>
              <a:rPr lang="zh-CN" altLang="en-US" sz="2800" dirty="0">
                <a:sym typeface="+mn-ea"/>
              </a:rPr>
              <a:t>、汉朝海上丝绸之路最远到达：</a:t>
            </a:r>
            <a:r>
              <a:rPr lang="zh-CN" altLang="en-US" sz="2800" dirty="0">
                <a:solidFill>
                  <a:srgbClr val="FF0000"/>
                </a:solidFill>
                <a:latin typeface="Calibri" panose="020F0502020204030204" charset="0"/>
                <a:sym typeface="+mn-ea"/>
              </a:rPr>
              <a:t>印度半岛南端及锡兰</a:t>
            </a:r>
            <a:endParaRPr lang="zh-CN" altLang="en-US" sz="2800" dirty="0">
              <a:sym typeface="+mn-ea"/>
            </a:endParaRPr>
          </a:p>
          <a:p>
            <a:pPr>
              <a:lnSpc>
                <a:spcPct val="100000"/>
              </a:lnSpc>
              <a:spcAft>
                <a:spcPts val="600"/>
              </a:spcAft>
            </a:pPr>
            <a:r>
              <a:rPr lang="en-US" altLang="zh-CN" sz="2800" dirty="0">
                <a:sym typeface="+mn-ea"/>
              </a:rPr>
              <a:t>8</a:t>
            </a:r>
            <a:r>
              <a:rPr lang="zh-CN" altLang="en-US" sz="2800" dirty="0">
                <a:sym typeface="+mn-ea"/>
              </a:rPr>
              <a:t>、西域都护设置的时间：</a:t>
            </a:r>
            <a:r>
              <a:rPr lang="zh-CN" altLang="en-US" sz="2800" dirty="0">
                <a:solidFill>
                  <a:srgbClr val="FF0000"/>
                </a:solidFill>
                <a:latin typeface="Calibri" panose="020F0502020204030204" charset="0"/>
                <a:sym typeface="+mn-ea"/>
              </a:rPr>
              <a:t>前60</a:t>
            </a:r>
          </a:p>
          <a:p>
            <a:pPr>
              <a:lnSpc>
                <a:spcPct val="100000"/>
              </a:lnSpc>
              <a:spcAft>
                <a:spcPts val="600"/>
              </a:spcAft>
            </a:pPr>
            <a:r>
              <a:rPr lang="en-US" altLang="zh-CN" sz="2800" dirty="0"/>
              <a:t>9</a:t>
            </a:r>
            <a:r>
              <a:rPr lang="zh-CN" altLang="en-US" sz="2800" dirty="0"/>
              <a:t>、</a:t>
            </a:r>
            <a:r>
              <a:rPr lang="en-US" altLang="zh-CN" sz="2800" dirty="0">
                <a:sym typeface="+mn-ea"/>
              </a:rPr>
              <a:t> </a:t>
            </a:r>
            <a:r>
              <a:rPr lang="zh-CN" altLang="en-US" sz="2800" dirty="0">
                <a:sym typeface="+mn-ea"/>
              </a:rPr>
              <a:t>医圣是：</a:t>
            </a:r>
            <a:r>
              <a:rPr lang="zh-CN" altLang="en-US" sz="2800" dirty="0">
                <a:solidFill>
                  <a:srgbClr val="FF0000"/>
                </a:solidFill>
                <a:latin typeface="Calibri" panose="020F0502020204030204" charset="0"/>
                <a:sym typeface="+mn-ea"/>
              </a:rPr>
              <a:t>张仲景      </a:t>
            </a:r>
            <a:r>
              <a:rPr lang="en-US" altLang="zh-CN" sz="2800" dirty="0">
                <a:sym typeface="+mn-ea"/>
              </a:rPr>
              <a:t>       </a:t>
            </a:r>
            <a:r>
              <a:rPr lang="zh-CN" altLang="en-US" sz="2800" dirty="0">
                <a:sym typeface="+mn-ea"/>
              </a:rPr>
              <a:t>他的成就是：</a:t>
            </a:r>
            <a:r>
              <a:rPr lang="zh-CN" altLang="en-US" sz="2800" dirty="0">
                <a:solidFill>
                  <a:srgbClr val="FF0000"/>
                </a:solidFill>
                <a:latin typeface="Calibri" panose="020F0502020204030204" charset="0"/>
                <a:sym typeface="+mn-ea"/>
              </a:rPr>
              <a:t>《伤寒杂病论》、治未病</a:t>
            </a:r>
          </a:p>
          <a:p>
            <a:pPr>
              <a:spcAft>
                <a:spcPts val="600"/>
              </a:spcAft>
            </a:pPr>
            <a:r>
              <a:rPr lang="en-US" altLang="zh-CN" sz="2800" dirty="0"/>
              <a:t>10</a:t>
            </a:r>
            <a:r>
              <a:rPr lang="zh-CN" altLang="en-US" sz="2800" dirty="0"/>
              <a:t>、形成我国古代历史上第一次大规模人口迁徙高潮是哪一事件后？</a:t>
            </a:r>
          </a:p>
          <a:p>
            <a:pPr algn="l">
              <a:lnSpc>
                <a:spcPct val="100000"/>
              </a:lnSpc>
              <a:spcAft>
                <a:spcPts val="600"/>
              </a:spcAft>
              <a:buClrTx/>
              <a:buSzTx/>
            </a:pPr>
            <a:r>
              <a:rPr lang="zh-CN" altLang="en-US" sz="2800" dirty="0">
                <a:solidFill>
                  <a:srgbClr val="FF0000"/>
                </a:solidFill>
                <a:latin typeface="Calibri" panose="020F0502020204030204" charset="0"/>
              </a:rPr>
              <a:t>八王之乱</a:t>
            </a:r>
          </a:p>
          <a:p>
            <a:pPr marL="0" indent="0">
              <a:spcAft>
                <a:spcPts val="600"/>
              </a:spcAft>
              <a:buNone/>
            </a:pPr>
            <a:endParaRPr lang="zh-CN" altLang="en-US" sz="28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140" y="85090"/>
            <a:ext cx="11990070" cy="6606540"/>
          </a:xfrm>
        </p:spPr>
        <p:txBody>
          <a:bodyPr>
            <a:normAutofit/>
          </a:bodyPr>
          <a:lstStyle/>
          <a:p>
            <a:pPr>
              <a:lnSpc>
                <a:spcPct val="100000"/>
              </a:lnSpc>
            </a:pPr>
            <a:r>
              <a:rPr lang="zh-CN" altLang="en-US" sz="2400" dirty="0"/>
              <a:t>选择题（答案不唯一，可重复选）：</a:t>
            </a:r>
          </a:p>
          <a:p>
            <a:pPr>
              <a:lnSpc>
                <a:spcPct val="100000"/>
              </a:lnSpc>
            </a:pPr>
            <a:r>
              <a:rPr lang="en-US" altLang="zh-CN" sz="2400" dirty="0"/>
              <a:t>1</a:t>
            </a:r>
            <a:r>
              <a:rPr lang="zh-CN" altLang="en-US" sz="2400" dirty="0"/>
              <a:t>、使用打制石器的古人类是：</a:t>
            </a:r>
            <a:r>
              <a:rPr lang="zh-CN" altLang="en-US" sz="2400" dirty="0">
                <a:solidFill>
                  <a:srgbClr val="FF0000"/>
                </a:solidFill>
                <a:latin typeface="Calibri" panose="020F0502020204030204" charset="0"/>
                <a:sym typeface="+mn-ea"/>
              </a:rPr>
              <a:t>③</a:t>
            </a:r>
            <a:r>
              <a:rPr lang="zh-CN" altLang="en-US" sz="2400" dirty="0">
                <a:solidFill>
                  <a:srgbClr val="FF0000"/>
                </a:solidFill>
                <a:sym typeface="+mn-ea"/>
              </a:rPr>
              <a:t>北京人</a:t>
            </a:r>
            <a:r>
              <a:rPr lang="zh-CN" altLang="en-US" sz="2400" dirty="0">
                <a:solidFill>
                  <a:srgbClr val="FF0000"/>
                </a:solidFill>
                <a:latin typeface="Calibri" panose="020F0502020204030204" charset="0"/>
                <a:sym typeface="+mn-ea"/>
              </a:rPr>
              <a:t>②</a:t>
            </a:r>
            <a:r>
              <a:rPr lang="zh-CN" altLang="en-US" sz="2400" dirty="0">
                <a:solidFill>
                  <a:srgbClr val="FF0000"/>
                </a:solidFill>
                <a:sym typeface="+mn-ea"/>
              </a:rPr>
              <a:t>山顶洞人</a:t>
            </a:r>
            <a:r>
              <a:rPr lang="zh-CN" altLang="en-US" sz="2400" dirty="0">
                <a:solidFill>
                  <a:srgbClr val="FF0000"/>
                </a:solidFill>
                <a:latin typeface="Calibri" panose="020F0502020204030204" charset="0"/>
                <a:sym typeface="+mn-ea"/>
              </a:rPr>
              <a:t>⑥</a:t>
            </a:r>
            <a:r>
              <a:rPr lang="zh-CN" altLang="en-US" sz="2400" dirty="0">
                <a:solidFill>
                  <a:srgbClr val="FF0000"/>
                </a:solidFill>
                <a:sym typeface="+mn-ea"/>
              </a:rPr>
              <a:t>元谋人④蓝田人</a:t>
            </a:r>
            <a:endParaRPr lang="zh-CN" altLang="en-US" sz="2400" dirty="0"/>
          </a:p>
          <a:p>
            <a:pPr>
              <a:lnSpc>
                <a:spcPct val="100000"/>
              </a:lnSpc>
            </a:pPr>
            <a:r>
              <a:rPr lang="en-US" altLang="zh-CN" sz="2400" dirty="0"/>
              <a:t>2</a:t>
            </a:r>
            <a:r>
              <a:rPr lang="zh-CN" altLang="en-US" sz="2400" dirty="0"/>
              <a:t>、会人工取火、有爱美意识的是：</a:t>
            </a:r>
            <a:r>
              <a:rPr lang="zh-CN" altLang="en-US" sz="2400" dirty="0">
                <a:solidFill>
                  <a:srgbClr val="FF0000"/>
                </a:solidFill>
                <a:latin typeface="Calibri" panose="020F0502020204030204" charset="0"/>
                <a:sym typeface="+mn-ea"/>
              </a:rPr>
              <a:t>②山顶洞人</a:t>
            </a:r>
            <a:endParaRPr lang="zh-CN" altLang="en-US" sz="2400" dirty="0"/>
          </a:p>
          <a:p>
            <a:pPr>
              <a:lnSpc>
                <a:spcPct val="100000"/>
              </a:lnSpc>
            </a:pPr>
            <a:r>
              <a:rPr lang="en-US" altLang="zh-CN" sz="2400" dirty="0"/>
              <a:t>3</a:t>
            </a:r>
            <a:r>
              <a:rPr lang="zh-CN" altLang="en-US" sz="2400" dirty="0"/>
              <a:t>、</a:t>
            </a:r>
            <a:r>
              <a:rPr lang="zh-CN" altLang="en-US" sz="2400" dirty="0">
                <a:sym typeface="+mn-ea"/>
              </a:rPr>
              <a:t>原始农耕时期的古人类是：</a:t>
            </a:r>
            <a:r>
              <a:rPr lang="zh-CN" altLang="en-US" sz="2400" dirty="0">
                <a:solidFill>
                  <a:srgbClr val="FF0000"/>
                </a:solidFill>
                <a:latin typeface="Calibri" panose="020F0502020204030204" charset="0"/>
                <a:sym typeface="+mn-ea"/>
              </a:rPr>
              <a:t>①半坡居民⑤ 河姆渡居民 </a:t>
            </a:r>
            <a:endParaRPr lang="zh-CN" altLang="en-US" sz="2400" dirty="0">
              <a:sym typeface="+mn-ea"/>
            </a:endParaRPr>
          </a:p>
          <a:p>
            <a:pPr>
              <a:lnSpc>
                <a:spcPct val="100000"/>
              </a:lnSpc>
            </a:pPr>
            <a:r>
              <a:rPr lang="en-US" altLang="zh-CN" sz="2400" dirty="0"/>
              <a:t>4</a:t>
            </a:r>
            <a:r>
              <a:rPr lang="zh-CN" altLang="en-US" sz="2400" dirty="0"/>
              <a:t>、</a:t>
            </a:r>
            <a:r>
              <a:rPr lang="zh-CN" altLang="en-US" sz="2400" dirty="0">
                <a:sym typeface="+mn-ea"/>
              </a:rPr>
              <a:t>东汉末年，奠定北方统一基础的是哪场战争？</a:t>
            </a:r>
            <a:r>
              <a:rPr lang="zh-CN" altLang="en-US" sz="2400" dirty="0">
                <a:solidFill>
                  <a:srgbClr val="FF0000"/>
                </a:solidFill>
                <a:sym typeface="+mn-ea"/>
              </a:rPr>
              <a:t>官渡之战（曹操vs袁绍）</a:t>
            </a:r>
            <a:endParaRPr lang="zh-CN" altLang="en-US" sz="2400" dirty="0">
              <a:solidFill>
                <a:srgbClr val="FF0000"/>
              </a:solidFill>
            </a:endParaRPr>
          </a:p>
          <a:p>
            <a:pPr>
              <a:lnSpc>
                <a:spcPct val="100000"/>
              </a:lnSpc>
            </a:pPr>
            <a:r>
              <a:rPr lang="en-US" altLang="zh-CN" sz="2400" dirty="0"/>
              <a:t>5</a:t>
            </a:r>
            <a:r>
              <a:rPr lang="zh-CN" altLang="en-US" sz="2400" dirty="0"/>
              <a:t>、</a:t>
            </a:r>
            <a:r>
              <a:rPr lang="zh-CN" altLang="en-US" sz="2400" dirty="0">
                <a:sym typeface="+mn-ea"/>
              </a:rPr>
              <a:t>西汉是如何灭亡的？</a:t>
            </a:r>
            <a:r>
              <a:rPr lang="zh-CN" altLang="en-US" sz="2400" dirty="0">
                <a:solidFill>
                  <a:srgbClr val="FF0000"/>
                </a:solidFill>
                <a:latin typeface="Calibri" panose="020F0502020204030204" charset="0"/>
                <a:sym typeface="+mn-ea"/>
              </a:rPr>
              <a:t>王莽建立新朝</a:t>
            </a:r>
          </a:p>
          <a:p>
            <a:pPr algn="l">
              <a:lnSpc>
                <a:spcPct val="100000"/>
              </a:lnSpc>
              <a:buClrTx/>
              <a:buSzTx/>
            </a:pPr>
            <a:r>
              <a:rPr lang="en-US" altLang="zh-CN" sz="2400" dirty="0"/>
              <a:t>6</a:t>
            </a:r>
            <a:r>
              <a:rPr lang="zh-CN" altLang="en-US" sz="2400" dirty="0"/>
              <a:t>、</a:t>
            </a:r>
            <a:r>
              <a:rPr lang="zh-CN" altLang="en-US" sz="2400" dirty="0">
                <a:sym typeface="+mn-ea"/>
              </a:rPr>
              <a:t>《女史箴图》《洛神赋图》的作者、朝代：</a:t>
            </a:r>
            <a:r>
              <a:rPr lang="zh-CN" altLang="en-US" sz="2400" dirty="0">
                <a:solidFill>
                  <a:srgbClr val="FF0000"/>
                </a:solidFill>
                <a:latin typeface="Calibri" panose="020F0502020204030204" charset="0"/>
                <a:sym typeface="+mn-ea"/>
              </a:rPr>
              <a:t>东晋、顾恺之</a:t>
            </a:r>
            <a:endParaRPr lang="zh-CN" altLang="en-US" sz="2400" dirty="0">
              <a:solidFill>
                <a:srgbClr val="FF0000"/>
              </a:solidFill>
              <a:latin typeface="Calibri" panose="020F0502020204030204" charset="0"/>
            </a:endParaRPr>
          </a:p>
          <a:p>
            <a:pPr algn="l">
              <a:lnSpc>
                <a:spcPct val="100000"/>
              </a:lnSpc>
              <a:buClrTx/>
              <a:buSzTx/>
            </a:pPr>
            <a:r>
              <a:rPr lang="en-US" altLang="zh-CN" sz="2400" dirty="0">
                <a:sym typeface="+mn-ea"/>
              </a:rPr>
              <a:t>7</a:t>
            </a:r>
            <a:r>
              <a:rPr lang="zh-CN" altLang="en-US" sz="2400" dirty="0">
                <a:sym typeface="+mn-ea"/>
              </a:rPr>
              <a:t>、魏晋时期，南朝最为活跃的大都市是？</a:t>
            </a:r>
            <a:r>
              <a:rPr lang="zh-CN" altLang="en-US" sz="2400" dirty="0">
                <a:solidFill>
                  <a:srgbClr val="FF0000"/>
                </a:solidFill>
                <a:sym typeface="+mn-ea"/>
              </a:rPr>
              <a:t>建</a:t>
            </a:r>
            <a:r>
              <a:rPr lang="zh-CN" altLang="en-US" sz="2400" dirty="0">
                <a:solidFill>
                  <a:srgbClr val="FF0000"/>
                </a:solidFill>
                <a:latin typeface="Calibri" panose="020F0502020204030204" charset="0"/>
                <a:sym typeface="+mn-ea"/>
              </a:rPr>
              <a:t>康（南京）</a:t>
            </a:r>
          </a:p>
          <a:p>
            <a:pPr algn="l">
              <a:lnSpc>
                <a:spcPct val="100000"/>
              </a:lnSpc>
              <a:buClrTx/>
              <a:buSzTx/>
            </a:pPr>
            <a:r>
              <a:rPr lang="en-US" altLang="zh-CN" sz="2400" dirty="0">
                <a:sym typeface="+mn-ea"/>
              </a:rPr>
              <a:t>8</a:t>
            </a:r>
            <a:r>
              <a:rPr lang="zh-CN" altLang="en-US" sz="2400" dirty="0">
                <a:sym typeface="+mn-ea"/>
              </a:rPr>
              <a:t>、我国现存最早的一部农书：</a:t>
            </a:r>
            <a:r>
              <a:rPr lang="zh-CN" altLang="en-US" sz="2400" dirty="0">
                <a:solidFill>
                  <a:srgbClr val="FF0000"/>
                </a:solidFill>
                <a:latin typeface="Calibri" panose="020F0502020204030204" charset="0"/>
                <a:sym typeface="+mn-ea"/>
              </a:rPr>
              <a:t>《齐民要术》北朝</a:t>
            </a:r>
            <a:r>
              <a:rPr lang="en-US" altLang="zh-CN" sz="2400" dirty="0">
                <a:solidFill>
                  <a:srgbClr val="FF0000"/>
                </a:solidFill>
                <a:latin typeface="Calibri" panose="020F0502020204030204" charset="0"/>
                <a:sym typeface="+mn-ea"/>
              </a:rPr>
              <a:t> </a:t>
            </a:r>
            <a:r>
              <a:rPr lang="zh-CN" altLang="en-US" sz="2400" dirty="0">
                <a:solidFill>
                  <a:srgbClr val="FF0000"/>
                </a:solidFill>
                <a:latin typeface="Calibri" panose="020F0502020204030204" charset="0"/>
                <a:sym typeface="+mn-ea"/>
              </a:rPr>
              <a:t>贾思勰</a:t>
            </a:r>
          </a:p>
          <a:p>
            <a:pPr>
              <a:spcAft>
                <a:spcPts val="600"/>
              </a:spcAft>
            </a:pPr>
            <a:r>
              <a:rPr lang="en-US" altLang="zh-CN" sz="2400" dirty="0">
                <a:sym typeface="+mn-ea"/>
              </a:rPr>
              <a:t>9</a:t>
            </a:r>
            <a:r>
              <a:rPr lang="zh-CN" altLang="en-US" sz="2400" dirty="0">
                <a:sym typeface="+mn-ea"/>
              </a:rPr>
              <a:t>、形成我国古代历史上第一次大规模人口迁徙高潮是哪一事件后？</a:t>
            </a:r>
            <a:endParaRPr lang="zh-CN" altLang="en-US" sz="2400" dirty="0"/>
          </a:p>
          <a:p>
            <a:pPr algn="l">
              <a:lnSpc>
                <a:spcPct val="100000"/>
              </a:lnSpc>
              <a:spcAft>
                <a:spcPts val="600"/>
              </a:spcAft>
              <a:buClrTx/>
              <a:buSzTx/>
            </a:pPr>
            <a:r>
              <a:rPr lang="zh-CN" altLang="en-US" sz="2400" dirty="0">
                <a:solidFill>
                  <a:srgbClr val="FF0000"/>
                </a:solidFill>
                <a:latin typeface="Calibri" panose="020F0502020204030204" charset="0"/>
                <a:sym typeface="+mn-ea"/>
              </a:rPr>
              <a:t>八王之乱</a:t>
            </a:r>
            <a:endParaRPr lang="zh-CN" altLang="en-US" sz="2400" dirty="0">
              <a:solidFill>
                <a:srgbClr val="FF0000"/>
              </a:solidFill>
              <a:latin typeface="Calibri" panose="020F0502020204030204" charset="0"/>
            </a:endParaRPr>
          </a:p>
          <a:p>
            <a:endParaRPr lang="zh-CN" altLang="en-US" sz="2400" dirty="0">
              <a:solidFill>
                <a:srgbClr val="FF0000"/>
              </a:solidFill>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140" y="85090"/>
            <a:ext cx="11473180" cy="6164580"/>
          </a:xfrm>
        </p:spPr>
        <p:txBody>
          <a:bodyPr>
            <a:normAutofit/>
          </a:bodyPr>
          <a:lstStyle/>
          <a:p>
            <a:pPr>
              <a:lnSpc>
                <a:spcPct val="100000"/>
              </a:lnSpc>
            </a:pPr>
            <a:r>
              <a:rPr lang="zh-CN" altLang="en-US" sz="2400" dirty="0"/>
              <a:t>选择题：</a:t>
            </a:r>
          </a:p>
          <a:p>
            <a:pPr>
              <a:lnSpc>
                <a:spcPct val="100000"/>
              </a:lnSpc>
            </a:pPr>
            <a:r>
              <a:rPr lang="en-US" altLang="zh-CN" sz="2400" dirty="0"/>
              <a:t>1</a:t>
            </a:r>
            <a:r>
              <a:rPr lang="zh-CN" altLang="en-US" sz="2400" dirty="0"/>
              <a:t>、使用打制石器的古人类是（旧石器时代）：</a:t>
            </a:r>
            <a:r>
              <a:rPr lang="zh-CN" altLang="en-US" sz="2400" dirty="0">
                <a:solidFill>
                  <a:srgbClr val="FF0000"/>
                </a:solidFill>
                <a:latin typeface="Calibri" panose="020F0502020204030204" charset="0"/>
                <a:sym typeface="+mn-ea"/>
              </a:rPr>
              <a:t>③</a:t>
            </a:r>
            <a:r>
              <a:rPr lang="zh-CN" altLang="en-US" sz="2400" dirty="0">
                <a:solidFill>
                  <a:srgbClr val="FF0000"/>
                </a:solidFill>
                <a:sym typeface="+mn-ea"/>
              </a:rPr>
              <a:t>北京人</a:t>
            </a:r>
            <a:r>
              <a:rPr lang="zh-CN" altLang="en-US" sz="2400" dirty="0">
                <a:solidFill>
                  <a:srgbClr val="FF0000"/>
                </a:solidFill>
                <a:latin typeface="Calibri" panose="020F0502020204030204" charset="0"/>
                <a:sym typeface="+mn-ea"/>
              </a:rPr>
              <a:t>②</a:t>
            </a:r>
            <a:r>
              <a:rPr lang="zh-CN" altLang="en-US" sz="2400" dirty="0">
                <a:solidFill>
                  <a:srgbClr val="FF0000"/>
                </a:solidFill>
                <a:sym typeface="+mn-ea"/>
              </a:rPr>
              <a:t>山顶洞人</a:t>
            </a:r>
            <a:r>
              <a:rPr lang="zh-CN" altLang="en-US" sz="2400" dirty="0">
                <a:solidFill>
                  <a:srgbClr val="FF0000"/>
                </a:solidFill>
                <a:latin typeface="Calibri" panose="020F0502020204030204" charset="0"/>
                <a:sym typeface="+mn-ea"/>
              </a:rPr>
              <a:t>⑥</a:t>
            </a:r>
            <a:r>
              <a:rPr lang="zh-CN" altLang="en-US" sz="2400" dirty="0">
                <a:solidFill>
                  <a:srgbClr val="FF0000"/>
                </a:solidFill>
                <a:sym typeface="+mn-ea"/>
              </a:rPr>
              <a:t>元谋人④蓝田人</a:t>
            </a:r>
          </a:p>
          <a:p>
            <a:pPr algn="l">
              <a:lnSpc>
                <a:spcPct val="100000"/>
              </a:lnSpc>
              <a:buClrTx/>
              <a:buSzTx/>
            </a:pPr>
            <a:r>
              <a:rPr lang="en-US" altLang="zh-CN" sz="2400" dirty="0"/>
              <a:t>2</a:t>
            </a:r>
            <a:r>
              <a:rPr lang="zh-CN" altLang="en-US" sz="2400" dirty="0"/>
              <a:t>、会人工取火、有爱美意识的是：</a:t>
            </a:r>
            <a:r>
              <a:rPr lang="zh-CN" altLang="en-US" sz="2400" dirty="0">
                <a:solidFill>
                  <a:srgbClr val="FF0000"/>
                </a:solidFill>
                <a:latin typeface="Calibri" panose="020F0502020204030204" charset="0"/>
                <a:sym typeface="+mn-ea"/>
              </a:rPr>
              <a:t>②山顶洞人</a:t>
            </a:r>
            <a:endParaRPr lang="zh-CN" altLang="en-US" sz="2400" dirty="0">
              <a:solidFill>
                <a:srgbClr val="FF0000"/>
              </a:solidFill>
              <a:latin typeface="Calibri" panose="020F0502020204030204" charset="0"/>
            </a:endParaRPr>
          </a:p>
          <a:p>
            <a:pPr algn="l">
              <a:lnSpc>
                <a:spcPct val="100000"/>
              </a:lnSpc>
              <a:buClrTx/>
              <a:buSzTx/>
            </a:pPr>
            <a:r>
              <a:rPr lang="en-US" altLang="zh-CN" sz="2400" dirty="0"/>
              <a:t>3</a:t>
            </a:r>
            <a:r>
              <a:rPr lang="zh-CN" altLang="en-US" sz="2400" dirty="0"/>
              <a:t>、距今</a:t>
            </a:r>
            <a:r>
              <a:rPr lang="en-US" altLang="zh-CN" sz="2400" dirty="0"/>
              <a:t>170</a:t>
            </a:r>
            <a:r>
              <a:rPr lang="zh-CN" altLang="en-US" sz="2400" dirty="0"/>
              <a:t>万年的是谁？</a:t>
            </a:r>
            <a:r>
              <a:rPr lang="zh-CN" altLang="en-US" sz="2400" dirty="0">
                <a:solidFill>
                  <a:srgbClr val="FF0000"/>
                </a:solidFill>
                <a:latin typeface="Calibri" panose="020F0502020204030204" charset="0"/>
                <a:sym typeface="+mn-ea"/>
              </a:rPr>
              <a:t>⑥元谋人</a:t>
            </a:r>
            <a:endParaRPr lang="zh-CN" altLang="en-US" sz="2400" dirty="0">
              <a:solidFill>
                <a:srgbClr val="FF0000"/>
              </a:solidFill>
              <a:latin typeface="Calibri" panose="020F0502020204030204" charset="0"/>
            </a:endParaRPr>
          </a:p>
          <a:p>
            <a:pPr algn="l">
              <a:lnSpc>
                <a:spcPct val="100000"/>
              </a:lnSpc>
              <a:buClrTx/>
              <a:buSzTx/>
            </a:pPr>
            <a:r>
              <a:rPr lang="en-US" altLang="zh-CN" sz="2400" dirty="0"/>
              <a:t>4</a:t>
            </a:r>
            <a:r>
              <a:rPr lang="zh-CN" altLang="en-US" sz="2400" dirty="0"/>
              <a:t>、原始农耕时期的古人类是（新石器时代）：</a:t>
            </a:r>
            <a:r>
              <a:rPr lang="zh-CN" altLang="en-US" sz="2400" dirty="0">
                <a:solidFill>
                  <a:srgbClr val="FF0000"/>
                </a:solidFill>
                <a:latin typeface="Calibri" panose="020F0502020204030204" charset="0"/>
                <a:sym typeface="+mn-ea"/>
              </a:rPr>
              <a:t>①半坡居民⑤ 河姆渡居民 </a:t>
            </a:r>
            <a:endParaRPr lang="zh-CN" altLang="en-US" sz="2400" dirty="0">
              <a:solidFill>
                <a:srgbClr val="FF0000"/>
              </a:solidFill>
              <a:latin typeface="Calibri" panose="020F0502020204030204" charset="0"/>
            </a:endParaRPr>
          </a:p>
          <a:p>
            <a:pPr algn="l">
              <a:lnSpc>
                <a:spcPct val="100000"/>
              </a:lnSpc>
              <a:buClrTx/>
              <a:buSzTx/>
            </a:pPr>
            <a:r>
              <a:rPr lang="en-US" altLang="zh-CN" sz="2400" dirty="0"/>
              <a:t>5</a:t>
            </a:r>
            <a:r>
              <a:rPr lang="zh-CN" altLang="en-US" sz="2400" dirty="0"/>
              <a:t>、种植粟的是谁？</a:t>
            </a:r>
            <a:r>
              <a:rPr lang="zh-CN" altLang="en-US" sz="2400" dirty="0">
                <a:solidFill>
                  <a:srgbClr val="FF0000"/>
                </a:solidFill>
                <a:latin typeface="Calibri" panose="020F0502020204030204" charset="0"/>
                <a:sym typeface="+mn-ea"/>
              </a:rPr>
              <a:t>①半坡居民</a:t>
            </a:r>
            <a:endParaRPr lang="zh-CN" altLang="en-US" sz="2400" dirty="0">
              <a:solidFill>
                <a:srgbClr val="FF0000"/>
              </a:solidFill>
              <a:latin typeface="Calibri" panose="020F0502020204030204" charset="0"/>
            </a:endParaRPr>
          </a:p>
          <a:p>
            <a:pPr algn="l">
              <a:lnSpc>
                <a:spcPct val="100000"/>
              </a:lnSpc>
              <a:buClrTx/>
              <a:buSzTx/>
            </a:pPr>
            <a:r>
              <a:rPr lang="en-US" altLang="zh-CN" sz="2400" dirty="0"/>
              <a:t>6</a:t>
            </a:r>
            <a:r>
              <a:rPr lang="zh-CN" altLang="en-US" sz="2400" dirty="0"/>
              <a:t>、</a:t>
            </a:r>
            <a:r>
              <a:rPr lang="zh-CN" altLang="en-US" sz="2400" dirty="0">
                <a:sym typeface="+mn-ea"/>
              </a:rPr>
              <a:t>住干栏式房屋的是谁？</a:t>
            </a:r>
            <a:r>
              <a:rPr lang="zh-CN" altLang="en-US" sz="2400" dirty="0">
                <a:solidFill>
                  <a:srgbClr val="FF0000"/>
                </a:solidFill>
                <a:latin typeface="Calibri" panose="020F0502020204030204" charset="0"/>
                <a:sym typeface="+mn-ea"/>
              </a:rPr>
              <a:t>⑤ 河姆渡居民 </a:t>
            </a:r>
          </a:p>
          <a:p>
            <a:pPr>
              <a:lnSpc>
                <a:spcPct val="100000"/>
              </a:lnSpc>
            </a:pPr>
            <a:r>
              <a:rPr lang="en-US" altLang="zh-CN" sz="2400" dirty="0">
                <a:sym typeface="+mn-ea"/>
              </a:rPr>
              <a:t>7</a:t>
            </a:r>
            <a:r>
              <a:rPr lang="zh-CN" altLang="en-US" sz="2400" dirty="0">
                <a:sym typeface="+mn-ea"/>
              </a:rPr>
              <a:t>、原始农业兴起的标志是：</a:t>
            </a:r>
            <a:r>
              <a:rPr lang="zh-CN" altLang="en-US" sz="2400" dirty="0">
                <a:solidFill>
                  <a:srgbClr val="FF0000"/>
                </a:solidFill>
                <a:sym typeface="+mn-ea"/>
              </a:rPr>
              <a:t>农作物种植、家畜饲养、聚落、磨制石器</a:t>
            </a:r>
            <a:endParaRPr lang="zh-CN" altLang="en-US" sz="2400" dirty="0">
              <a:sym typeface="+mn-ea"/>
            </a:endParaRPr>
          </a:p>
          <a:p>
            <a:pPr>
              <a:lnSpc>
                <a:spcPct val="100000"/>
              </a:lnSpc>
            </a:pPr>
            <a:r>
              <a:rPr lang="en-US" altLang="zh-CN" sz="2400" dirty="0">
                <a:sym typeface="+mn-ea"/>
              </a:rPr>
              <a:t>8</a:t>
            </a:r>
            <a:r>
              <a:rPr lang="zh-CN" altLang="en-US" sz="2400" dirty="0">
                <a:sym typeface="+mn-ea"/>
              </a:rPr>
              <a:t>、商鞅变法的根本原因是：</a:t>
            </a:r>
            <a:r>
              <a:rPr lang="zh-CN" altLang="en-US" sz="2400" dirty="0">
                <a:solidFill>
                  <a:srgbClr val="FF0000"/>
                </a:solidFill>
                <a:sym typeface="+mn-ea"/>
              </a:rPr>
              <a:t>铁农具和牛耕的推广，生产力的发展</a:t>
            </a:r>
          </a:p>
          <a:p>
            <a:pPr>
              <a:lnSpc>
                <a:spcPct val="100000"/>
              </a:lnSpc>
            </a:pPr>
            <a:r>
              <a:rPr lang="en-US" altLang="zh-CN" sz="2400" dirty="0">
                <a:sym typeface="+mn-ea"/>
              </a:rPr>
              <a:t>9</a:t>
            </a:r>
            <a:r>
              <a:rPr lang="zh-CN" altLang="en-US" sz="2400" dirty="0">
                <a:sym typeface="+mn-ea"/>
              </a:rPr>
              <a:t>、战国时期儒家思想的代表人物：孟子、荀子</a:t>
            </a:r>
          </a:p>
          <a:p>
            <a:pPr>
              <a:lnSpc>
                <a:spcPct val="100000"/>
              </a:lnSpc>
            </a:pPr>
            <a:r>
              <a:rPr lang="en-US" altLang="zh-CN" sz="2400" dirty="0">
                <a:sym typeface="+mn-ea"/>
              </a:rPr>
              <a:t>10</a:t>
            </a:r>
            <a:r>
              <a:rPr lang="zh-CN" altLang="en-US" sz="2400" dirty="0">
                <a:sym typeface="+mn-ea"/>
              </a:rPr>
              <a:t>、孟子的思想主张是：</a:t>
            </a:r>
            <a:r>
              <a:rPr lang="zh-CN" altLang="en-US" sz="2400" dirty="0">
                <a:solidFill>
                  <a:srgbClr val="FF0000"/>
                </a:solidFill>
                <a:sym typeface="+mn-ea"/>
              </a:rPr>
              <a:t>仁政，民贵君轻，反对非正义战争</a:t>
            </a:r>
            <a:endParaRPr lang="zh-CN" altLang="en-US" sz="2400" dirty="0">
              <a:solidFill>
                <a:srgbClr val="FF0000"/>
              </a:solidFill>
            </a:endParaRPr>
          </a:p>
          <a:p>
            <a:pPr>
              <a:lnSpc>
                <a:spcPct val="100000"/>
              </a:lnSpc>
            </a:pPr>
            <a:endParaRPr lang="zh-CN" altLang="en-US" sz="2400" dirty="0"/>
          </a:p>
          <a:p>
            <a:pPr>
              <a:lnSpc>
                <a:spcPct val="100000"/>
              </a:lnSpc>
            </a:pPr>
            <a:endParaRPr lang="zh-CN" altLang="en-US" sz="2400" dirty="0"/>
          </a:p>
          <a:p>
            <a:endParaRPr lang="zh-CN" altLang="en-US" sz="2400"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396875" y="236855"/>
            <a:ext cx="11180445" cy="6012815"/>
          </a:xfrm>
        </p:spPr>
        <p:txBody>
          <a:bodyPr>
            <a:noAutofit/>
          </a:bodyPr>
          <a:lstStyle/>
          <a:p>
            <a:pPr>
              <a:lnSpc>
                <a:spcPct val="100000"/>
              </a:lnSpc>
            </a:pPr>
            <a:r>
              <a:rPr lang="zh-CN" altLang="en-US" sz="2800" dirty="0">
                <a:highlight>
                  <a:srgbClr val="FFFF00"/>
                </a:highlight>
              </a:rPr>
              <a:t>明朝强化皇权措施：</a:t>
            </a:r>
            <a:r>
              <a:rPr lang="zh-CN" altLang="en-US" sz="2800" dirty="0">
                <a:solidFill>
                  <a:srgbClr val="FF0000"/>
                </a:solidFill>
                <a:highlight>
                  <a:srgbClr val="FFFF00"/>
                </a:highlight>
              </a:rPr>
              <a:t>朱元璋废除丞相制度和中书省，六部向皇帝负责；大都督府分为五军都督府，皇帝掌握军事大权；明成祖设内阁；朱元璋在地方设立三司；朱元璋分封诸子为王；朱元璋设锦衣卫；明成祖设东厂。</a:t>
            </a:r>
          </a:p>
          <a:p>
            <a:pPr algn="l">
              <a:lnSpc>
                <a:spcPct val="100000"/>
              </a:lnSpc>
              <a:buClrTx/>
              <a:buSzTx/>
            </a:pPr>
            <a:r>
              <a:rPr lang="zh-CN" altLang="en-US" sz="2800" dirty="0">
                <a:highlight>
                  <a:srgbClr val="FFFF00"/>
                </a:highlight>
              </a:rPr>
              <a:t>郑和下西洋的目的：</a:t>
            </a:r>
            <a:r>
              <a:rPr lang="zh-CN" altLang="en-US" sz="2800" dirty="0">
                <a:solidFill>
                  <a:srgbClr val="FF0000"/>
                </a:solidFill>
                <a:highlight>
                  <a:srgbClr val="FFFF00"/>
                </a:highlight>
              </a:rPr>
              <a:t>提高明朝在国外的地位和威望</a:t>
            </a:r>
          </a:p>
          <a:p>
            <a:pPr>
              <a:lnSpc>
                <a:spcPct val="100000"/>
              </a:lnSpc>
            </a:pPr>
            <a:r>
              <a:rPr lang="zh-CN" altLang="en-US" sz="2800" dirty="0"/>
              <a:t>明朝抵抗倭寇的是</a:t>
            </a:r>
            <a:r>
              <a:rPr lang="zh-CN" altLang="en-US" sz="2800" dirty="0">
                <a:solidFill>
                  <a:srgbClr val="FF0000"/>
                </a:solidFill>
              </a:rPr>
              <a:t>戚继光。</a:t>
            </a:r>
            <a:endParaRPr lang="zh-CN" altLang="en-US" sz="2800" dirty="0"/>
          </a:p>
          <a:p>
            <a:pPr>
              <a:lnSpc>
                <a:spcPct val="100000"/>
              </a:lnSpc>
            </a:pPr>
            <a:r>
              <a:rPr lang="zh-CN" altLang="en-US" sz="2800" dirty="0"/>
              <a:t>明长城</a:t>
            </a:r>
            <a:r>
              <a:rPr lang="zh-CN" altLang="en-US" sz="2800" dirty="0">
                <a:solidFill>
                  <a:srgbClr val="FF0000"/>
                </a:solidFill>
              </a:rPr>
              <a:t>东起鸭绿江，西至嘉峪关。</a:t>
            </a:r>
            <a:endParaRPr lang="zh-CN" altLang="en-US" sz="2800" dirty="0"/>
          </a:p>
          <a:p>
            <a:pPr>
              <a:lnSpc>
                <a:spcPct val="100000"/>
              </a:lnSpc>
            </a:pPr>
            <a:r>
              <a:rPr lang="zh-CN" altLang="en-US" sz="2800" dirty="0"/>
              <a:t>北京城布局特点：</a:t>
            </a:r>
            <a:r>
              <a:rPr lang="zh-CN" altLang="en-US" sz="2800" dirty="0">
                <a:solidFill>
                  <a:srgbClr val="FF0000"/>
                </a:solidFill>
              </a:rPr>
              <a:t>平面呈凸字形；沿中轴线对称；以宫殿为重心。</a:t>
            </a:r>
          </a:p>
          <a:p>
            <a:pPr algn="l">
              <a:lnSpc>
                <a:spcPct val="100000"/>
              </a:lnSpc>
              <a:buClrTx/>
              <a:buSzTx/>
            </a:pPr>
            <a:r>
              <a:rPr lang="zh-CN" altLang="en-US" sz="2800" dirty="0">
                <a:highlight>
                  <a:srgbClr val="FFFF00"/>
                </a:highlight>
              </a:rPr>
              <a:t>明朝经济发展的表现：</a:t>
            </a:r>
            <a:r>
              <a:rPr lang="zh-CN" altLang="en-US" sz="2800" dirty="0">
                <a:solidFill>
                  <a:srgbClr val="FF0000"/>
                </a:solidFill>
                <a:highlight>
                  <a:srgbClr val="FFFF00"/>
                </a:highlight>
              </a:rPr>
              <a:t>明代引进美洲的玉米、甘薯马铃薯、花生和向日葵</a:t>
            </a:r>
            <a:r>
              <a:rPr lang="zh-CN" altLang="en-US" sz="2800" dirty="0">
                <a:solidFill>
                  <a:srgbClr val="FF0000"/>
                </a:solidFill>
              </a:rPr>
              <a:t>。</a:t>
            </a:r>
            <a:r>
              <a:rPr lang="zh-CN" altLang="en-US" sz="2800" dirty="0">
                <a:solidFill>
                  <a:srgbClr val="FF0000"/>
                </a:solidFill>
                <a:highlight>
                  <a:srgbClr val="FFFF00"/>
                </a:highlight>
              </a:rPr>
              <a:t>棉纺织业由南方推广到北方，出现棉纺织基地</a:t>
            </a:r>
            <a:r>
              <a:rPr lang="zh-CN" altLang="en-US" sz="2800" dirty="0">
                <a:solidFill>
                  <a:srgbClr val="FF0000"/>
                </a:solidFill>
              </a:rPr>
              <a:t>；苏州是明代丝织业中心；</a:t>
            </a:r>
            <a:r>
              <a:rPr lang="zh-CN" altLang="en-US" sz="2800" dirty="0">
                <a:solidFill>
                  <a:srgbClr val="FF0000"/>
                </a:solidFill>
                <a:highlight>
                  <a:srgbClr val="FFFF00"/>
                </a:highlight>
              </a:rPr>
              <a:t>景德镇是全国制瓷中心</a:t>
            </a:r>
            <a:r>
              <a:rPr lang="zh-CN" altLang="en-US" sz="2800" dirty="0">
                <a:solidFill>
                  <a:srgbClr val="FF0000"/>
                </a:solidFill>
              </a:rPr>
              <a:t>，代表青花瓷。</a:t>
            </a:r>
            <a:r>
              <a:rPr lang="zh-CN" altLang="en-US" sz="2800" dirty="0">
                <a:solidFill>
                  <a:srgbClr val="FF0000"/>
                </a:solidFill>
                <a:highlight>
                  <a:srgbClr val="FFFF00"/>
                </a:highlight>
              </a:rPr>
              <a:t>北京、南京是全国性商贸城市</a:t>
            </a:r>
            <a:r>
              <a:rPr lang="zh-CN" altLang="en-US" sz="2800" dirty="0">
                <a:solidFill>
                  <a:srgbClr val="FF0000"/>
                </a:solidFill>
              </a:rPr>
              <a:t>；</a:t>
            </a:r>
            <a:r>
              <a:rPr lang="zh-CN" altLang="en-US" sz="2800" dirty="0">
                <a:solidFill>
                  <a:srgbClr val="FF0000"/>
                </a:solidFill>
                <a:highlight>
                  <a:srgbClr val="FFFF00"/>
                </a:highlight>
              </a:rPr>
              <a:t>山西晋商、安徽徽商</a:t>
            </a:r>
            <a:r>
              <a:rPr lang="zh-CN" altLang="en-US" sz="2800" dirty="0">
                <a:solidFill>
                  <a:srgbClr val="FF0000"/>
                </a:solidFill>
              </a:rPr>
              <a:t>。</a:t>
            </a:r>
          </a:p>
          <a:p>
            <a:pPr>
              <a:lnSpc>
                <a:spcPct val="100000"/>
              </a:lnSpc>
            </a:pPr>
            <a:endParaRPr lang="zh-CN" altLang="en-US" sz="2800"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97205" y="398145"/>
            <a:ext cx="11080115" cy="5851525"/>
          </a:xfrm>
        </p:spPr>
        <p:txBody>
          <a:bodyPr/>
          <a:lstStyle/>
          <a:p>
            <a:r>
              <a:rPr lang="zh-CN" altLang="en-US" sz="2800" dirty="0">
                <a:highlight>
                  <a:srgbClr val="FFFF00"/>
                </a:highlight>
              </a:rPr>
              <a:t>曲辕犁、筒车、秧马的作用：</a:t>
            </a:r>
            <a:r>
              <a:rPr lang="zh-CN" altLang="en-US" sz="2800" dirty="0">
                <a:solidFill>
                  <a:srgbClr val="FF0000"/>
                </a:solidFill>
                <a:highlight>
                  <a:srgbClr val="FFFF00"/>
                </a:highlight>
              </a:rPr>
              <a:t>节省人力，提高生产效率和生产力，促进农业的精耕细作，有助于经济发展和社会进步。</a:t>
            </a:r>
          </a:p>
          <a:p>
            <a:r>
              <a:rPr lang="zh-CN" altLang="en-US" sz="2800" dirty="0">
                <a:highlight>
                  <a:srgbClr val="FFFF00"/>
                </a:highlight>
              </a:rPr>
              <a:t>清朝对西藏的管理：</a:t>
            </a:r>
            <a:r>
              <a:rPr lang="zh-CN" altLang="en-US" sz="2800" dirty="0">
                <a:solidFill>
                  <a:srgbClr val="FF0000"/>
                </a:solidFill>
                <a:highlight>
                  <a:srgbClr val="FFFF00"/>
                </a:highlight>
                <a:latin typeface="Calibri" panose="020F0502020204030204" charset="0"/>
              </a:rPr>
              <a:t>①顺治册封达赖②康熙册封班禅，历代达赖和班禅都需要经过中央政府的册封③驻藏大臣</a:t>
            </a:r>
            <a:r>
              <a:rPr lang="zh-CN" altLang="en-US" sz="2800" dirty="0">
                <a:solidFill>
                  <a:srgbClr val="FF0000"/>
                </a:solidFill>
                <a:highlight>
                  <a:srgbClr val="FFFF00"/>
                </a:highlight>
                <a:latin typeface="Calibri" panose="020F0502020204030204" charset="0"/>
                <a:sym typeface="+mn-ea"/>
              </a:rPr>
              <a:t>④噶厦⑤《钦定藏内善后章程》⑥金瓶掣签</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184785" y="232410"/>
            <a:ext cx="11892915" cy="6017260"/>
          </a:xfrm>
        </p:spPr>
        <p:txBody>
          <a:bodyPr>
            <a:normAutofit fontScale="90000"/>
          </a:bodyPr>
          <a:lstStyle/>
          <a:p>
            <a:r>
              <a:rPr lang="zh-CN" altLang="en-US" sz="2800" dirty="0">
                <a:highlight>
                  <a:srgbClr val="FFFF00"/>
                </a:highlight>
              </a:rPr>
              <a:t>活字印刷术</a:t>
            </a:r>
            <a:r>
              <a:rPr lang="zh-CN" altLang="en-US" sz="2800" dirty="0">
                <a:solidFill>
                  <a:srgbClr val="FF0000"/>
                </a:solidFill>
                <a:highlight>
                  <a:srgbClr val="FFFF00"/>
                </a:highlight>
              </a:rPr>
              <a:t>出现，降低了制书成本，加快了图书的普及和文化的传播</a:t>
            </a:r>
            <a:r>
              <a:rPr lang="zh-CN" altLang="en-US" sz="2800" dirty="0"/>
              <a:t>；</a:t>
            </a:r>
          </a:p>
          <a:p>
            <a:r>
              <a:rPr lang="zh-CN" altLang="en-US" sz="2800" dirty="0">
                <a:highlight>
                  <a:srgbClr val="FFFF00"/>
                </a:highlight>
              </a:rPr>
              <a:t>火药的使用，</a:t>
            </a:r>
            <a:r>
              <a:rPr lang="zh-CN" altLang="en-US" sz="2800" dirty="0">
                <a:solidFill>
                  <a:srgbClr val="FF0000"/>
                </a:solidFill>
                <a:highlight>
                  <a:srgbClr val="FFFF00"/>
                </a:highlight>
              </a:rPr>
              <a:t>改变了欧洲火器制造和作战方式，推动欧洲社会的变革</a:t>
            </a:r>
            <a:r>
              <a:rPr lang="zh-CN" altLang="en-US" sz="2800" dirty="0"/>
              <a:t>；</a:t>
            </a:r>
          </a:p>
          <a:p>
            <a:r>
              <a:rPr lang="zh-CN" altLang="en-US" sz="2800" dirty="0">
                <a:highlight>
                  <a:srgbClr val="FFFF00"/>
                </a:highlight>
              </a:rPr>
              <a:t>指南针</a:t>
            </a:r>
            <a:r>
              <a:rPr lang="zh-CN" altLang="en-US" sz="2800" dirty="0">
                <a:solidFill>
                  <a:srgbClr val="FF0000"/>
                </a:solidFill>
                <a:highlight>
                  <a:srgbClr val="FFFF00"/>
                </a:highlight>
              </a:rPr>
              <a:t>大大促进世界远洋航海技术的发展，为郑和下西洋和</a:t>
            </a:r>
            <a:r>
              <a:rPr lang="zh-CN" altLang="en-US" sz="2800" dirty="0">
                <a:solidFill>
                  <a:srgbClr val="FF0000"/>
                </a:solidFill>
                <a:highlight>
                  <a:srgbClr val="FFFF00"/>
                </a:highlight>
                <a:sym typeface="+mn-ea"/>
              </a:rPr>
              <a:t>新航路的</a:t>
            </a:r>
            <a:r>
              <a:rPr lang="zh-CN" altLang="en-US" sz="2800" dirty="0">
                <a:solidFill>
                  <a:srgbClr val="FF0000"/>
                </a:solidFill>
                <a:highlight>
                  <a:srgbClr val="FFFF00"/>
                </a:highlight>
              </a:rPr>
              <a:t>开辟提供了重要条件</a:t>
            </a:r>
            <a:r>
              <a:rPr lang="zh-CN" altLang="en-US" sz="2800" dirty="0"/>
              <a:t>。</a:t>
            </a:r>
            <a:r>
              <a:rPr lang="en-US" altLang="zh-CN" sz="2800" dirty="0"/>
              <a:t> </a:t>
            </a:r>
          </a:p>
          <a:p>
            <a:r>
              <a:rPr lang="en-US" altLang="zh-CN" sz="2800" dirty="0"/>
              <a:t>1</a:t>
            </a:r>
            <a:r>
              <a:rPr lang="zh-CN" altLang="en-US" sz="2800" dirty="0"/>
              <a:t>、南宋和金划定边界：</a:t>
            </a:r>
            <a:r>
              <a:rPr lang="zh-CN" altLang="en-US" sz="2800" dirty="0">
                <a:solidFill>
                  <a:srgbClr val="FF0000"/>
                </a:solidFill>
              </a:rPr>
              <a:t>淮水到大散关</a:t>
            </a:r>
          </a:p>
          <a:p>
            <a:pPr algn="l">
              <a:buClrTx/>
              <a:buSzTx/>
            </a:pPr>
            <a:r>
              <a:rPr lang="en-US" altLang="zh-CN" sz="2800" dirty="0"/>
              <a:t>2</a:t>
            </a:r>
            <a:r>
              <a:rPr lang="zh-CN" altLang="en-US" sz="2800" dirty="0"/>
              <a:t>、辽：</a:t>
            </a:r>
            <a:r>
              <a:rPr lang="zh-CN" altLang="en-US" sz="2800" dirty="0">
                <a:solidFill>
                  <a:srgbClr val="FF0000"/>
                </a:solidFill>
              </a:rPr>
              <a:t>契丹族</a:t>
            </a:r>
            <a:r>
              <a:rPr lang="zh-CN" altLang="en-US" sz="2800" dirty="0"/>
              <a:t>、</a:t>
            </a:r>
            <a:r>
              <a:rPr lang="zh-CN" altLang="en-US" sz="2800" dirty="0">
                <a:solidFill>
                  <a:srgbClr val="FF0000"/>
                </a:solidFill>
              </a:rPr>
              <a:t>耶律阿保机；</a:t>
            </a:r>
            <a:r>
              <a:rPr lang="zh-CN" altLang="en-US" sz="2800" dirty="0"/>
              <a:t>西夏</a:t>
            </a:r>
            <a:r>
              <a:rPr lang="zh-CN" altLang="en-US" sz="2800" dirty="0">
                <a:solidFill>
                  <a:srgbClr val="FF0000"/>
                </a:solidFill>
              </a:rPr>
              <a:t>：党项族、元昊；</a:t>
            </a:r>
            <a:r>
              <a:rPr lang="zh-CN" altLang="en-US" sz="2800" dirty="0"/>
              <a:t>金</a:t>
            </a:r>
            <a:r>
              <a:rPr lang="zh-CN" altLang="en-US" sz="2800" dirty="0">
                <a:solidFill>
                  <a:srgbClr val="FF0000"/>
                </a:solidFill>
              </a:rPr>
              <a:t>：女真，完颜阿骨打。</a:t>
            </a:r>
          </a:p>
          <a:p>
            <a:pPr algn="l">
              <a:buClrTx/>
              <a:buSzTx/>
            </a:pPr>
            <a:r>
              <a:rPr lang="en-US" altLang="zh-CN" sz="2800" dirty="0"/>
              <a:t>3</a:t>
            </a:r>
            <a:r>
              <a:rPr lang="zh-CN" altLang="en-US" sz="2800" dirty="0"/>
              <a:t>、宋代农业耕作技术进步的表现是</a:t>
            </a:r>
            <a:r>
              <a:rPr lang="zh-CN" altLang="en-US" sz="2800" dirty="0">
                <a:solidFill>
                  <a:srgbClr val="FF0000"/>
                </a:solidFill>
              </a:rPr>
              <a:t>秧马、复种技术</a:t>
            </a:r>
          </a:p>
          <a:p>
            <a:pPr algn="l">
              <a:buClrTx/>
              <a:buSzTx/>
            </a:pPr>
            <a:r>
              <a:rPr lang="en-US" altLang="zh-CN" sz="2800" dirty="0">
                <a:highlight>
                  <a:srgbClr val="FFFF00"/>
                </a:highlight>
              </a:rPr>
              <a:t>4</a:t>
            </a:r>
            <a:r>
              <a:rPr lang="zh-CN" altLang="en-US" sz="2800" dirty="0">
                <a:highlight>
                  <a:srgbClr val="FFFF00"/>
                </a:highlight>
              </a:rPr>
              <a:t>、宋朝为强化中央集权，在中央是怎么做的？</a:t>
            </a:r>
            <a:r>
              <a:rPr lang="zh-CN" altLang="en-US" sz="2800" dirty="0">
                <a:solidFill>
                  <a:srgbClr val="FF0000"/>
                </a:solidFill>
                <a:highlight>
                  <a:srgbClr val="FFFF00"/>
                </a:highlight>
              </a:rPr>
              <a:t>分化事权、削弱相权。</a:t>
            </a:r>
          </a:p>
          <a:p>
            <a:pPr algn="l">
              <a:buClrTx/>
              <a:buSzTx/>
            </a:pPr>
            <a:r>
              <a:rPr lang="en-US" altLang="zh-CN" sz="2800" dirty="0">
                <a:highlight>
                  <a:srgbClr val="FFFF00"/>
                </a:highlight>
              </a:rPr>
              <a:t>5</a:t>
            </a:r>
            <a:r>
              <a:rPr lang="zh-CN" altLang="en-US" sz="2800" dirty="0">
                <a:highlight>
                  <a:srgbClr val="FFFF00"/>
                </a:highlight>
              </a:rPr>
              <a:t>、元朝新纳入中央版图的是：</a:t>
            </a:r>
            <a:r>
              <a:rPr lang="zh-CN" altLang="en-US" sz="2800" dirty="0">
                <a:solidFill>
                  <a:srgbClr val="FF0000"/>
                </a:solidFill>
                <a:highlight>
                  <a:srgbClr val="FFFF00"/>
                </a:highlight>
              </a:rPr>
              <a:t>西藏（宣政院、宣慰使司都元帅府）、台湾（澎湖巡检司）</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35" y="187960"/>
            <a:ext cx="11932920" cy="6597650"/>
          </a:xfrm>
        </p:spPr>
        <p:txBody>
          <a:bodyPr>
            <a:normAutofit fontScale="97500"/>
          </a:bodyPr>
          <a:lstStyle/>
          <a:p>
            <a:pPr algn="l">
              <a:lnSpc>
                <a:spcPct val="100000"/>
              </a:lnSpc>
              <a:spcAft>
                <a:spcPts val="600"/>
              </a:spcAft>
              <a:buClrTx/>
              <a:buSzTx/>
            </a:pPr>
            <a:r>
              <a:rPr lang="en-US" altLang="zh-CN" sz="2400" dirty="0">
                <a:sym typeface="+mn-ea"/>
              </a:rPr>
              <a:t>1</a:t>
            </a:r>
            <a:r>
              <a:rPr lang="zh-CN" altLang="en-US" sz="2400" dirty="0">
                <a:sym typeface="+mn-ea"/>
              </a:rPr>
              <a:t>、元朝的中央机构有哪三个？行政：</a:t>
            </a:r>
            <a:r>
              <a:rPr lang="zh-CN" altLang="en-US" sz="2400" dirty="0">
                <a:solidFill>
                  <a:srgbClr val="FF0000"/>
                </a:solidFill>
                <a:sym typeface="+mn-ea"/>
              </a:rPr>
              <a:t>中书省</a:t>
            </a:r>
            <a:r>
              <a:rPr lang="zh-CN" altLang="en-US" sz="2400" dirty="0">
                <a:sym typeface="+mn-ea"/>
              </a:rPr>
              <a:t>    军事：</a:t>
            </a:r>
            <a:r>
              <a:rPr lang="zh-CN" altLang="en-US" sz="2400" dirty="0">
                <a:solidFill>
                  <a:srgbClr val="FF0000"/>
                </a:solidFill>
                <a:sym typeface="+mn-ea"/>
              </a:rPr>
              <a:t>枢密院</a:t>
            </a:r>
            <a:r>
              <a:rPr lang="zh-CN" altLang="en-US" sz="2400" dirty="0">
                <a:sym typeface="+mn-ea"/>
              </a:rPr>
              <a:t>   监察：</a:t>
            </a:r>
            <a:r>
              <a:rPr lang="zh-CN" altLang="en-US" sz="2400" dirty="0">
                <a:solidFill>
                  <a:srgbClr val="FF0000"/>
                </a:solidFill>
                <a:sym typeface="+mn-ea"/>
              </a:rPr>
              <a:t>御史台</a:t>
            </a:r>
          </a:p>
          <a:p>
            <a:pPr algn="l">
              <a:lnSpc>
                <a:spcPct val="100000"/>
              </a:lnSpc>
              <a:spcAft>
                <a:spcPts val="600"/>
              </a:spcAft>
              <a:buClrTx/>
              <a:buSzTx/>
            </a:pPr>
            <a:r>
              <a:rPr lang="en-US" altLang="zh-CN" sz="2400" dirty="0">
                <a:sym typeface="+mn-ea"/>
              </a:rPr>
              <a:t>2</a:t>
            </a:r>
            <a:r>
              <a:rPr lang="zh-CN" altLang="en-US" sz="2400" dirty="0">
                <a:sym typeface="+mn-ea"/>
              </a:rPr>
              <a:t>、宋朝海上丝绸之路最远到达哪里？</a:t>
            </a:r>
            <a:r>
              <a:rPr lang="zh-CN" altLang="en-US" sz="2400" dirty="0">
                <a:solidFill>
                  <a:srgbClr val="FF0000"/>
                </a:solidFill>
                <a:sym typeface="+mn-ea"/>
              </a:rPr>
              <a:t>阿拉伯半岛和非洲东海岸</a:t>
            </a:r>
          </a:p>
          <a:p>
            <a:pPr algn="l">
              <a:lnSpc>
                <a:spcPct val="100000"/>
              </a:lnSpc>
              <a:spcAft>
                <a:spcPts val="600"/>
              </a:spcAft>
              <a:buClrTx/>
              <a:buSzTx/>
            </a:pPr>
            <a:r>
              <a:rPr lang="en-US" altLang="zh-CN" sz="2400" dirty="0">
                <a:sym typeface="+mn-ea"/>
              </a:rPr>
              <a:t>3</a:t>
            </a:r>
            <a:r>
              <a:rPr lang="zh-CN" altLang="en-US" sz="2400" dirty="0">
                <a:sym typeface="+mn-ea"/>
              </a:rPr>
              <a:t>、</a:t>
            </a:r>
            <a:r>
              <a:rPr lang="zh-CN" altLang="en-US" sz="2400" dirty="0">
                <a:highlight>
                  <a:srgbClr val="FFFF00"/>
                </a:highlight>
                <a:sym typeface="+mn-ea"/>
              </a:rPr>
              <a:t>辽宋夏金元时期（目录标题）：</a:t>
            </a:r>
            <a:r>
              <a:rPr lang="zh-CN" altLang="en-US" sz="2400" dirty="0">
                <a:solidFill>
                  <a:srgbClr val="FF0000"/>
                </a:solidFill>
                <a:highlight>
                  <a:srgbClr val="FFFF00"/>
                </a:highlight>
                <a:sym typeface="+mn-ea"/>
              </a:rPr>
              <a:t>民族关系发展和社会变化</a:t>
            </a:r>
            <a:endParaRPr lang="zh-CN" altLang="en-US" sz="2400" dirty="0">
              <a:solidFill>
                <a:srgbClr val="FF0000"/>
              </a:solidFill>
              <a:highlight>
                <a:srgbClr val="FFFF00"/>
              </a:highlight>
            </a:endParaRPr>
          </a:p>
          <a:p>
            <a:pPr>
              <a:lnSpc>
                <a:spcPct val="100000"/>
              </a:lnSpc>
            </a:pPr>
            <a:r>
              <a:rPr lang="en-US" altLang="zh-CN" sz="2400" dirty="0">
                <a:sym typeface="+mn-ea"/>
              </a:rPr>
              <a:t>4</a:t>
            </a:r>
            <a:r>
              <a:rPr lang="zh-CN" altLang="en-US" sz="2400" dirty="0">
                <a:sym typeface="+mn-ea"/>
              </a:rPr>
              <a:t>、经济中心南移：</a:t>
            </a:r>
            <a:r>
              <a:rPr lang="en-US" altLang="zh-CN" sz="2400" dirty="0">
                <a:sym typeface="+mn-ea"/>
              </a:rPr>
              <a:t>    </a:t>
            </a:r>
            <a:r>
              <a:rPr lang="zh-CN" altLang="en-US" sz="2400" dirty="0">
                <a:solidFill>
                  <a:srgbClr val="FF0000"/>
                </a:solidFill>
                <a:sym typeface="+mn-ea"/>
              </a:rPr>
              <a:t>唐安史之乱   </a:t>
            </a:r>
            <a:r>
              <a:rPr lang="zh-CN" altLang="en-US" sz="2400" dirty="0">
                <a:sym typeface="+mn-ea"/>
              </a:rPr>
              <a:t>（开始）</a:t>
            </a:r>
            <a:r>
              <a:rPr lang="en-US" altLang="zh-CN" sz="2400" dirty="0">
                <a:sym typeface="+mn-ea"/>
              </a:rPr>
              <a:t>——    </a:t>
            </a:r>
            <a:r>
              <a:rPr lang="zh-CN" altLang="en-US" sz="2400" dirty="0">
                <a:solidFill>
                  <a:srgbClr val="FF0000"/>
                </a:solidFill>
                <a:sym typeface="+mn-ea"/>
              </a:rPr>
              <a:t> 南宋   </a:t>
            </a:r>
            <a:r>
              <a:rPr lang="en-US" altLang="zh-CN" sz="2400" dirty="0">
                <a:sym typeface="+mn-ea"/>
              </a:rPr>
              <a:t>   </a:t>
            </a:r>
            <a:r>
              <a:rPr lang="zh-CN" altLang="en-US" sz="2400" dirty="0">
                <a:sym typeface="+mn-ea"/>
              </a:rPr>
              <a:t>（结束）</a:t>
            </a:r>
          </a:p>
          <a:p>
            <a:pPr algn="l">
              <a:lnSpc>
                <a:spcPct val="100000"/>
              </a:lnSpc>
              <a:buClrTx/>
              <a:buSzTx/>
            </a:pPr>
            <a:r>
              <a:rPr lang="en-US" altLang="zh-CN" sz="2400" dirty="0">
                <a:sym typeface="+mn-ea"/>
              </a:rPr>
              <a:t>5</a:t>
            </a:r>
            <a:r>
              <a:rPr lang="zh-CN" altLang="en-US" sz="2400" dirty="0">
                <a:sym typeface="+mn-ea"/>
              </a:rPr>
              <a:t>、《资治通鉴》朝代：</a:t>
            </a:r>
            <a:r>
              <a:rPr lang="zh-CN" altLang="en-US" sz="2400" dirty="0">
                <a:solidFill>
                  <a:srgbClr val="FF0000"/>
                </a:solidFill>
                <a:sym typeface="+mn-ea"/>
              </a:rPr>
              <a:t>北宋 </a:t>
            </a:r>
            <a:r>
              <a:rPr lang="en-US" altLang="zh-CN" sz="2400" dirty="0">
                <a:sym typeface="+mn-ea"/>
              </a:rPr>
              <a:t>         </a:t>
            </a:r>
            <a:r>
              <a:rPr lang="zh-CN" altLang="en-US" sz="2400" dirty="0">
                <a:sym typeface="+mn-ea"/>
              </a:rPr>
              <a:t>记述什么时候的历史：</a:t>
            </a:r>
            <a:r>
              <a:rPr lang="zh-CN" altLang="en-US" sz="2400" dirty="0">
                <a:solidFill>
                  <a:srgbClr val="FF0000"/>
                </a:solidFill>
                <a:sym typeface="+mn-ea"/>
              </a:rPr>
              <a:t>战国到五代</a:t>
            </a:r>
          </a:p>
          <a:p>
            <a:pPr>
              <a:lnSpc>
                <a:spcPct val="100000"/>
              </a:lnSpc>
            </a:pPr>
            <a:r>
              <a:rPr lang="en-US" altLang="zh-CN" sz="2400" dirty="0">
                <a:sym typeface="+mn-ea"/>
              </a:rPr>
              <a:t>6</a:t>
            </a:r>
            <a:r>
              <a:rPr lang="zh-CN" altLang="en-US" sz="2400" dirty="0">
                <a:sym typeface="+mn-ea"/>
              </a:rPr>
              <a:t>、为加强对地方财权的管理，宋太祖怎么做？</a:t>
            </a:r>
            <a:r>
              <a:rPr lang="zh-CN" altLang="en-US" sz="2400" dirty="0">
                <a:solidFill>
                  <a:srgbClr val="FF0000"/>
                </a:solidFill>
                <a:sym typeface="+mn-ea"/>
              </a:rPr>
              <a:t>转运使，把地方财政收归中央</a:t>
            </a:r>
          </a:p>
          <a:p>
            <a:pPr algn="l">
              <a:lnSpc>
                <a:spcPct val="100000"/>
              </a:lnSpc>
              <a:buClrTx/>
              <a:buSzTx/>
            </a:pPr>
            <a:r>
              <a:rPr lang="en-US" altLang="zh-CN" sz="2400" dirty="0">
                <a:sym typeface="+mn-ea"/>
              </a:rPr>
              <a:t>7</a:t>
            </a:r>
            <a:r>
              <a:rPr lang="zh-CN" altLang="en-US" sz="2400" dirty="0">
                <a:sym typeface="+mn-ea"/>
              </a:rPr>
              <a:t>、元朝管理台湾的机构是？</a:t>
            </a:r>
            <a:r>
              <a:rPr lang="zh-CN" altLang="en-US" sz="2400" dirty="0">
                <a:solidFill>
                  <a:srgbClr val="FF0000"/>
                </a:solidFill>
                <a:sym typeface="+mn-ea"/>
              </a:rPr>
              <a:t>澎湖巡检司</a:t>
            </a:r>
          </a:p>
          <a:p>
            <a:pPr>
              <a:lnSpc>
                <a:spcPct val="100000"/>
              </a:lnSpc>
            </a:pPr>
            <a:r>
              <a:rPr lang="en-US" altLang="zh-CN" sz="2400" dirty="0">
                <a:sym typeface="+mn-ea"/>
              </a:rPr>
              <a:t>8</a:t>
            </a:r>
            <a:r>
              <a:rPr lang="zh-CN" altLang="en-US" sz="2400" dirty="0">
                <a:sym typeface="+mn-ea"/>
              </a:rPr>
              <a:t>、元朝的建立者是？</a:t>
            </a:r>
            <a:r>
              <a:rPr lang="zh-CN" altLang="en-US" sz="2400" dirty="0">
                <a:solidFill>
                  <a:srgbClr val="FF0000"/>
                </a:solidFill>
                <a:sym typeface="+mn-ea"/>
              </a:rPr>
              <a:t>忽必烈</a:t>
            </a:r>
            <a:r>
              <a:rPr lang="en-US" altLang="zh-CN" sz="2400" dirty="0">
                <a:solidFill>
                  <a:srgbClr val="FF0000"/>
                </a:solidFill>
                <a:sym typeface="+mn-ea"/>
              </a:rPr>
              <a:t>     </a:t>
            </a:r>
            <a:r>
              <a:rPr lang="zh-CN" altLang="en-US" sz="2400" dirty="0">
                <a:sym typeface="+mn-ea"/>
              </a:rPr>
              <a:t>腹里归谁管理？</a:t>
            </a:r>
            <a:r>
              <a:rPr lang="zh-CN" altLang="en-US" sz="2400" dirty="0">
                <a:solidFill>
                  <a:srgbClr val="FF0000"/>
                </a:solidFill>
                <a:sym typeface="+mn-ea"/>
              </a:rPr>
              <a:t> 中书省（山东、山西、河北）</a:t>
            </a:r>
          </a:p>
          <a:p>
            <a:pPr>
              <a:lnSpc>
                <a:spcPct val="100000"/>
              </a:lnSpc>
            </a:pPr>
            <a:r>
              <a:rPr lang="en-US" altLang="zh-CN" sz="2400" dirty="0">
                <a:sym typeface="+mn-ea"/>
              </a:rPr>
              <a:t>9</a:t>
            </a:r>
            <a:r>
              <a:rPr lang="zh-CN" altLang="en-US" sz="2400" dirty="0">
                <a:sym typeface="+mn-ea"/>
              </a:rPr>
              <a:t>、宋朝商业发展的特点是：</a:t>
            </a:r>
            <a:r>
              <a:rPr lang="zh-CN" altLang="en-US" sz="2400" dirty="0">
                <a:solidFill>
                  <a:srgbClr val="FF0000"/>
                </a:solidFill>
                <a:sym typeface="+mn-ea"/>
              </a:rPr>
              <a:t>打破了时间、空间限制</a:t>
            </a:r>
          </a:p>
          <a:p>
            <a:pPr>
              <a:lnSpc>
                <a:spcPct val="100000"/>
              </a:lnSpc>
            </a:pPr>
            <a:r>
              <a:rPr lang="en-US" altLang="zh-CN" sz="2400" dirty="0">
                <a:sym typeface="+mn-ea"/>
              </a:rPr>
              <a:t>10</a:t>
            </a:r>
            <a:r>
              <a:rPr lang="zh-CN" altLang="en-US" sz="2400" dirty="0">
                <a:sym typeface="+mn-ea"/>
              </a:rPr>
              <a:t>、古代经济重心南移的根因是：</a:t>
            </a:r>
            <a:r>
              <a:rPr lang="zh-CN" altLang="en-US" sz="2400" dirty="0">
                <a:solidFill>
                  <a:srgbClr val="FF0000"/>
                </a:solidFill>
                <a:sym typeface="+mn-ea"/>
              </a:rPr>
              <a:t>北人南迁带去劳动力、技术、经验</a:t>
            </a:r>
          </a:p>
          <a:p>
            <a:pPr>
              <a:lnSpc>
                <a:spcPct val="100000"/>
              </a:lnSpc>
            </a:pPr>
            <a:r>
              <a:rPr lang="en-US" altLang="zh-CN" sz="2400" dirty="0">
                <a:sym typeface="+mn-ea"/>
              </a:rPr>
              <a:t>11</a:t>
            </a:r>
            <a:r>
              <a:rPr lang="zh-CN" altLang="en-US" sz="2400" dirty="0">
                <a:sym typeface="+mn-ea"/>
              </a:rPr>
              <a:t>、世界上最早的纸币是：</a:t>
            </a:r>
            <a:r>
              <a:rPr lang="zh-CN" altLang="en-US" sz="2400" dirty="0">
                <a:solidFill>
                  <a:srgbClr val="FF0000"/>
                </a:solidFill>
                <a:sym typeface="+mn-ea"/>
              </a:rPr>
              <a:t>交子 </a:t>
            </a:r>
            <a:r>
              <a:rPr lang="en-US" altLang="zh-CN" sz="2400" dirty="0">
                <a:sym typeface="+mn-ea"/>
              </a:rPr>
              <a:t>   </a:t>
            </a:r>
            <a:r>
              <a:rPr lang="zh-CN" altLang="en-US" sz="2400" dirty="0">
                <a:sym typeface="+mn-ea"/>
              </a:rPr>
              <a:t>朝代：</a:t>
            </a:r>
            <a:r>
              <a:rPr lang="zh-CN" altLang="en-US" sz="2400" dirty="0">
                <a:solidFill>
                  <a:srgbClr val="FF0000"/>
                </a:solidFill>
                <a:sym typeface="+mn-ea"/>
              </a:rPr>
              <a:t>北宋</a:t>
            </a:r>
            <a:r>
              <a:rPr lang="en-US" altLang="zh-CN" sz="2400" dirty="0">
                <a:sym typeface="+mn-ea"/>
              </a:rPr>
              <a:t>     </a:t>
            </a:r>
            <a:r>
              <a:rPr lang="zh-CN" altLang="en-US" sz="2400" dirty="0">
                <a:sym typeface="+mn-ea"/>
              </a:rPr>
              <a:t>地区：</a:t>
            </a:r>
            <a:r>
              <a:rPr lang="zh-CN" altLang="en-US" sz="2400" dirty="0">
                <a:solidFill>
                  <a:srgbClr val="FF0000"/>
                </a:solidFill>
                <a:sym typeface="+mn-ea"/>
              </a:rPr>
              <a:t>四川</a:t>
            </a:r>
          </a:p>
          <a:p>
            <a:pPr>
              <a:lnSpc>
                <a:spcPct val="100000"/>
              </a:lnSpc>
            </a:pPr>
            <a:r>
              <a:rPr lang="en-US" altLang="zh-CN" sz="2400" dirty="0">
                <a:sym typeface="+mn-ea"/>
              </a:rPr>
              <a:t>12</a:t>
            </a:r>
            <a:r>
              <a:rPr lang="zh-CN" altLang="en-US" sz="2400" dirty="0">
                <a:sym typeface="+mn-ea"/>
              </a:rPr>
              <a:t>、为鼓励海外贸易，宋朝在主要港口设立了（</a:t>
            </a:r>
            <a:r>
              <a:rPr lang="zh-CN" altLang="en-US" sz="2400" dirty="0">
                <a:solidFill>
                  <a:srgbClr val="FF0000"/>
                </a:solidFill>
                <a:sym typeface="+mn-ea"/>
              </a:rPr>
              <a:t>市舶司</a:t>
            </a:r>
            <a:r>
              <a:rPr lang="en-US" altLang="zh-CN" sz="2400" dirty="0">
                <a:sym typeface="+mn-ea"/>
              </a:rPr>
              <a:t>  </a:t>
            </a:r>
            <a:r>
              <a:rPr lang="zh-CN" altLang="en-US" sz="2400" dirty="0">
                <a:sym typeface="+mn-ea"/>
              </a:rPr>
              <a:t>）加以管理。</a:t>
            </a:r>
          </a:p>
          <a:p>
            <a:pPr>
              <a:lnSpc>
                <a:spcPct val="100000"/>
              </a:lnSpc>
            </a:pPr>
            <a:r>
              <a:rPr lang="en-US" altLang="zh-CN" sz="2400" dirty="0">
                <a:sym typeface="+mn-ea"/>
              </a:rPr>
              <a:t>13</a:t>
            </a:r>
            <a:r>
              <a:rPr lang="zh-CN" altLang="en-US" sz="2400" dirty="0">
                <a:sym typeface="+mn-ea"/>
              </a:rPr>
              <a:t>、娱乐兼营商业场所是</a:t>
            </a:r>
            <a:r>
              <a:rPr lang="en-US" altLang="zh-CN" sz="2400" dirty="0">
                <a:sym typeface="+mn-ea"/>
              </a:rPr>
              <a:t>       </a:t>
            </a:r>
            <a:r>
              <a:rPr lang="zh-CN" altLang="en-US" sz="2400" dirty="0">
                <a:solidFill>
                  <a:srgbClr val="FF0000"/>
                </a:solidFill>
                <a:sym typeface="+mn-ea"/>
              </a:rPr>
              <a:t>A瓦子</a:t>
            </a:r>
            <a:endParaRPr lang="zh-CN" altLang="en-US" sz="2400" dirty="0"/>
          </a:p>
          <a:p>
            <a:pPr>
              <a:lnSpc>
                <a:spcPct val="100000"/>
              </a:lnSpc>
            </a:pPr>
            <a:endParaRPr lang="zh-CN" altLang="en-US" sz="2400" dirty="0"/>
          </a:p>
          <a:p>
            <a:pPr algn="l">
              <a:lnSpc>
                <a:spcPct val="100000"/>
              </a:lnSpc>
              <a:spcAft>
                <a:spcPts val="600"/>
              </a:spcAft>
              <a:buClrTx/>
              <a:buSzTx/>
            </a:pPr>
            <a:endParaRPr lang="zh-CN" altLang="en-US" sz="2400" dirty="0">
              <a:sym typeface="+mn-ea"/>
            </a:endParaRPr>
          </a:p>
          <a:p>
            <a:endParaRPr lang="zh-CN" altLang="en-US" sz="2400" dirty="0"/>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376555" y="238125"/>
            <a:ext cx="11204575" cy="6018530"/>
          </a:xfrm>
        </p:spPr>
        <p:txBody>
          <a:bodyPr/>
          <a:lstStyle/>
          <a:p>
            <a:r>
              <a:rPr lang="zh-CN" altLang="en-US" sz="2800" dirty="0">
                <a:solidFill>
                  <a:srgbClr val="FF0000"/>
                </a:solidFill>
              </a:rPr>
              <a:t>唐朝兴盛的原因：</a:t>
            </a:r>
            <a:r>
              <a:rPr lang="zh-CN" altLang="en-US" sz="2800" u="sng" dirty="0">
                <a:solidFill>
                  <a:srgbClr val="002060"/>
                </a:solidFill>
              </a:rPr>
              <a:t>政治：</a:t>
            </a:r>
            <a:r>
              <a:rPr lang="zh-CN" altLang="en-US" sz="2800" dirty="0"/>
              <a:t>国家统一，社会稳定；统治者以民为本，实行有利于生产发展的措施；</a:t>
            </a:r>
            <a:r>
              <a:rPr lang="zh-CN" altLang="en-US" sz="2800" dirty="0">
                <a:highlight>
                  <a:srgbClr val="FFFF00"/>
                </a:highlight>
              </a:rPr>
              <a:t>完善</a:t>
            </a:r>
            <a:r>
              <a:rPr lang="zh-CN" altLang="en-US" sz="2800" dirty="0"/>
              <a:t>科举制度，重视人才培养；采取开明的民族政策，民族关系相对融洽；开放的对外政策，中外交流频繁；</a:t>
            </a:r>
            <a:r>
              <a:rPr lang="zh-CN" altLang="en-US" sz="2800" u="sng" dirty="0">
                <a:solidFill>
                  <a:srgbClr val="002060"/>
                </a:solidFill>
              </a:rPr>
              <a:t>经济：</a:t>
            </a:r>
            <a:r>
              <a:rPr lang="zh-CN" altLang="en-US" sz="2800" dirty="0"/>
              <a:t>生产力发展（</a:t>
            </a:r>
            <a:r>
              <a:rPr lang="zh-CN" altLang="en-US" sz="2800" dirty="0">
                <a:highlight>
                  <a:srgbClr val="FFFF00"/>
                </a:highlight>
              </a:rPr>
              <a:t>曲辕犁、筒车</a:t>
            </a:r>
            <a:r>
              <a:rPr lang="zh-CN" altLang="en-US" sz="2800" dirty="0"/>
              <a:t>），经济繁荣；</a:t>
            </a:r>
            <a:r>
              <a:rPr lang="zh-CN" altLang="en-US" sz="2800" u="sng" dirty="0">
                <a:solidFill>
                  <a:srgbClr val="002060"/>
                </a:solidFill>
              </a:rPr>
              <a:t>文化：</a:t>
            </a:r>
            <a:r>
              <a:rPr lang="zh-CN" altLang="en-US" sz="2800" dirty="0"/>
              <a:t>注重文教，文化繁荣。</a:t>
            </a:r>
            <a:r>
              <a:rPr lang="zh-CN" altLang="en-US" sz="2800" u="sng" dirty="0">
                <a:solidFill>
                  <a:srgbClr val="002060"/>
                </a:solidFill>
              </a:rPr>
              <a:t>交通：</a:t>
            </a:r>
            <a:r>
              <a:rPr lang="zh-CN" altLang="en-US" sz="2800" dirty="0"/>
              <a:t>海上陆上丝绸之路，交通发达。</a:t>
            </a:r>
          </a:p>
          <a:p>
            <a:r>
              <a:rPr lang="zh-CN" altLang="en-US" sz="2800" dirty="0">
                <a:solidFill>
                  <a:srgbClr val="FF0000"/>
                </a:solidFill>
                <a:sym typeface="+mn-ea"/>
              </a:rPr>
              <a:t>宋朝兴盛的原因：</a:t>
            </a:r>
            <a:r>
              <a:rPr lang="zh-CN" altLang="en-US" sz="2800" u="sng" dirty="0">
                <a:solidFill>
                  <a:srgbClr val="002060"/>
                </a:solidFill>
                <a:highlight>
                  <a:srgbClr val="FFFF00"/>
                </a:highlight>
                <a:sym typeface="+mn-ea"/>
              </a:rPr>
              <a:t>政治：</a:t>
            </a:r>
            <a:r>
              <a:rPr lang="zh-CN" altLang="en-US" sz="2800" dirty="0">
                <a:highlight>
                  <a:srgbClr val="FFFF00"/>
                </a:highlight>
                <a:sym typeface="+mn-ea"/>
              </a:rPr>
              <a:t>政府采取重文轻武政策</a:t>
            </a:r>
            <a:r>
              <a:rPr lang="zh-CN" altLang="en-US" sz="2800" dirty="0">
                <a:sym typeface="+mn-ea"/>
              </a:rPr>
              <a:t>，重视文教事业的发展；</a:t>
            </a:r>
            <a:r>
              <a:rPr lang="zh-CN" altLang="en-US" sz="2800" dirty="0">
                <a:highlight>
                  <a:srgbClr val="FFFF00"/>
                </a:highlight>
                <a:sym typeface="+mn-ea"/>
              </a:rPr>
              <a:t>中外交流频繁</a:t>
            </a:r>
            <a:r>
              <a:rPr lang="zh-CN" altLang="en-US" sz="2800" dirty="0">
                <a:sym typeface="+mn-ea"/>
              </a:rPr>
              <a:t>；</a:t>
            </a:r>
            <a:r>
              <a:rPr lang="zh-CN" altLang="en-US" sz="2800" u="sng" dirty="0">
                <a:solidFill>
                  <a:srgbClr val="002060"/>
                </a:solidFill>
                <a:sym typeface="+mn-ea"/>
              </a:rPr>
              <a:t>经济：</a:t>
            </a:r>
            <a:r>
              <a:rPr lang="zh-CN" altLang="en-US" sz="2800" dirty="0">
                <a:sym typeface="+mn-ea"/>
              </a:rPr>
              <a:t>生产力发展（</a:t>
            </a:r>
            <a:r>
              <a:rPr lang="zh-CN" altLang="en-US" sz="2800" dirty="0">
                <a:highlight>
                  <a:srgbClr val="FFFF00"/>
                </a:highlight>
                <a:sym typeface="+mn-ea"/>
              </a:rPr>
              <a:t>秧马</a:t>
            </a:r>
            <a:r>
              <a:rPr lang="zh-CN" altLang="en-US" sz="2800" dirty="0">
                <a:sym typeface="+mn-ea"/>
              </a:rPr>
              <a:t>），经济繁荣；</a:t>
            </a:r>
            <a:r>
              <a:rPr lang="zh-CN" altLang="en-US" sz="2800" dirty="0">
                <a:highlight>
                  <a:srgbClr val="FFFF00"/>
                </a:highlight>
                <a:sym typeface="+mn-ea"/>
              </a:rPr>
              <a:t>经济重心南移</a:t>
            </a:r>
            <a:r>
              <a:rPr lang="zh-CN" altLang="en-US" sz="2800" dirty="0">
                <a:sym typeface="+mn-ea"/>
              </a:rPr>
              <a:t>；</a:t>
            </a:r>
            <a:r>
              <a:rPr lang="zh-CN" altLang="en-US" sz="2800" u="sng" dirty="0">
                <a:solidFill>
                  <a:srgbClr val="002060"/>
                </a:solidFill>
                <a:sym typeface="+mn-ea"/>
              </a:rPr>
              <a:t>文化：</a:t>
            </a:r>
            <a:r>
              <a:rPr lang="zh-CN" altLang="en-US" sz="2800" dirty="0">
                <a:highlight>
                  <a:srgbClr val="FFFF00"/>
                </a:highlight>
                <a:sym typeface="+mn-ea"/>
              </a:rPr>
              <a:t>改革</a:t>
            </a:r>
            <a:r>
              <a:rPr lang="zh-CN" altLang="en-US" sz="2800" dirty="0">
                <a:sym typeface="+mn-ea"/>
              </a:rPr>
              <a:t>科举制，文化昌盛、人才辈出。</a:t>
            </a:r>
            <a:r>
              <a:rPr lang="zh-CN" altLang="en-US" sz="2800" u="sng" dirty="0">
                <a:solidFill>
                  <a:srgbClr val="002060"/>
                </a:solidFill>
                <a:sym typeface="+mn-ea"/>
              </a:rPr>
              <a:t>交通：</a:t>
            </a:r>
            <a:r>
              <a:rPr lang="zh-CN" altLang="en-US" sz="2800" dirty="0">
                <a:sym typeface="+mn-ea"/>
              </a:rPr>
              <a:t>海上丝绸之路，交通发达。</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147955" y="0"/>
            <a:ext cx="11772265" cy="6772910"/>
          </a:xfrm>
        </p:spPr>
        <p:txBody>
          <a:bodyPr>
            <a:normAutofit/>
          </a:bodyPr>
          <a:lstStyle/>
          <a:p>
            <a:pPr>
              <a:lnSpc>
                <a:spcPct val="100000"/>
              </a:lnSpc>
            </a:pPr>
            <a:r>
              <a:rPr lang="en-US" altLang="zh-CN" sz="2800" dirty="0"/>
              <a:t>1</a:t>
            </a:r>
            <a:r>
              <a:rPr lang="zh-CN" altLang="en-US" sz="2800" dirty="0"/>
              <a:t>、闭关锁国原因：</a:t>
            </a:r>
            <a:r>
              <a:rPr lang="zh-CN" altLang="en-US" sz="2800" dirty="0">
                <a:solidFill>
                  <a:srgbClr val="FF0000"/>
                </a:solidFill>
                <a:latin typeface="Calibri" panose="020F0502020204030204" charset="0"/>
                <a:sym typeface="+mn-ea"/>
              </a:rPr>
              <a:t>①</a:t>
            </a:r>
            <a:r>
              <a:rPr lang="zh-CN" altLang="en-US" sz="2800" dirty="0">
                <a:solidFill>
                  <a:srgbClr val="FF0000"/>
                </a:solidFill>
              </a:rPr>
              <a:t>清朝统治者认为天朝物产丰富，无所不有，不需与外交交流。</a:t>
            </a:r>
            <a:r>
              <a:rPr lang="zh-CN" altLang="en-US" sz="2800" dirty="0">
                <a:solidFill>
                  <a:srgbClr val="FF0000"/>
                </a:solidFill>
                <a:latin typeface="Calibri" panose="020F0502020204030204" charset="0"/>
                <a:sym typeface="+mn-ea"/>
              </a:rPr>
              <a:t>②</a:t>
            </a:r>
            <a:r>
              <a:rPr lang="zh-CN" altLang="en-US" sz="2800" dirty="0">
                <a:solidFill>
                  <a:srgbClr val="FF0000"/>
                </a:solidFill>
              </a:rPr>
              <a:t>清朝统治者担心西方殖民者的侵犯和沿海居民同外国人交往，会危及自己的统治。</a:t>
            </a:r>
          </a:p>
          <a:p>
            <a:pPr>
              <a:lnSpc>
                <a:spcPct val="100000"/>
              </a:lnSpc>
            </a:pPr>
            <a:r>
              <a:rPr lang="en-US" altLang="zh-CN" sz="2800" dirty="0"/>
              <a:t>2</a:t>
            </a:r>
            <a:r>
              <a:rPr lang="zh-CN" altLang="en-US" sz="2800" dirty="0"/>
              <a:t>、</a:t>
            </a:r>
            <a:r>
              <a:rPr lang="zh-CN" altLang="en-US" sz="2800" dirty="0">
                <a:sym typeface="+mn-ea"/>
              </a:rPr>
              <a:t>闭关锁国表现</a:t>
            </a:r>
            <a:r>
              <a:rPr lang="zh-CN" altLang="en-US" sz="2800" dirty="0"/>
              <a:t>：</a:t>
            </a:r>
            <a:r>
              <a:rPr lang="zh-CN" altLang="en-US" sz="2800" dirty="0">
                <a:solidFill>
                  <a:srgbClr val="FF0000"/>
                </a:solidFill>
                <a:latin typeface="Calibri" panose="020F0502020204030204" charset="0"/>
              </a:rPr>
              <a:t>①</a:t>
            </a:r>
            <a:r>
              <a:rPr lang="zh-CN" altLang="en-US" sz="2800" dirty="0">
                <a:solidFill>
                  <a:srgbClr val="FF0000"/>
                </a:solidFill>
              </a:rPr>
              <a:t>顺治颁布</a:t>
            </a:r>
            <a:r>
              <a:rPr lang="en-US" altLang="zh-CN" sz="2800" dirty="0">
                <a:solidFill>
                  <a:srgbClr val="FF0000"/>
                </a:solidFill>
              </a:rPr>
              <a:t>“</a:t>
            </a:r>
            <a:r>
              <a:rPr lang="zh-CN" altLang="en-US" sz="2800" dirty="0">
                <a:solidFill>
                  <a:srgbClr val="FF0000"/>
                </a:solidFill>
              </a:rPr>
              <a:t>禁海令</a:t>
            </a:r>
            <a:r>
              <a:rPr lang="en-US" altLang="zh-CN" sz="2800" dirty="0">
                <a:solidFill>
                  <a:srgbClr val="FF0000"/>
                </a:solidFill>
              </a:rPr>
              <a:t>”</a:t>
            </a:r>
            <a:r>
              <a:rPr lang="zh-CN" altLang="en-US" sz="2800" dirty="0">
                <a:solidFill>
                  <a:srgbClr val="FF0000"/>
                </a:solidFill>
              </a:rPr>
              <a:t>；</a:t>
            </a:r>
            <a:r>
              <a:rPr lang="zh-CN" altLang="en-US" sz="2800" dirty="0">
                <a:solidFill>
                  <a:srgbClr val="FF0000"/>
                </a:solidFill>
                <a:latin typeface="Calibri" panose="020F0502020204030204" charset="0"/>
                <a:sym typeface="+mn-ea"/>
              </a:rPr>
              <a:t>②建台湾府后，开放宁波、漳州等地为通商口岸；③</a:t>
            </a:r>
            <a:r>
              <a:rPr lang="en-US" altLang="zh-CN" sz="2800" dirty="0">
                <a:solidFill>
                  <a:srgbClr val="FF0000"/>
                </a:solidFill>
                <a:latin typeface="Calibri" panose="020F0502020204030204" charset="0"/>
                <a:sym typeface="+mn-ea"/>
              </a:rPr>
              <a:t>1757</a:t>
            </a:r>
            <a:r>
              <a:rPr lang="zh-CN" altLang="en-US" sz="2800" dirty="0">
                <a:solidFill>
                  <a:srgbClr val="FF0000"/>
                </a:solidFill>
                <a:latin typeface="Calibri" panose="020F0502020204030204" charset="0"/>
                <a:sym typeface="+mn-ea"/>
              </a:rPr>
              <a:t>年，只留广州一处通商口岸，由广州十三行统一经营对外贸易并管理外商。</a:t>
            </a:r>
          </a:p>
          <a:p>
            <a:pPr>
              <a:lnSpc>
                <a:spcPct val="100000"/>
              </a:lnSpc>
            </a:pPr>
            <a:r>
              <a:rPr lang="en-US" altLang="zh-CN" sz="2800" dirty="0">
                <a:highlight>
                  <a:srgbClr val="FFFF00"/>
                </a:highlight>
                <a:latin typeface="Calibri" panose="020F0502020204030204" charset="0"/>
                <a:sym typeface="+mn-ea"/>
              </a:rPr>
              <a:t>3</a:t>
            </a:r>
            <a:r>
              <a:rPr lang="zh-CN" altLang="en-US" sz="2800" dirty="0">
                <a:highlight>
                  <a:srgbClr val="FFFF00"/>
                </a:highlight>
                <a:latin typeface="Calibri" panose="020F0502020204030204" charset="0"/>
                <a:sym typeface="+mn-ea"/>
              </a:rPr>
              <a:t>、闭关锁国政策的影响：</a:t>
            </a:r>
            <a:r>
              <a:rPr lang="zh-CN" altLang="en-US" sz="2800" dirty="0">
                <a:solidFill>
                  <a:srgbClr val="FF0000"/>
                </a:solidFill>
                <a:highlight>
                  <a:srgbClr val="FFFF00"/>
                </a:highlight>
                <a:latin typeface="Calibri" panose="020F0502020204030204" charset="0"/>
                <a:sym typeface="+mn-ea"/>
              </a:rPr>
              <a:t>对西方殖民者的侵略活动，曾起到过一定的自卫作用，但也使中国逐渐落伍于世界历史的发展进程。</a:t>
            </a:r>
          </a:p>
          <a:p>
            <a:pPr>
              <a:lnSpc>
                <a:spcPct val="100000"/>
              </a:lnSpc>
            </a:pPr>
            <a:r>
              <a:rPr lang="zh-CN" altLang="en-US" sz="2800" dirty="0">
                <a:solidFill>
                  <a:schemeClr val="tx1"/>
                </a:solidFill>
                <a:latin typeface="Calibri" panose="020F0502020204030204" charset="0"/>
                <a:sym typeface="+mn-ea"/>
              </a:rPr>
              <a:t>4、长篇章回体小说的开山之作：</a:t>
            </a:r>
            <a:r>
              <a:rPr lang="zh-CN" altLang="en-US" sz="2800" dirty="0">
                <a:solidFill>
                  <a:srgbClr val="FF0000"/>
                </a:solidFill>
                <a:latin typeface="Calibri" panose="020F0502020204030204" charset="0"/>
                <a:sym typeface="+mn-ea"/>
              </a:rPr>
              <a:t>《三国演义》</a:t>
            </a:r>
          </a:p>
          <a:p>
            <a:pPr>
              <a:lnSpc>
                <a:spcPct val="100000"/>
              </a:lnSpc>
            </a:pPr>
            <a:r>
              <a:rPr lang="zh-CN" altLang="en-US" sz="2800" dirty="0">
                <a:solidFill>
                  <a:schemeClr val="tx1"/>
                </a:solidFill>
                <a:latin typeface="Calibri" panose="020F0502020204030204" charset="0"/>
                <a:sym typeface="+mn-ea"/>
              </a:rPr>
              <a:t>5、浪漫主义色的神话小说：</a:t>
            </a:r>
            <a:r>
              <a:rPr lang="zh-CN" altLang="en-US" sz="2800" dirty="0">
                <a:solidFill>
                  <a:srgbClr val="FF0000"/>
                </a:solidFill>
                <a:latin typeface="Calibri" panose="020F0502020204030204" charset="0"/>
                <a:sym typeface="+mn-ea"/>
              </a:rPr>
              <a:t>《西游记》</a:t>
            </a:r>
          </a:p>
          <a:p>
            <a:pPr>
              <a:lnSpc>
                <a:spcPct val="100000"/>
              </a:lnSpc>
            </a:pPr>
            <a:r>
              <a:rPr lang="zh-CN" altLang="en-US" sz="2800" dirty="0">
                <a:solidFill>
                  <a:schemeClr val="tx1"/>
                </a:solidFill>
                <a:latin typeface="Calibri" panose="020F0502020204030204" charset="0"/>
                <a:sym typeface="+mn-ea"/>
              </a:rPr>
              <a:t>6、我国古代最优秀的长篇小说：</a:t>
            </a:r>
            <a:r>
              <a:rPr lang="zh-CN" altLang="en-US" sz="2800" dirty="0">
                <a:solidFill>
                  <a:srgbClr val="FF0000"/>
                </a:solidFill>
                <a:latin typeface="Calibri" panose="020F0502020204030204" charset="0"/>
                <a:sym typeface="+mn-ea"/>
              </a:rPr>
              <a:t>《红楼梦》</a:t>
            </a:r>
          </a:p>
          <a:p>
            <a:pPr>
              <a:lnSpc>
                <a:spcPct val="100000"/>
              </a:lnSpc>
            </a:pPr>
            <a:r>
              <a:rPr lang="zh-CN" altLang="en-US" sz="2800" dirty="0">
                <a:solidFill>
                  <a:schemeClr val="tx1"/>
                </a:solidFill>
                <a:latin typeface="Calibri" panose="020F0502020204030204" charset="0"/>
                <a:sym typeface="+mn-ea"/>
              </a:rPr>
              <a:t>7、戏剧代表：</a:t>
            </a:r>
            <a:r>
              <a:rPr lang="zh-CN" altLang="en-US" sz="2800" dirty="0">
                <a:solidFill>
                  <a:srgbClr val="FF0000"/>
                </a:solidFill>
                <a:latin typeface="Calibri" panose="020F0502020204030204" charset="0"/>
                <a:sym typeface="+mn-ea"/>
              </a:rPr>
              <a:t>明朝汤显祖《牡丹亭》</a:t>
            </a:r>
          </a:p>
          <a:p>
            <a:pPr>
              <a:lnSpc>
                <a:spcPct val="100000"/>
              </a:lnSpc>
            </a:pPr>
            <a:r>
              <a:rPr lang="zh-CN" altLang="en-US" sz="2800" dirty="0">
                <a:solidFill>
                  <a:schemeClr val="tx1"/>
                </a:solidFill>
                <a:latin typeface="Calibri" panose="020F0502020204030204" charset="0"/>
                <a:sym typeface="+mn-ea"/>
              </a:rPr>
              <a:t>8、清朝的文化专制：</a:t>
            </a:r>
            <a:r>
              <a:rPr lang="zh-CN" altLang="en-US" sz="2800" dirty="0">
                <a:solidFill>
                  <a:srgbClr val="FF0000"/>
                </a:solidFill>
                <a:latin typeface="Calibri" panose="020F0502020204030204" charset="0"/>
                <a:sym typeface="+mn-ea"/>
              </a:rPr>
              <a:t>文字狱、康熙、雍正和乾隆。</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a:xfrm>
            <a:off x="0" y="186690"/>
            <a:ext cx="12192000" cy="5949315"/>
          </a:xfrm>
        </p:spPr>
        <p:txBody>
          <a:bodyPr>
            <a:noAutofit/>
          </a:bodyPr>
          <a:lstStyle/>
          <a:p>
            <a:pPr>
              <a:lnSpc>
                <a:spcPct val="100000"/>
              </a:lnSpc>
            </a:pPr>
            <a:r>
              <a:rPr lang="en-US" altLang="zh-CN" sz="2400" dirty="0"/>
              <a:t>1</a:t>
            </a:r>
            <a:r>
              <a:rPr lang="zh-CN" altLang="en-US" sz="2400" dirty="0"/>
              <a:t>、唐朝书法家是？</a:t>
            </a:r>
            <a:r>
              <a:rPr lang="zh-CN" altLang="en-US" sz="2400" dirty="0">
                <a:solidFill>
                  <a:srgbClr val="FF0000"/>
                </a:solidFill>
              </a:rPr>
              <a:t>颜真卿、柳公权、欧阳询</a:t>
            </a:r>
          </a:p>
          <a:p>
            <a:pPr>
              <a:lnSpc>
                <a:spcPct val="100000"/>
              </a:lnSpc>
            </a:pPr>
            <a:r>
              <a:rPr lang="en-US" altLang="zh-CN" sz="2400" dirty="0">
                <a:highlight>
                  <a:srgbClr val="FFFF00"/>
                </a:highlight>
              </a:rPr>
              <a:t>2</a:t>
            </a:r>
            <a:r>
              <a:rPr lang="zh-CN" altLang="en-US" sz="2400" dirty="0">
                <a:highlight>
                  <a:srgbClr val="FFFF00"/>
                </a:highlight>
              </a:rPr>
              <a:t>、明清单元目录：</a:t>
            </a:r>
            <a:r>
              <a:rPr lang="zh-CN" altLang="en-US" sz="2400" dirty="0">
                <a:solidFill>
                  <a:srgbClr val="FF0000"/>
                </a:solidFill>
                <a:highlight>
                  <a:srgbClr val="FFFF00"/>
                </a:highlight>
              </a:rPr>
              <a:t>统一多民族国家的巩固和发展</a:t>
            </a:r>
          </a:p>
          <a:p>
            <a:pPr algn="l">
              <a:lnSpc>
                <a:spcPct val="100000"/>
              </a:lnSpc>
              <a:spcAft>
                <a:spcPts val="600"/>
              </a:spcAft>
              <a:buClrTx/>
              <a:buSzTx/>
            </a:pPr>
            <a:r>
              <a:rPr lang="en-US" altLang="zh-CN" sz="2400" dirty="0"/>
              <a:t>3</a:t>
            </a:r>
            <a:r>
              <a:rPr lang="zh-CN" altLang="en-US" sz="2400" dirty="0"/>
              <a:t>、</a:t>
            </a:r>
            <a:r>
              <a:rPr lang="zh-CN" altLang="en-US" sz="2400" dirty="0">
                <a:sym typeface="+mn-ea"/>
              </a:rPr>
              <a:t>以下哪些发明由阿拉伯人传播到欧洲？</a:t>
            </a:r>
            <a:r>
              <a:rPr lang="zh-CN" altLang="en-US" sz="2400" dirty="0">
                <a:solidFill>
                  <a:srgbClr val="FF0000"/>
                </a:solidFill>
                <a:sym typeface="+mn-ea"/>
              </a:rPr>
              <a:t>B指南针C火药</a:t>
            </a:r>
          </a:p>
          <a:p>
            <a:pPr algn="l">
              <a:lnSpc>
                <a:spcPct val="100000"/>
              </a:lnSpc>
              <a:spcAft>
                <a:spcPts val="600"/>
              </a:spcAft>
              <a:buClrTx/>
              <a:buSzTx/>
            </a:pPr>
            <a:r>
              <a:rPr lang="zh-CN" altLang="en-US" sz="2400" u="sng" dirty="0">
                <a:solidFill>
                  <a:srgbClr val="FF0000"/>
                </a:solidFill>
                <a:sym typeface="+mn-ea"/>
              </a:rPr>
              <a:t>A活字印刷术（蒙古人西征）</a:t>
            </a:r>
          </a:p>
          <a:p>
            <a:pPr>
              <a:lnSpc>
                <a:spcPct val="100000"/>
              </a:lnSpc>
            </a:pPr>
            <a:r>
              <a:rPr lang="en-US" altLang="zh-CN" sz="2400" dirty="0"/>
              <a:t>4</a:t>
            </a:r>
            <a:r>
              <a:rPr lang="zh-CN" altLang="en-US" sz="2400" dirty="0"/>
              <a:t>、清朝疆域四至：</a:t>
            </a:r>
            <a:r>
              <a:rPr lang="zh-CN" altLang="en-US" sz="2400" dirty="0">
                <a:solidFill>
                  <a:srgbClr val="FF0000"/>
                </a:solidFill>
                <a:sym typeface="+mn-ea"/>
              </a:rPr>
              <a:t>西跨葱岭，北接</a:t>
            </a:r>
            <a:r>
              <a:rPr lang="zh-CN" altLang="en-US" sz="2400" dirty="0">
                <a:solidFill>
                  <a:srgbClr val="FF0000"/>
                </a:solidFill>
              </a:rPr>
              <a:t>西伯利亚 ，东</a:t>
            </a:r>
            <a:r>
              <a:rPr lang="zh-CN" altLang="en-US" sz="2400" dirty="0">
                <a:solidFill>
                  <a:srgbClr val="FF0000"/>
                </a:solidFill>
                <a:sym typeface="+mn-ea"/>
              </a:rPr>
              <a:t>临太平洋，南到南海诸岛。</a:t>
            </a:r>
          </a:p>
          <a:p>
            <a:pPr algn="l">
              <a:lnSpc>
                <a:spcPct val="100000"/>
              </a:lnSpc>
              <a:buClrTx/>
              <a:buSzTx/>
            </a:pPr>
            <a:r>
              <a:rPr lang="en-US" altLang="zh-CN" sz="2400" dirty="0">
                <a:sym typeface="+mn-ea"/>
              </a:rPr>
              <a:t>5</a:t>
            </a:r>
            <a:r>
              <a:rPr lang="zh-CN" altLang="en-US" sz="2400" dirty="0">
                <a:sym typeface="+mn-ea"/>
              </a:rPr>
              <a:t>、郑和</a:t>
            </a:r>
            <a:r>
              <a:rPr lang="zh-CN" altLang="en-US" sz="2400" dirty="0"/>
              <a:t>的船队最远到达哪里？</a:t>
            </a:r>
            <a:r>
              <a:rPr lang="zh-CN" altLang="en-US" sz="2400" dirty="0">
                <a:solidFill>
                  <a:srgbClr val="FF0000"/>
                </a:solidFill>
              </a:rPr>
              <a:t>非洲东海岸和红海沿岸</a:t>
            </a:r>
          </a:p>
          <a:p>
            <a:pPr algn="l">
              <a:lnSpc>
                <a:spcPct val="100000"/>
              </a:lnSpc>
              <a:buClrTx/>
              <a:buSzTx/>
            </a:pPr>
            <a:r>
              <a:rPr lang="en-US" altLang="zh-CN" sz="2400" dirty="0"/>
              <a:t>6</a:t>
            </a:r>
            <a:r>
              <a:rPr lang="zh-CN" altLang="en-US" sz="2400" dirty="0"/>
              <a:t>、</a:t>
            </a:r>
            <a:r>
              <a:rPr lang="zh-CN" altLang="en-US" sz="2400" dirty="0">
                <a:highlight>
                  <a:srgbClr val="FFFF00"/>
                </a:highlight>
              </a:rPr>
              <a:t>统一蒙古草原的是</a:t>
            </a:r>
            <a:r>
              <a:rPr lang="zh-CN" altLang="en-US" sz="2400" dirty="0">
                <a:solidFill>
                  <a:srgbClr val="FF0000"/>
                </a:solidFill>
                <a:highlight>
                  <a:srgbClr val="FFFF00"/>
                </a:highlight>
              </a:rPr>
              <a:t>铁木真（成吉思汗）</a:t>
            </a:r>
          </a:p>
          <a:p>
            <a:pPr algn="l">
              <a:lnSpc>
                <a:spcPct val="100000"/>
              </a:lnSpc>
              <a:buClrTx/>
              <a:buSzTx/>
            </a:pPr>
            <a:r>
              <a:rPr lang="en-US" altLang="zh-CN" sz="2400" dirty="0"/>
              <a:t>7</a:t>
            </a:r>
            <a:r>
              <a:rPr lang="zh-CN" altLang="en-US" sz="2400" dirty="0"/>
              <a:t>、</a:t>
            </a:r>
            <a:r>
              <a:rPr lang="zh-CN" altLang="en-US" sz="2400" dirty="0">
                <a:sym typeface="+mn-ea"/>
              </a:rPr>
              <a:t>中国十七世纪工业百科全书是：</a:t>
            </a:r>
            <a:r>
              <a:rPr lang="zh-CN" altLang="en-US" sz="2400" dirty="0">
                <a:solidFill>
                  <a:srgbClr val="FF0000"/>
                </a:solidFill>
                <a:sym typeface="+mn-ea"/>
              </a:rPr>
              <a:t>《天工开物》</a:t>
            </a:r>
            <a:r>
              <a:rPr lang="en-US" altLang="zh-CN" sz="2400" dirty="0">
                <a:solidFill>
                  <a:srgbClr val="FF0000"/>
                </a:solidFill>
                <a:sym typeface="+mn-ea"/>
              </a:rPr>
              <a:t>   </a:t>
            </a:r>
            <a:r>
              <a:rPr lang="en-US" altLang="zh-CN" sz="2400" dirty="0">
                <a:sym typeface="+mn-ea"/>
              </a:rPr>
              <a:t> </a:t>
            </a:r>
            <a:r>
              <a:rPr lang="zh-CN" altLang="en-US" sz="2400" dirty="0">
                <a:sym typeface="+mn-ea"/>
              </a:rPr>
              <a:t>作者是：</a:t>
            </a:r>
            <a:r>
              <a:rPr lang="zh-CN" altLang="en-US" sz="2400" dirty="0">
                <a:solidFill>
                  <a:srgbClr val="FF0000"/>
                </a:solidFill>
                <a:sym typeface="+mn-ea"/>
              </a:rPr>
              <a:t>宋应星（明）</a:t>
            </a:r>
            <a:endParaRPr lang="zh-CN" altLang="en-US" sz="2400" dirty="0">
              <a:solidFill>
                <a:srgbClr val="FF0000"/>
              </a:solidFill>
            </a:endParaRPr>
          </a:p>
          <a:p>
            <a:pPr algn="l">
              <a:lnSpc>
                <a:spcPct val="100000"/>
              </a:lnSpc>
              <a:buClrTx/>
              <a:buSzTx/>
            </a:pPr>
            <a:r>
              <a:rPr lang="en-US" altLang="zh-CN" sz="2400" dirty="0"/>
              <a:t>8</a:t>
            </a:r>
            <a:r>
              <a:rPr lang="zh-CN" altLang="en-US" sz="2400" dirty="0"/>
              <a:t>、北宋哪里最繁华？</a:t>
            </a:r>
            <a:r>
              <a:rPr lang="zh-CN" altLang="en-US" sz="2400" dirty="0">
                <a:solidFill>
                  <a:srgbClr val="FF0000"/>
                </a:solidFill>
              </a:rPr>
              <a:t>开封大相国寺</a:t>
            </a:r>
          </a:p>
          <a:p>
            <a:pPr algn="l">
              <a:lnSpc>
                <a:spcPct val="100000"/>
              </a:lnSpc>
              <a:buClrTx/>
              <a:buSzTx/>
            </a:pPr>
            <a:r>
              <a:rPr lang="en-US" altLang="zh-CN" sz="2400" dirty="0"/>
              <a:t>9</a:t>
            </a:r>
            <a:r>
              <a:rPr lang="zh-CN" altLang="en-US" sz="2400" dirty="0"/>
              <a:t>、明朝戏剧家和代表作？</a:t>
            </a:r>
            <a:r>
              <a:rPr lang="zh-CN" altLang="en-US" sz="2400" dirty="0">
                <a:solidFill>
                  <a:srgbClr val="FF0000"/>
                </a:solidFill>
              </a:rPr>
              <a:t>汤显祖《牡丹亭》</a:t>
            </a:r>
          </a:p>
          <a:p>
            <a:pPr>
              <a:lnSpc>
                <a:spcPct val="100000"/>
              </a:lnSpc>
            </a:pPr>
            <a:r>
              <a:rPr lang="en-US" altLang="zh-CN" sz="2400" dirty="0"/>
              <a:t>10</a:t>
            </a:r>
            <a:r>
              <a:rPr lang="zh-CN" altLang="en-US" sz="2400" dirty="0"/>
              <a:t>、</a:t>
            </a:r>
            <a:r>
              <a:rPr lang="zh-CN" altLang="en-US" sz="2400" dirty="0">
                <a:solidFill>
                  <a:srgbClr val="FF0000"/>
                </a:solidFill>
              </a:rPr>
              <a:t>《农政全书》、农业、徐光启（明）</a:t>
            </a:r>
          </a:p>
          <a:p>
            <a:pPr>
              <a:lnSpc>
                <a:spcPct val="100000"/>
              </a:lnSpc>
            </a:pPr>
            <a:r>
              <a:rPr lang="en-US" altLang="zh-CN" sz="2400" dirty="0"/>
              <a:t>11</a:t>
            </a:r>
            <a:r>
              <a:rPr lang="zh-CN" altLang="en-US" sz="2400" dirty="0"/>
              <a:t>、清朝对新疆地区的管辖措施有？</a:t>
            </a:r>
            <a:r>
              <a:rPr lang="zh-CN" altLang="en-US" sz="2400" dirty="0">
                <a:solidFill>
                  <a:srgbClr val="FF0000"/>
                </a:solidFill>
              </a:rPr>
              <a:t>康熙：平定</a:t>
            </a:r>
            <a:r>
              <a:rPr lang="zh-CN" altLang="en-US" sz="2400" dirty="0">
                <a:solidFill>
                  <a:srgbClr val="FF0000"/>
                </a:solidFill>
                <a:sym typeface="+mn-ea"/>
              </a:rPr>
              <a:t>准噶尔叛乱；乾隆：平定</a:t>
            </a:r>
            <a:r>
              <a:rPr lang="zh-CN" altLang="en-US" sz="2400" dirty="0">
                <a:solidFill>
                  <a:srgbClr val="FF0000"/>
                </a:solidFill>
              </a:rPr>
              <a:t>大小和卓、设置伊犁将军、哨所、安置土尔扈特部；左宗棠收复新疆，1884年新疆设省。</a:t>
            </a:r>
          </a:p>
          <a:p>
            <a:pPr>
              <a:lnSpc>
                <a:spcPct val="100000"/>
              </a:lnSpc>
            </a:pPr>
            <a:endParaRPr lang="zh-CN" altLang="en-US" sz="2400" dirty="0"/>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247015" y="71755"/>
            <a:ext cx="11861165" cy="6786880"/>
          </a:xfrm>
        </p:spPr>
        <p:txBody>
          <a:bodyPr>
            <a:noAutofit/>
          </a:bodyPr>
          <a:lstStyle/>
          <a:p>
            <a:pPr>
              <a:lnSpc>
                <a:spcPct val="100000"/>
              </a:lnSpc>
              <a:spcAft>
                <a:spcPts val="600"/>
              </a:spcAft>
            </a:pPr>
            <a:r>
              <a:rPr lang="zh-CN" altLang="en-US" sz="2400" dirty="0">
                <a:sym typeface="+mn-ea"/>
              </a:rPr>
              <a:t>默写抗日战争胜利的意义</a:t>
            </a:r>
          </a:p>
          <a:p>
            <a:pPr>
              <a:lnSpc>
                <a:spcPct val="100000"/>
              </a:lnSpc>
              <a:spcAft>
                <a:spcPts val="600"/>
              </a:spcAft>
            </a:pPr>
            <a:r>
              <a:rPr lang="en-US" altLang="zh-CN" sz="2400" dirty="0">
                <a:sym typeface="+mn-ea"/>
              </a:rPr>
              <a:t>1</a:t>
            </a:r>
            <a:r>
              <a:rPr lang="zh-CN" altLang="en-US" sz="2400" dirty="0">
                <a:sym typeface="+mn-ea"/>
              </a:rPr>
              <a:t>、女真族的首领是</a:t>
            </a:r>
            <a:r>
              <a:rPr lang="zh-CN" altLang="en-US" sz="2400" dirty="0">
                <a:solidFill>
                  <a:srgbClr val="FF0000"/>
                </a:solidFill>
                <a:sym typeface="+mn-ea"/>
              </a:rPr>
              <a:t>J完颜阿骨打</a:t>
            </a:r>
            <a:endParaRPr lang="zh-CN" altLang="en-US" sz="2400" dirty="0"/>
          </a:p>
          <a:p>
            <a:pPr>
              <a:lnSpc>
                <a:spcPct val="100000"/>
              </a:lnSpc>
              <a:spcAft>
                <a:spcPts val="600"/>
              </a:spcAft>
            </a:pPr>
            <a:r>
              <a:rPr lang="en-US" altLang="zh-CN" sz="2400" dirty="0">
                <a:sym typeface="+mn-ea"/>
              </a:rPr>
              <a:t>2</a:t>
            </a:r>
            <a:r>
              <a:rPr lang="zh-CN" altLang="en-US" sz="2400" dirty="0">
                <a:sym typeface="+mn-ea"/>
              </a:rPr>
              <a:t>、建立元朝的是</a:t>
            </a:r>
            <a:r>
              <a:rPr lang="zh-CN" altLang="en-US" sz="2400" dirty="0">
                <a:solidFill>
                  <a:srgbClr val="FF0000"/>
                </a:solidFill>
                <a:sym typeface="+mn-ea"/>
              </a:rPr>
              <a:t>H忽必烈</a:t>
            </a:r>
            <a:endParaRPr lang="zh-CN" altLang="en-US" sz="2400" dirty="0">
              <a:solidFill>
                <a:srgbClr val="FF0000"/>
              </a:solidFill>
            </a:endParaRPr>
          </a:p>
          <a:p>
            <a:pPr algn="l">
              <a:lnSpc>
                <a:spcPct val="100000"/>
              </a:lnSpc>
              <a:spcAft>
                <a:spcPts val="600"/>
              </a:spcAft>
              <a:buClrTx/>
              <a:buSzTx/>
            </a:pPr>
            <a:r>
              <a:rPr lang="en-US" altLang="zh-CN" sz="2400" dirty="0">
                <a:sym typeface="+mn-ea"/>
              </a:rPr>
              <a:t>3</a:t>
            </a:r>
            <a:r>
              <a:rPr lang="zh-CN" altLang="en-US" sz="2400" dirty="0">
                <a:sym typeface="+mn-ea"/>
              </a:rPr>
              <a:t>、改国号改族名为清的是</a:t>
            </a:r>
            <a:r>
              <a:rPr lang="zh-CN" altLang="en-US" sz="2400" dirty="0">
                <a:solidFill>
                  <a:srgbClr val="FF0000"/>
                </a:solidFill>
                <a:sym typeface="+mn-ea"/>
              </a:rPr>
              <a:t>A皇太极</a:t>
            </a:r>
            <a:endParaRPr lang="zh-CN" altLang="en-US" sz="2400" dirty="0">
              <a:solidFill>
                <a:srgbClr val="FF0000"/>
              </a:solidFill>
            </a:endParaRPr>
          </a:p>
          <a:p>
            <a:pPr algn="l">
              <a:lnSpc>
                <a:spcPct val="100000"/>
              </a:lnSpc>
              <a:spcAft>
                <a:spcPts val="600"/>
              </a:spcAft>
              <a:buClrTx/>
              <a:buSzTx/>
            </a:pPr>
            <a:r>
              <a:rPr lang="en-US" altLang="zh-CN" sz="2400" dirty="0">
                <a:sym typeface="+mn-ea"/>
              </a:rPr>
              <a:t>4</a:t>
            </a:r>
            <a:r>
              <a:rPr lang="zh-CN" altLang="en-US" sz="2400" dirty="0">
                <a:sym typeface="+mn-ea"/>
              </a:rPr>
              <a:t>、设置军机处的是</a:t>
            </a:r>
            <a:r>
              <a:rPr lang="en-US" altLang="zh-CN" sz="2400" dirty="0">
                <a:sym typeface="+mn-ea"/>
              </a:rPr>
              <a:t> </a:t>
            </a:r>
            <a:r>
              <a:rPr lang="zh-CN" altLang="en-US" sz="2400" dirty="0">
                <a:solidFill>
                  <a:srgbClr val="FF0000"/>
                </a:solidFill>
                <a:sym typeface="+mn-ea"/>
              </a:rPr>
              <a:t> I雍正</a:t>
            </a:r>
            <a:endParaRPr lang="zh-CN" altLang="en-US" sz="2400" dirty="0">
              <a:solidFill>
                <a:srgbClr val="FF0000"/>
              </a:solidFill>
            </a:endParaRPr>
          </a:p>
          <a:p>
            <a:pPr algn="l">
              <a:lnSpc>
                <a:spcPct val="100000"/>
              </a:lnSpc>
              <a:spcAft>
                <a:spcPts val="600"/>
              </a:spcAft>
              <a:buClrTx/>
              <a:buSzTx/>
            </a:pPr>
            <a:r>
              <a:rPr lang="en-US" altLang="zh-CN" sz="2400" dirty="0">
                <a:sym typeface="+mn-ea"/>
              </a:rPr>
              <a:t>5</a:t>
            </a:r>
            <a:r>
              <a:rPr lang="zh-CN" altLang="en-US" sz="2400" dirty="0">
                <a:sym typeface="+mn-ea"/>
              </a:rPr>
              <a:t>、签订《尼布楚条约》的是</a:t>
            </a:r>
            <a:r>
              <a:rPr lang="en-US" altLang="zh-CN" sz="2400" dirty="0">
                <a:sym typeface="+mn-ea"/>
              </a:rPr>
              <a:t> </a:t>
            </a:r>
            <a:r>
              <a:rPr lang="zh-CN" altLang="en-US" sz="2400" dirty="0">
                <a:solidFill>
                  <a:srgbClr val="FF0000"/>
                </a:solidFill>
                <a:sym typeface="+mn-ea"/>
              </a:rPr>
              <a:t>D康熙</a:t>
            </a:r>
            <a:endParaRPr lang="zh-CN" altLang="en-US" sz="2400" dirty="0">
              <a:solidFill>
                <a:srgbClr val="FF0000"/>
              </a:solidFill>
            </a:endParaRPr>
          </a:p>
          <a:p>
            <a:pPr>
              <a:lnSpc>
                <a:spcPct val="100000"/>
              </a:lnSpc>
              <a:spcAft>
                <a:spcPts val="600"/>
              </a:spcAft>
            </a:pPr>
            <a:r>
              <a:rPr lang="en-US" altLang="zh-CN" sz="2400" dirty="0">
                <a:sym typeface="+mn-ea"/>
              </a:rPr>
              <a:t> </a:t>
            </a:r>
            <a:r>
              <a:rPr lang="zh-CN" altLang="en-US" sz="2400" dirty="0"/>
              <a:t>6、唐朝对西域的管理：</a:t>
            </a:r>
            <a:r>
              <a:rPr lang="zh-CN" altLang="en-US" sz="2400" dirty="0">
                <a:solidFill>
                  <a:srgbClr val="FF0000"/>
                </a:solidFill>
                <a:latin typeface="Calibri" panose="020F0502020204030204" charset="0"/>
              </a:rPr>
              <a:t>①</a:t>
            </a:r>
            <a:r>
              <a:rPr lang="zh-CN" altLang="en-US" sz="2400" dirty="0">
                <a:solidFill>
                  <a:srgbClr val="FF0000"/>
                </a:solidFill>
              </a:rPr>
              <a:t>唐太宗打败东、西突厥；</a:t>
            </a:r>
            <a:r>
              <a:rPr lang="zh-CN" altLang="en-US" sz="2400" dirty="0">
                <a:solidFill>
                  <a:srgbClr val="FF0000"/>
                </a:solidFill>
                <a:latin typeface="Calibri" panose="020F0502020204030204" charset="0"/>
                <a:sym typeface="+mn-ea"/>
              </a:rPr>
              <a:t>②</a:t>
            </a:r>
            <a:r>
              <a:rPr lang="zh-CN" altLang="en-US" sz="2400" dirty="0">
                <a:solidFill>
                  <a:srgbClr val="FF0000"/>
                </a:solidFill>
              </a:rPr>
              <a:t>设置安西都护府、北庭都护府</a:t>
            </a:r>
          </a:p>
          <a:p>
            <a:pPr algn="l">
              <a:lnSpc>
                <a:spcPct val="100000"/>
              </a:lnSpc>
              <a:spcAft>
                <a:spcPts val="600"/>
              </a:spcAft>
              <a:buClrTx/>
              <a:buSzTx/>
            </a:pPr>
            <a:r>
              <a:rPr lang="zh-CN" altLang="en-US" sz="2400" dirty="0"/>
              <a:t>7、</a:t>
            </a:r>
            <a:r>
              <a:rPr lang="zh-CN" altLang="en-US" sz="2400" dirty="0">
                <a:sym typeface="+mn-ea"/>
              </a:rPr>
              <a:t>元朝的中央机构有哪三个？行政：</a:t>
            </a:r>
            <a:r>
              <a:rPr lang="zh-CN" altLang="en-US" sz="2400" dirty="0">
                <a:solidFill>
                  <a:srgbClr val="FF0000"/>
                </a:solidFill>
                <a:sym typeface="+mn-ea"/>
              </a:rPr>
              <a:t>中书省</a:t>
            </a:r>
            <a:r>
              <a:rPr lang="en-US" altLang="zh-CN" sz="2400" dirty="0">
                <a:solidFill>
                  <a:srgbClr val="FF0000"/>
                </a:solidFill>
                <a:sym typeface="+mn-ea"/>
              </a:rPr>
              <a:t>  </a:t>
            </a:r>
            <a:r>
              <a:rPr lang="zh-CN" altLang="en-US" sz="2400" dirty="0">
                <a:sym typeface="+mn-ea"/>
              </a:rPr>
              <a:t>军事：</a:t>
            </a:r>
            <a:r>
              <a:rPr lang="zh-CN" altLang="en-US" sz="2400" dirty="0">
                <a:solidFill>
                  <a:srgbClr val="FF0000"/>
                </a:solidFill>
                <a:sym typeface="+mn-ea"/>
              </a:rPr>
              <a:t>枢密院 </a:t>
            </a:r>
            <a:r>
              <a:rPr lang="en-US" altLang="zh-CN" sz="2400" dirty="0">
                <a:sym typeface="+mn-ea"/>
              </a:rPr>
              <a:t> </a:t>
            </a:r>
            <a:r>
              <a:rPr lang="zh-CN" altLang="en-US" sz="2400" dirty="0">
                <a:sym typeface="+mn-ea"/>
              </a:rPr>
              <a:t>监察：</a:t>
            </a:r>
            <a:r>
              <a:rPr lang="zh-CN" altLang="en-US" sz="2400" dirty="0">
                <a:solidFill>
                  <a:srgbClr val="FF0000"/>
                </a:solidFill>
                <a:sym typeface="+mn-ea"/>
              </a:rPr>
              <a:t>御史台</a:t>
            </a:r>
            <a:endParaRPr lang="zh-CN" altLang="en-US" sz="2400" dirty="0">
              <a:solidFill>
                <a:srgbClr val="FF0000"/>
              </a:solidFill>
            </a:endParaRPr>
          </a:p>
          <a:p>
            <a:pPr algn="l">
              <a:lnSpc>
                <a:spcPct val="100000"/>
              </a:lnSpc>
              <a:spcAft>
                <a:spcPts val="600"/>
              </a:spcAft>
              <a:buClrTx/>
              <a:buSzTx/>
            </a:pPr>
            <a:r>
              <a:rPr lang="zh-CN" altLang="en-US" sz="2400" dirty="0">
                <a:sym typeface="+mn-ea"/>
              </a:rPr>
              <a:t>8、宋朝海上丝绸之路最远到达哪里？</a:t>
            </a:r>
            <a:r>
              <a:rPr lang="zh-CN" altLang="en-US" sz="2400" dirty="0">
                <a:solidFill>
                  <a:srgbClr val="FF0000"/>
                </a:solidFill>
                <a:sym typeface="+mn-ea"/>
              </a:rPr>
              <a:t>非洲东海岸和阿拉伯半岛</a:t>
            </a:r>
          </a:p>
          <a:p>
            <a:pPr algn="l">
              <a:lnSpc>
                <a:spcPct val="100000"/>
              </a:lnSpc>
              <a:spcAft>
                <a:spcPts val="600"/>
              </a:spcAft>
              <a:buClrTx/>
              <a:buSzTx/>
            </a:pPr>
            <a:r>
              <a:rPr lang="zh-CN" altLang="en-US" sz="2400" u="sng" dirty="0">
                <a:solidFill>
                  <a:srgbClr val="FF0000"/>
                </a:solidFill>
                <a:sym typeface="+mn-ea"/>
              </a:rPr>
              <a:t>郑和：非洲东海岸和红海沿岸</a:t>
            </a:r>
            <a:endParaRPr lang="zh-CN" altLang="en-US" sz="2400" dirty="0">
              <a:solidFill>
                <a:srgbClr val="FF0000"/>
              </a:solidFill>
              <a:sym typeface="+mn-ea"/>
            </a:endParaRPr>
          </a:p>
          <a:p>
            <a:pPr algn="l">
              <a:lnSpc>
                <a:spcPct val="100000"/>
              </a:lnSpc>
              <a:spcAft>
                <a:spcPts val="600"/>
              </a:spcAft>
              <a:buClrTx/>
              <a:buSzTx/>
            </a:pPr>
            <a:r>
              <a:rPr lang="zh-CN" altLang="en-US" sz="2400" dirty="0">
                <a:sym typeface="+mn-ea"/>
              </a:rPr>
              <a:t>9、长篇章回体小数的开山之作：</a:t>
            </a:r>
            <a:r>
              <a:rPr lang="zh-CN" altLang="en-US" sz="2400" dirty="0">
                <a:solidFill>
                  <a:srgbClr val="FF0000"/>
                </a:solidFill>
                <a:sym typeface="+mn-ea"/>
              </a:rPr>
              <a:t>D《三国演义》</a:t>
            </a:r>
          </a:p>
          <a:p>
            <a:pPr algn="l">
              <a:lnSpc>
                <a:spcPct val="100000"/>
              </a:lnSpc>
              <a:spcAft>
                <a:spcPts val="600"/>
              </a:spcAft>
              <a:buClrTx/>
              <a:buSzTx/>
            </a:pPr>
            <a:r>
              <a:rPr lang="zh-CN" altLang="en-US" sz="2400" dirty="0">
                <a:sym typeface="+mn-ea"/>
              </a:rPr>
              <a:t>10、以下哪些发明由阿拉伯人传播到欧洲？</a:t>
            </a:r>
            <a:r>
              <a:rPr lang="zh-CN" altLang="en-US" sz="2400" dirty="0">
                <a:solidFill>
                  <a:srgbClr val="FF0000"/>
                </a:solidFill>
                <a:sym typeface="+mn-ea"/>
              </a:rPr>
              <a:t>B指南针C火药</a:t>
            </a:r>
          </a:p>
          <a:p>
            <a:pPr algn="l">
              <a:lnSpc>
                <a:spcPct val="100000"/>
              </a:lnSpc>
              <a:spcAft>
                <a:spcPts val="600"/>
              </a:spcAft>
              <a:buClrTx/>
              <a:buSzTx/>
            </a:pPr>
            <a:r>
              <a:rPr lang="zh-CN" altLang="en-US" sz="2400" u="sng" dirty="0">
                <a:solidFill>
                  <a:srgbClr val="FF0000"/>
                </a:solidFill>
                <a:sym typeface="+mn-ea"/>
              </a:rPr>
              <a:t>A活字印刷术（蒙古人西征）</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120650" y="273050"/>
            <a:ext cx="12071350" cy="6918325"/>
          </a:xfrm>
        </p:spPr>
        <p:txBody>
          <a:bodyPr>
            <a:noAutofit/>
          </a:bodyPr>
          <a:lstStyle/>
          <a:p>
            <a:pPr algn="l">
              <a:lnSpc>
                <a:spcPct val="100000"/>
              </a:lnSpc>
              <a:spcAft>
                <a:spcPts val="600"/>
              </a:spcAft>
              <a:buClrTx/>
              <a:buSzTx/>
            </a:pPr>
            <a:r>
              <a:rPr lang="en-US" altLang="zh-CN" sz="2400" dirty="0"/>
              <a:t>1</a:t>
            </a:r>
            <a:r>
              <a:rPr lang="zh-CN" altLang="en-US" sz="2400" dirty="0"/>
              <a:t>、契丹族的首领是</a:t>
            </a:r>
            <a:r>
              <a:rPr lang="en-US" altLang="zh-CN" sz="2400" dirty="0">
                <a:sym typeface="+mn-ea"/>
              </a:rPr>
              <a:t> </a:t>
            </a:r>
            <a:r>
              <a:rPr lang="zh-CN" altLang="en-US" sz="2400" dirty="0">
                <a:solidFill>
                  <a:srgbClr val="FF0000"/>
                </a:solidFill>
                <a:sym typeface="+mn-ea"/>
              </a:rPr>
              <a:t>E耶律阿保机</a:t>
            </a:r>
            <a:endParaRPr lang="zh-CN" altLang="en-US" sz="2400" dirty="0">
              <a:solidFill>
                <a:srgbClr val="FF0000"/>
              </a:solidFill>
            </a:endParaRPr>
          </a:p>
          <a:p>
            <a:pPr algn="l">
              <a:lnSpc>
                <a:spcPct val="100000"/>
              </a:lnSpc>
              <a:spcAft>
                <a:spcPts val="600"/>
              </a:spcAft>
              <a:buClrTx/>
              <a:buSzTx/>
            </a:pPr>
            <a:r>
              <a:rPr lang="en-US" altLang="zh-CN" sz="2400" dirty="0"/>
              <a:t>2</a:t>
            </a:r>
            <a:r>
              <a:rPr lang="zh-CN" altLang="en-US" sz="2400" dirty="0"/>
              <a:t>、建立元朝的是</a:t>
            </a:r>
            <a:r>
              <a:rPr lang="zh-CN" altLang="en-US" sz="2400" dirty="0">
                <a:solidFill>
                  <a:srgbClr val="FF0000"/>
                </a:solidFill>
                <a:sym typeface="+mn-ea"/>
              </a:rPr>
              <a:t>H忽必烈</a:t>
            </a:r>
            <a:endParaRPr lang="zh-CN" altLang="en-US" sz="2400" dirty="0">
              <a:solidFill>
                <a:srgbClr val="FF0000"/>
              </a:solidFill>
            </a:endParaRPr>
          </a:p>
          <a:p>
            <a:pPr algn="l">
              <a:lnSpc>
                <a:spcPct val="100000"/>
              </a:lnSpc>
              <a:spcAft>
                <a:spcPts val="600"/>
              </a:spcAft>
              <a:buClrTx/>
              <a:buSzTx/>
            </a:pPr>
            <a:r>
              <a:rPr lang="en-US" altLang="zh-CN" sz="2400" dirty="0"/>
              <a:t>3</a:t>
            </a:r>
            <a:r>
              <a:rPr lang="zh-CN" altLang="en-US" sz="2400" dirty="0"/>
              <a:t>、改国号改族名为清的是</a:t>
            </a:r>
            <a:r>
              <a:rPr lang="zh-CN" altLang="en-US" sz="2400" dirty="0">
                <a:solidFill>
                  <a:srgbClr val="FF0000"/>
                </a:solidFill>
                <a:sym typeface="+mn-ea"/>
              </a:rPr>
              <a:t>A皇太极</a:t>
            </a:r>
            <a:endParaRPr lang="zh-CN" altLang="en-US" sz="2400" dirty="0">
              <a:solidFill>
                <a:srgbClr val="FF0000"/>
              </a:solidFill>
            </a:endParaRPr>
          </a:p>
          <a:p>
            <a:pPr>
              <a:lnSpc>
                <a:spcPct val="100000"/>
              </a:lnSpc>
              <a:spcAft>
                <a:spcPts val="600"/>
              </a:spcAft>
            </a:pPr>
            <a:r>
              <a:rPr lang="en-US" altLang="zh-CN" sz="2400" dirty="0"/>
              <a:t>4</a:t>
            </a:r>
            <a:r>
              <a:rPr lang="zh-CN" altLang="en-US" sz="2400" dirty="0"/>
              <a:t>、设置南书房的是</a:t>
            </a:r>
            <a:r>
              <a:rPr lang="zh-CN" altLang="en-US" sz="2400" dirty="0">
                <a:solidFill>
                  <a:srgbClr val="FF0000"/>
                </a:solidFill>
                <a:sym typeface="+mn-ea"/>
              </a:rPr>
              <a:t>D康熙</a:t>
            </a:r>
            <a:r>
              <a:rPr lang="en-US" altLang="zh-CN" sz="2400" dirty="0">
                <a:sym typeface="+mn-ea"/>
              </a:rPr>
              <a:t>  </a:t>
            </a:r>
            <a:endParaRPr lang="zh-CN" altLang="en-US" sz="2400" dirty="0"/>
          </a:p>
          <a:p>
            <a:pPr>
              <a:lnSpc>
                <a:spcPct val="100000"/>
              </a:lnSpc>
              <a:spcAft>
                <a:spcPts val="600"/>
              </a:spcAft>
            </a:pPr>
            <a:r>
              <a:rPr lang="en-US" altLang="zh-CN" sz="2400" dirty="0"/>
              <a:t>5</a:t>
            </a:r>
            <a:r>
              <a:rPr lang="zh-CN" altLang="en-US" sz="2400" dirty="0"/>
              <a:t>、蒙古族的土尔扈特部首领渥巴锡回归是</a:t>
            </a:r>
            <a:r>
              <a:rPr lang="zh-CN" altLang="en-US" sz="2400" dirty="0">
                <a:solidFill>
                  <a:srgbClr val="FF0000"/>
                </a:solidFill>
                <a:sym typeface="+mn-ea"/>
              </a:rPr>
              <a:t>K乾隆</a:t>
            </a:r>
            <a:endParaRPr lang="zh-CN" altLang="en-US" sz="2400" dirty="0">
              <a:solidFill>
                <a:srgbClr val="FF0000"/>
              </a:solidFill>
            </a:endParaRPr>
          </a:p>
          <a:p>
            <a:pPr>
              <a:lnSpc>
                <a:spcPct val="100000"/>
              </a:lnSpc>
              <a:spcAft>
                <a:spcPts val="600"/>
              </a:spcAft>
            </a:pPr>
            <a:r>
              <a:rPr lang="en-US" altLang="zh-CN" sz="2400" dirty="0">
                <a:sym typeface="+mn-ea"/>
              </a:rPr>
              <a:t>  </a:t>
            </a:r>
            <a:r>
              <a:rPr lang="en-US" altLang="zh-CN" sz="2400" dirty="0"/>
              <a:t>B</a:t>
            </a:r>
            <a:r>
              <a:rPr lang="zh-CN" altLang="en-US" sz="2400" dirty="0"/>
              <a:t>铁木真（统一蒙古草原）</a:t>
            </a:r>
            <a:r>
              <a:rPr lang="en-US" altLang="zh-CN" sz="2400" dirty="0"/>
              <a:t>   C</a:t>
            </a:r>
            <a:r>
              <a:rPr lang="zh-CN" altLang="en-US" sz="2400" dirty="0">
                <a:sym typeface="+mn-ea"/>
              </a:rPr>
              <a:t>顺治（册封达赖）</a:t>
            </a:r>
            <a:r>
              <a:rPr lang="en-US" altLang="zh-CN" sz="2400" dirty="0">
                <a:sym typeface="+mn-ea"/>
              </a:rPr>
              <a:t>   </a:t>
            </a:r>
            <a:r>
              <a:rPr lang="en-US" altLang="zh-CN" sz="2400" dirty="0"/>
              <a:t> F</a:t>
            </a:r>
            <a:r>
              <a:rPr lang="zh-CN" altLang="en-US" sz="2400" dirty="0"/>
              <a:t>努尔哈赤（建立大金政权）</a:t>
            </a:r>
            <a:r>
              <a:rPr lang="en-US" altLang="zh-CN" sz="2400" dirty="0"/>
              <a:t> G</a:t>
            </a:r>
            <a:r>
              <a:rPr lang="zh-CN" altLang="en-US" sz="2400" dirty="0">
                <a:sym typeface="+mn-ea"/>
              </a:rPr>
              <a:t>元昊（西夏族首领）</a:t>
            </a:r>
            <a:r>
              <a:rPr lang="en-US" altLang="zh-CN" sz="2400" dirty="0">
                <a:sym typeface="+mn-ea"/>
              </a:rPr>
              <a:t> I</a:t>
            </a:r>
            <a:r>
              <a:rPr lang="zh-CN" altLang="en-US" sz="2400" dirty="0">
                <a:sym typeface="+mn-ea"/>
              </a:rPr>
              <a:t>雍正（军机处、驻藏大臣）</a:t>
            </a:r>
            <a:r>
              <a:rPr lang="en-US" altLang="zh-CN" sz="2400" dirty="0">
                <a:sym typeface="+mn-ea"/>
              </a:rPr>
              <a:t>   </a:t>
            </a:r>
          </a:p>
          <a:p>
            <a:pPr>
              <a:lnSpc>
                <a:spcPct val="100000"/>
              </a:lnSpc>
              <a:spcAft>
                <a:spcPts val="600"/>
              </a:spcAft>
            </a:pPr>
            <a:r>
              <a:rPr lang="en-US" altLang="zh-CN" sz="2400" dirty="0">
                <a:sym typeface="+mn-ea"/>
              </a:rPr>
              <a:t>J</a:t>
            </a:r>
            <a:r>
              <a:rPr lang="zh-CN" altLang="en-US" sz="2400" dirty="0">
                <a:sym typeface="+mn-ea"/>
              </a:rPr>
              <a:t>完颜阿骨打（金的首领）</a:t>
            </a:r>
            <a:r>
              <a:rPr lang="en-US" altLang="zh-CN" sz="2400" dirty="0">
                <a:sym typeface="+mn-ea"/>
              </a:rPr>
              <a:t>    </a:t>
            </a:r>
            <a:endParaRPr lang="zh-CN" altLang="en-US" sz="2400" dirty="0"/>
          </a:p>
          <a:p>
            <a:pPr algn="l">
              <a:lnSpc>
                <a:spcPct val="100000"/>
              </a:lnSpc>
              <a:spcAft>
                <a:spcPts val="600"/>
              </a:spcAft>
              <a:buClrTx/>
              <a:buSzTx/>
            </a:pPr>
            <a:r>
              <a:rPr lang="en-US" altLang="zh-CN" sz="2400" dirty="0"/>
              <a:t>6</a:t>
            </a:r>
            <a:r>
              <a:rPr lang="zh-CN" altLang="en-US" sz="2400" dirty="0"/>
              <a:t>、创立进士科的皇帝是：</a:t>
            </a:r>
            <a:r>
              <a:rPr lang="en-US" altLang="zh-CN" sz="2400" dirty="0"/>
              <a:t> </a:t>
            </a:r>
            <a:r>
              <a:rPr lang="zh-CN" altLang="en-US" sz="2400" dirty="0">
                <a:solidFill>
                  <a:srgbClr val="FF0000"/>
                </a:solidFill>
              </a:rPr>
              <a:t>B隋炀帝</a:t>
            </a:r>
          </a:p>
          <a:p>
            <a:pPr algn="l">
              <a:lnSpc>
                <a:spcPct val="100000"/>
              </a:lnSpc>
              <a:spcAft>
                <a:spcPts val="600"/>
              </a:spcAft>
              <a:buClrTx/>
              <a:buSzTx/>
            </a:pPr>
            <a:r>
              <a:rPr lang="en-US" altLang="zh-CN" sz="2400" dirty="0">
                <a:highlight>
                  <a:srgbClr val="FFFF00"/>
                </a:highlight>
              </a:rPr>
              <a:t>7</a:t>
            </a:r>
            <a:r>
              <a:rPr lang="zh-CN" altLang="en-US" sz="2400" dirty="0">
                <a:highlight>
                  <a:srgbClr val="FFFF00"/>
                </a:highlight>
              </a:rPr>
              <a:t>、大运河的目的：</a:t>
            </a:r>
            <a:r>
              <a:rPr lang="zh-CN" altLang="en-US" sz="2400" dirty="0">
                <a:solidFill>
                  <a:srgbClr val="FF0000"/>
                </a:solidFill>
                <a:highlight>
                  <a:srgbClr val="FFFF00"/>
                </a:highlight>
              </a:rPr>
              <a:t>加强南北交通，巩固隋对全国的统治</a:t>
            </a:r>
          </a:p>
          <a:p>
            <a:pPr>
              <a:lnSpc>
                <a:spcPct val="100000"/>
              </a:lnSpc>
              <a:spcAft>
                <a:spcPts val="600"/>
              </a:spcAft>
            </a:pPr>
            <a:r>
              <a:rPr lang="en-US" altLang="zh-CN" sz="2400" dirty="0"/>
              <a:t>8</a:t>
            </a:r>
            <a:r>
              <a:rPr lang="zh-CN" altLang="en-US" sz="2400" dirty="0"/>
              <a:t>、唐朝的西域的管理方式有：</a:t>
            </a:r>
            <a:r>
              <a:rPr lang="zh-CN" altLang="en-US" sz="2400" dirty="0">
                <a:solidFill>
                  <a:srgbClr val="FF0000"/>
                </a:solidFill>
              </a:rPr>
              <a:t>太宗打败东、西突厥；设安西都护府和北庭都护府</a:t>
            </a:r>
          </a:p>
          <a:p>
            <a:pPr>
              <a:lnSpc>
                <a:spcPct val="100000"/>
              </a:lnSpc>
              <a:spcAft>
                <a:spcPts val="600"/>
              </a:spcAft>
            </a:pPr>
            <a:r>
              <a:rPr lang="en-US" altLang="zh-CN" sz="2400" dirty="0"/>
              <a:t>9</a:t>
            </a:r>
            <a:r>
              <a:rPr lang="zh-CN" altLang="en-US" sz="2400" dirty="0"/>
              <a:t>、元朝的中央机构有哪三个？</a:t>
            </a:r>
            <a:r>
              <a:rPr lang="zh-CN" altLang="en-US" sz="2400" dirty="0">
                <a:sym typeface="+mn-ea"/>
              </a:rPr>
              <a:t>行政：</a:t>
            </a:r>
            <a:r>
              <a:rPr lang="zh-CN" altLang="en-US" sz="2400" dirty="0">
                <a:solidFill>
                  <a:srgbClr val="FF0000"/>
                </a:solidFill>
                <a:sym typeface="+mn-ea"/>
              </a:rPr>
              <a:t>中书省</a:t>
            </a:r>
            <a:r>
              <a:rPr lang="en-US" altLang="zh-CN" sz="2400" dirty="0">
                <a:solidFill>
                  <a:srgbClr val="FF0000"/>
                </a:solidFill>
                <a:sym typeface="+mn-ea"/>
              </a:rPr>
              <a:t>  </a:t>
            </a:r>
            <a:r>
              <a:rPr lang="zh-CN" altLang="en-US" sz="2400" dirty="0">
                <a:sym typeface="+mn-ea"/>
              </a:rPr>
              <a:t>军事：</a:t>
            </a:r>
            <a:r>
              <a:rPr lang="zh-CN" altLang="en-US" sz="2400" dirty="0">
                <a:solidFill>
                  <a:srgbClr val="FF0000"/>
                </a:solidFill>
                <a:sym typeface="+mn-ea"/>
              </a:rPr>
              <a:t>枢密院 </a:t>
            </a:r>
            <a:r>
              <a:rPr lang="en-US" altLang="zh-CN" sz="2400" dirty="0">
                <a:sym typeface="+mn-ea"/>
              </a:rPr>
              <a:t> </a:t>
            </a:r>
            <a:r>
              <a:rPr lang="zh-CN" altLang="en-US" sz="2400" dirty="0">
                <a:sym typeface="+mn-ea"/>
              </a:rPr>
              <a:t>监察：</a:t>
            </a:r>
            <a:r>
              <a:rPr lang="zh-CN" altLang="en-US" sz="2400" dirty="0">
                <a:solidFill>
                  <a:srgbClr val="FF0000"/>
                </a:solidFill>
                <a:sym typeface="+mn-ea"/>
              </a:rPr>
              <a:t>御史台</a:t>
            </a:r>
            <a:endParaRPr lang="zh-CN" altLang="en-US" sz="2400" dirty="0">
              <a:solidFill>
                <a:srgbClr val="FF0000"/>
              </a:solidFill>
            </a:endParaRPr>
          </a:p>
          <a:p>
            <a:pPr>
              <a:lnSpc>
                <a:spcPct val="100000"/>
              </a:lnSpc>
              <a:spcAft>
                <a:spcPts val="600"/>
              </a:spcAft>
            </a:pPr>
            <a:r>
              <a:rPr lang="en-US" altLang="zh-CN" sz="2400" dirty="0"/>
              <a:t>10</a:t>
            </a:r>
            <a:r>
              <a:rPr lang="zh-CN" altLang="en-US" sz="2400" dirty="0"/>
              <a:t>、中国十七世纪工业百科全书是：</a:t>
            </a:r>
            <a:r>
              <a:rPr lang="zh-CN" altLang="en-US" sz="2400" dirty="0">
                <a:solidFill>
                  <a:srgbClr val="FF0000"/>
                </a:solidFill>
              </a:rPr>
              <a:t>《天工开物》</a:t>
            </a:r>
            <a:r>
              <a:rPr lang="en-US" altLang="zh-CN" sz="2400" dirty="0">
                <a:solidFill>
                  <a:srgbClr val="FF0000"/>
                </a:solidFill>
              </a:rPr>
              <a:t>   </a:t>
            </a:r>
            <a:r>
              <a:rPr lang="en-US" altLang="zh-CN" sz="2400" dirty="0"/>
              <a:t> </a:t>
            </a:r>
            <a:r>
              <a:rPr lang="zh-CN" altLang="en-US" sz="2400" dirty="0"/>
              <a:t>作者是：</a:t>
            </a:r>
            <a:r>
              <a:rPr lang="zh-CN" altLang="en-US" sz="2400" dirty="0">
                <a:solidFill>
                  <a:srgbClr val="FF0000"/>
                </a:solidFill>
              </a:rPr>
              <a:t>宋应星</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a:xfrm>
            <a:off x="255905" y="66675"/>
            <a:ext cx="11680190" cy="6189980"/>
          </a:xfrm>
        </p:spPr>
        <p:txBody>
          <a:bodyPr>
            <a:noAutofit/>
          </a:bodyPr>
          <a:lstStyle/>
          <a:p>
            <a:pPr>
              <a:lnSpc>
                <a:spcPct val="100000"/>
              </a:lnSpc>
            </a:pPr>
            <a:r>
              <a:rPr lang="en-US" altLang="zh-CN" sz="2800" dirty="0">
                <a:highlight>
                  <a:srgbClr val="FFFF00"/>
                </a:highlight>
              </a:rPr>
              <a:t>1</a:t>
            </a:r>
            <a:r>
              <a:rPr lang="zh-CN" altLang="en-US" sz="2800" dirty="0">
                <a:highlight>
                  <a:srgbClr val="FFFF00"/>
                </a:highlight>
              </a:rPr>
              <a:t>、辽宋夏金元时期（目录标题）：</a:t>
            </a:r>
            <a:r>
              <a:rPr lang="zh-CN" altLang="en-US" sz="2800" dirty="0">
                <a:solidFill>
                  <a:srgbClr val="FF0000"/>
                </a:solidFill>
                <a:highlight>
                  <a:srgbClr val="FFFF00"/>
                </a:highlight>
              </a:rPr>
              <a:t>民族关系发展和社会变化</a:t>
            </a:r>
          </a:p>
          <a:p>
            <a:pPr>
              <a:lnSpc>
                <a:spcPct val="100000"/>
              </a:lnSpc>
            </a:pPr>
            <a:r>
              <a:rPr lang="en-US" altLang="zh-CN" sz="2800" dirty="0"/>
              <a:t>2</a:t>
            </a:r>
            <a:r>
              <a:rPr lang="zh-CN" altLang="en-US" sz="2800" dirty="0"/>
              <a:t>、经济中心南移：</a:t>
            </a:r>
            <a:r>
              <a:rPr lang="en-US" altLang="zh-CN" sz="2800" dirty="0"/>
              <a:t>  </a:t>
            </a:r>
            <a:r>
              <a:rPr lang="zh-CN" altLang="en-US" sz="2800" dirty="0">
                <a:solidFill>
                  <a:srgbClr val="FF0000"/>
                </a:solidFill>
              </a:rPr>
              <a:t>唐末安史之乱</a:t>
            </a:r>
            <a:r>
              <a:rPr lang="zh-CN" altLang="en-US" sz="2800" dirty="0"/>
              <a:t>（开始）</a:t>
            </a:r>
            <a:r>
              <a:rPr lang="en-US" altLang="zh-CN" sz="2800" dirty="0"/>
              <a:t>—— </a:t>
            </a:r>
            <a:r>
              <a:rPr lang="zh-CN" altLang="en-US" sz="2800" dirty="0">
                <a:solidFill>
                  <a:srgbClr val="FF0000"/>
                </a:solidFill>
              </a:rPr>
              <a:t>南宋</a:t>
            </a:r>
            <a:r>
              <a:rPr lang="zh-CN" altLang="en-US" sz="2800" dirty="0"/>
              <a:t>（结束）</a:t>
            </a:r>
          </a:p>
          <a:p>
            <a:pPr>
              <a:lnSpc>
                <a:spcPct val="100000"/>
              </a:lnSpc>
            </a:pPr>
            <a:r>
              <a:rPr lang="en-US" altLang="zh-CN" sz="2800" dirty="0">
                <a:highlight>
                  <a:srgbClr val="FFFF00"/>
                </a:highlight>
              </a:rPr>
              <a:t>3</a:t>
            </a:r>
            <a:r>
              <a:rPr lang="zh-CN" altLang="en-US" sz="2800" dirty="0">
                <a:highlight>
                  <a:srgbClr val="FFFF00"/>
                </a:highlight>
              </a:rPr>
              <a:t>、郑和下西洋的时间：</a:t>
            </a:r>
            <a:r>
              <a:rPr lang="zh-CN" altLang="en-US" sz="2800" dirty="0">
                <a:solidFill>
                  <a:srgbClr val="FF0000"/>
                </a:solidFill>
                <a:highlight>
                  <a:srgbClr val="FFFF00"/>
                </a:highlight>
              </a:rPr>
              <a:t>1405-1433</a:t>
            </a:r>
          </a:p>
          <a:p>
            <a:pPr>
              <a:lnSpc>
                <a:spcPct val="100000"/>
              </a:lnSpc>
            </a:pPr>
            <a:r>
              <a:rPr lang="en-US" altLang="zh-CN" sz="2800" dirty="0"/>
              <a:t>4</a:t>
            </a:r>
            <a:r>
              <a:rPr lang="zh-CN" altLang="en-US" sz="2800" dirty="0"/>
              <a:t>、《农政全书》的作者：</a:t>
            </a:r>
            <a:r>
              <a:rPr lang="zh-CN" altLang="en-US" sz="2800" dirty="0">
                <a:solidFill>
                  <a:srgbClr val="FF0000"/>
                </a:solidFill>
              </a:rPr>
              <a:t>徐光启</a:t>
            </a:r>
            <a:endParaRPr lang="zh-CN" altLang="en-US" sz="2800" dirty="0"/>
          </a:p>
          <a:p>
            <a:pPr>
              <a:lnSpc>
                <a:spcPct val="100000"/>
              </a:lnSpc>
            </a:pPr>
            <a:r>
              <a:rPr lang="en-US" altLang="zh-CN" sz="2800" dirty="0"/>
              <a:t>5</a:t>
            </a:r>
            <a:r>
              <a:rPr lang="zh-CN" altLang="en-US" sz="2800" dirty="0"/>
              <a:t>、《资治通鉴》朝代：</a:t>
            </a:r>
            <a:r>
              <a:rPr lang="zh-CN" altLang="en-US" sz="2800" dirty="0">
                <a:solidFill>
                  <a:srgbClr val="FF0000"/>
                </a:solidFill>
              </a:rPr>
              <a:t>北宋 </a:t>
            </a:r>
            <a:r>
              <a:rPr lang="en-US" altLang="zh-CN" sz="2800" dirty="0"/>
              <a:t>      </a:t>
            </a:r>
            <a:r>
              <a:rPr lang="zh-CN" altLang="en-US" sz="2800" dirty="0"/>
              <a:t>记述</a:t>
            </a:r>
            <a:r>
              <a:rPr lang="zh-CN" altLang="en-US" sz="2800" dirty="0">
                <a:solidFill>
                  <a:srgbClr val="FF0000"/>
                </a:solidFill>
              </a:rPr>
              <a:t>战国-五代</a:t>
            </a:r>
          </a:p>
          <a:p>
            <a:pPr algn="l">
              <a:lnSpc>
                <a:spcPct val="100000"/>
              </a:lnSpc>
              <a:buClrTx/>
              <a:buSzTx/>
            </a:pPr>
            <a:r>
              <a:rPr lang="en-US" altLang="zh-CN" sz="2800" dirty="0"/>
              <a:t>6</a:t>
            </a:r>
            <a:r>
              <a:rPr lang="zh-CN" altLang="en-US" sz="2800" dirty="0"/>
              <a:t>、唐朝农业发展的表现（</a:t>
            </a:r>
            <a:r>
              <a:rPr lang="en-US" altLang="zh-CN" sz="2800" dirty="0"/>
              <a:t>2</a:t>
            </a:r>
            <a:r>
              <a:rPr lang="zh-CN" altLang="en-US" sz="2800" dirty="0"/>
              <a:t>点）：</a:t>
            </a:r>
            <a:r>
              <a:rPr lang="zh-CN" altLang="en-US" sz="2800" dirty="0">
                <a:solidFill>
                  <a:srgbClr val="FF0000"/>
                </a:solidFill>
              </a:rPr>
              <a:t>曲辕犁、筒车</a:t>
            </a:r>
          </a:p>
          <a:p>
            <a:pPr>
              <a:lnSpc>
                <a:spcPct val="100000"/>
              </a:lnSpc>
            </a:pPr>
            <a:r>
              <a:rPr lang="en-US" altLang="zh-CN" sz="2800" dirty="0"/>
              <a:t>7</a:t>
            </a:r>
            <a:r>
              <a:rPr lang="zh-CN" altLang="en-US" sz="2800" dirty="0"/>
              <a:t>、科举制正式创立的皇帝：</a:t>
            </a:r>
            <a:r>
              <a:rPr lang="zh-CN" altLang="en-US" sz="2800" dirty="0">
                <a:solidFill>
                  <a:srgbClr val="FF0000"/>
                </a:solidFill>
              </a:rPr>
              <a:t>隋炀帝</a:t>
            </a:r>
            <a:endParaRPr lang="zh-CN" altLang="en-US" sz="2800" dirty="0"/>
          </a:p>
          <a:p>
            <a:pPr>
              <a:lnSpc>
                <a:spcPct val="100000"/>
              </a:lnSpc>
            </a:pPr>
            <a:r>
              <a:rPr lang="en-US" altLang="zh-CN" sz="2800" dirty="0"/>
              <a:t>8</a:t>
            </a:r>
            <a:r>
              <a:rPr lang="zh-CN" altLang="en-US" sz="2800" dirty="0"/>
              <a:t>、</a:t>
            </a:r>
            <a:r>
              <a:rPr lang="zh-CN" altLang="en-US" sz="2800" dirty="0">
                <a:sym typeface="+mn-ea"/>
              </a:rPr>
              <a:t>清朝雍正对西南地区的管理措施：</a:t>
            </a:r>
            <a:r>
              <a:rPr lang="zh-CN" altLang="en-US" sz="2800" dirty="0">
                <a:solidFill>
                  <a:srgbClr val="FF0000"/>
                </a:solidFill>
                <a:sym typeface="+mn-ea"/>
              </a:rPr>
              <a:t>驻藏大臣</a:t>
            </a:r>
          </a:p>
          <a:p>
            <a:pPr>
              <a:lnSpc>
                <a:spcPct val="100000"/>
              </a:lnSpc>
            </a:pPr>
            <a:r>
              <a:rPr lang="zh-CN" altLang="en-US" sz="2800" dirty="0"/>
              <a:t>清朝疆域四至：西跨</a:t>
            </a:r>
            <a:r>
              <a:rPr lang="en-US" altLang="zh-CN" sz="2800" dirty="0"/>
              <a:t>9</a:t>
            </a:r>
            <a:r>
              <a:rPr lang="zh-CN" altLang="en-US" sz="2800" dirty="0"/>
              <a:t>（</a:t>
            </a:r>
            <a:r>
              <a:rPr lang="en-US" altLang="zh-CN" sz="2800" dirty="0"/>
              <a:t> </a:t>
            </a:r>
            <a:r>
              <a:rPr lang="zh-CN" altLang="en-US" sz="2800" dirty="0">
                <a:solidFill>
                  <a:srgbClr val="FF0000"/>
                </a:solidFill>
              </a:rPr>
              <a:t>葱岭</a:t>
            </a:r>
            <a:r>
              <a:rPr lang="zh-CN" altLang="en-US" sz="2800" dirty="0"/>
              <a:t>），北接</a:t>
            </a:r>
            <a:r>
              <a:rPr lang="en-US" altLang="zh-CN" sz="2800" dirty="0"/>
              <a:t>10</a:t>
            </a:r>
            <a:r>
              <a:rPr lang="zh-CN" altLang="en-US" sz="2800" dirty="0"/>
              <a:t>（</a:t>
            </a:r>
            <a:r>
              <a:rPr lang="en-US" altLang="zh-CN" sz="2800" dirty="0"/>
              <a:t> </a:t>
            </a:r>
            <a:r>
              <a:rPr lang="zh-CN" altLang="en-US" sz="2800" dirty="0">
                <a:solidFill>
                  <a:srgbClr val="FF0000"/>
                </a:solidFill>
              </a:rPr>
              <a:t>西伯利亚 </a:t>
            </a:r>
            <a:r>
              <a:rPr lang="zh-CN" altLang="en-US" sz="2800" dirty="0"/>
              <a:t>），东临太平洋，南到南海诸岛。</a:t>
            </a:r>
          </a:p>
          <a:p>
            <a:pPr>
              <a:lnSpc>
                <a:spcPct val="100000"/>
              </a:lnSpc>
            </a:pPr>
            <a:r>
              <a:rPr lang="en-US" altLang="zh-CN" sz="2800" dirty="0">
                <a:highlight>
                  <a:srgbClr val="FFFF00"/>
                </a:highlight>
              </a:rPr>
              <a:t>11</a:t>
            </a:r>
            <a:r>
              <a:rPr lang="zh-CN" altLang="en-US" sz="2800" dirty="0">
                <a:highlight>
                  <a:srgbClr val="FFFF00"/>
                </a:highlight>
              </a:rPr>
              <a:t>、新文化运动的作用：</a:t>
            </a:r>
            <a:r>
              <a:rPr lang="zh-CN" altLang="en-US" sz="2400" dirty="0">
                <a:solidFill>
                  <a:srgbClr val="FF0000"/>
                </a:solidFill>
                <a:highlight>
                  <a:srgbClr val="FFFF00"/>
                </a:highlight>
              </a:rPr>
              <a:t>动摇了封建道德礼教的统治地位，使人民接受了一次民主科学的洗礼，对五四运动的爆发齐了思想宣传和铺垫作用，打开了遏制新思想涌流的闸门，掀起了一股思想解放的潮流，白话文普及开来。</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a:xfrm>
            <a:off x="0" y="186690"/>
            <a:ext cx="12192000" cy="5949315"/>
          </a:xfrm>
        </p:spPr>
        <p:txBody>
          <a:bodyPr>
            <a:noAutofit/>
          </a:bodyPr>
          <a:lstStyle/>
          <a:p>
            <a:pPr>
              <a:lnSpc>
                <a:spcPct val="100000"/>
              </a:lnSpc>
            </a:pPr>
            <a:r>
              <a:rPr lang="en-US" altLang="zh-CN" sz="2400" dirty="0"/>
              <a:t>1</a:t>
            </a:r>
            <a:r>
              <a:rPr lang="zh-CN" altLang="en-US" sz="2400" dirty="0"/>
              <a:t>、唐朝书法家是？</a:t>
            </a:r>
            <a:r>
              <a:rPr lang="zh-CN" altLang="en-US" sz="2400" dirty="0">
                <a:solidFill>
                  <a:srgbClr val="FF0000"/>
                </a:solidFill>
              </a:rPr>
              <a:t>颜真卿、柳公权、欧阳询</a:t>
            </a:r>
          </a:p>
          <a:p>
            <a:pPr>
              <a:lnSpc>
                <a:spcPct val="100000"/>
              </a:lnSpc>
            </a:pPr>
            <a:r>
              <a:rPr lang="en-US" altLang="zh-CN" sz="2400" dirty="0">
                <a:highlight>
                  <a:srgbClr val="FFFF00"/>
                </a:highlight>
              </a:rPr>
              <a:t>2</a:t>
            </a:r>
            <a:r>
              <a:rPr lang="zh-CN" altLang="en-US" sz="2400" dirty="0">
                <a:highlight>
                  <a:srgbClr val="FFFF00"/>
                </a:highlight>
              </a:rPr>
              <a:t>、五代十国的实质是什么？</a:t>
            </a:r>
            <a:r>
              <a:rPr lang="zh-CN" altLang="en-US" sz="2400" dirty="0">
                <a:solidFill>
                  <a:srgbClr val="FF0000"/>
                </a:solidFill>
                <a:highlight>
                  <a:srgbClr val="FFFF00"/>
                </a:highlight>
              </a:rPr>
              <a:t>藩镇割据的延续</a:t>
            </a:r>
          </a:p>
          <a:p>
            <a:pPr algn="l">
              <a:lnSpc>
                <a:spcPct val="100000"/>
              </a:lnSpc>
              <a:buClrTx/>
              <a:buSzTx/>
            </a:pPr>
            <a:r>
              <a:rPr lang="en-US" altLang="zh-CN" sz="2400" dirty="0"/>
              <a:t>3</a:t>
            </a:r>
            <a:r>
              <a:rPr lang="zh-CN" altLang="en-US" sz="2400" dirty="0"/>
              <a:t>、为加强对地方财权的管理，宋太祖怎么做？</a:t>
            </a:r>
            <a:r>
              <a:rPr lang="zh-CN" altLang="en-US" sz="2400" dirty="0">
                <a:solidFill>
                  <a:srgbClr val="FF0000"/>
                </a:solidFill>
              </a:rPr>
              <a:t>设置转运使，把地方财政收归中央。</a:t>
            </a:r>
          </a:p>
          <a:p>
            <a:pPr algn="l">
              <a:lnSpc>
                <a:spcPct val="100000"/>
              </a:lnSpc>
              <a:buClrTx/>
              <a:buSzTx/>
            </a:pPr>
            <a:r>
              <a:rPr lang="en-US" altLang="zh-CN" sz="2400" dirty="0"/>
              <a:t>4</a:t>
            </a:r>
            <a:r>
              <a:rPr lang="zh-CN" altLang="en-US" sz="2400" dirty="0"/>
              <a:t>、清朝疆域四至：</a:t>
            </a:r>
            <a:r>
              <a:rPr lang="zh-CN" altLang="en-US" sz="2400" dirty="0">
                <a:solidFill>
                  <a:srgbClr val="FF0000"/>
                </a:solidFill>
                <a:sym typeface="+mn-ea"/>
              </a:rPr>
              <a:t>西跨葱岭，北接</a:t>
            </a:r>
            <a:r>
              <a:rPr lang="zh-CN" altLang="en-US" sz="2400" dirty="0">
                <a:solidFill>
                  <a:srgbClr val="FF0000"/>
                </a:solidFill>
              </a:rPr>
              <a:t>西伯利亚 ，东</a:t>
            </a:r>
            <a:r>
              <a:rPr lang="zh-CN" altLang="en-US" sz="2400" dirty="0">
                <a:solidFill>
                  <a:srgbClr val="FF0000"/>
                </a:solidFill>
                <a:sym typeface="+mn-ea"/>
              </a:rPr>
              <a:t>临太平洋，南到南海诸岛。</a:t>
            </a:r>
          </a:p>
          <a:p>
            <a:pPr algn="l">
              <a:lnSpc>
                <a:spcPct val="100000"/>
              </a:lnSpc>
              <a:buClrTx/>
              <a:buSzTx/>
            </a:pPr>
            <a:r>
              <a:rPr lang="en-US" altLang="zh-CN" sz="2400" dirty="0">
                <a:sym typeface="+mn-ea"/>
              </a:rPr>
              <a:t>5</a:t>
            </a:r>
            <a:r>
              <a:rPr lang="zh-CN" altLang="en-US" sz="2400" dirty="0">
                <a:sym typeface="+mn-ea"/>
              </a:rPr>
              <a:t>、郑和</a:t>
            </a:r>
            <a:r>
              <a:rPr lang="zh-CN" altLang="en-US" sz="2400" dirty="0"/>
              <a:t>的船队最远到达哪里？</a:t>
            </a:r>
            <a:r>
              <a:rPr lang="zh-CN" altLang="en-US" sz="2400" dirty="0">
                <a:solidFill>
                  <a:srgbClr val="FF0000"/>
                </a:solidFill>
              </a:rPr>
              <a:t>非洲东海岸和红海沿岸</a:t>
            </a:r>
          </a:p>
          <a:p>
            <a:pPr algn="l">
              <a:lnSpc>
                <a:spcPct val="100000"/>
              </a:lnSpc>
              <a:buClrTx/>
              <a:buSzTx/>
            </a:pPr>
            <a:r>
              <a:rPr lang="en-US" altLang="zh-CN" sz="2400" dirty="0"/>
              <a:t>6</a:t>
            </a:r>
            <a:r>
              <a:rPr lang="zh-CN" altLang="en-US" sz="2400" dirty="0"/>
              <a:t>、元朝的建立者是？腹里归谁管理？</a:t>
            </a:r>
            <a:r>
              <a:rPr lang="zh-CN" altLang="en-US" sz="2400" dirty="0">
                <a:solidFill>
                  <a:srgbClr val="FF0000"/>
                </a:solidFill>
              </a:rPr>
              <a:t>忽必烈    中书省（</a:t>
            </a:r>
            <a:r>
              <a:rPr lang="zh-CN" altLang="en-US" sz="2400" dirty="0">
                <a:solidFill>
                  <a:srgbClr val="FF0000"/>
                </a:solidFill>
                <a:sym typeface="+mn-ea"/>
              </a:rPr>
              <a:t>腹里：山东、山西、河北</a:t>
            </a:r>
            <a:r>
              <a:rPr lang="zh-CN" altLang="en-US" sz="2400" dirty="0">
                <a:solidFill>
                  <a:srgbClr val="FF0000"/>
                </a:solidFill>
              </a:rPr>
              <a:t>）</a:t>
            </a:r>
          </a:p>
          <a:p>
            <a:pPr algn="l">
              <a:lnSpc>
                <a:spcPct val="100000"/>
              </a:lnSpc>
              <a:buClrTx/>
              <a:buSzTx/>
            </a:pPr>
            <a:r>
              <a:rPr lang="en-US" altLang="zh-CN" sz="2400" dirty="0">
                <a:highlight>
                  <a:srgbClr val="FFFF00"/>
                </a:highlight>
              </a:rPr>
              <a:t>7</a:t>
            </a:r>
            <a:r>
              <a:rPr lang="zh-CN" altLang="en-US" sz="2400" dirty="0">
                <a:highlight>
                  <a:srgbClr val="FFFF00"/>
                </a:highlight>
              </a:rPr>
              <a:t>、元朝哪个地方首次并入中央管辖？</a:t>
            </a:r>
            <a:r>
              <a:rPr lang="zh-CN" altLang="en-US" sz="2400" dirty="0">
                <a:solidFill>
                  <a:srgbClr val="FF0000"/>
                </a:solidFill>
                <a:highlight>
                  <a:srgbClr val="FFFF00"/>
                </a:highlight>
              </a:rPr>
              <a:t>台湾，澎湖巡检司（东南）、西藏，宣政院、宣慰使司都元帅府（西南）</a:t>
            </a:r>
          </a:p>
          <a:p>
            <a:pPr algn="l">
              <a:lnSpc>
                <a:spcPct val="100000"/>
              </a:lnSpc>
              <a:buClrTx/>
              <a:buSzTx/>
            </a:pPr>
            <a:r>
              <a:rPr lang="en-US" altLang="zh-CN" sz="2400" dirty="0"/>
              <a:t>8</a:t>
            </a:r>
            <a:r>
              <a:rPr lang="zh-CN" altLang="en-US" sz="2400" dirty="0"/>
              <a:t>、北宋哪里最繁华？</a:t>
            </a:r>
            <a:r>
              <a:rPr lang="zh-CN" altLang="en-US" sz="2400" dirty="0">
                <a:solidFill>
                  <a:srgbClr val="FF0000"/>
                </a:solidFill>
              </a:rPr>
              <a:t>开封大相国寺</a:t>
            </a:r>
          </a:p>
          <a:p>
            <a:pPr algn="l">
              <a:lnSpc>
                <a:spcPct val="100000"/>
              </a:lnSpc>
              <a:buClrTx/>
              <a:buSzTx/>
            </a:pPr>
            <a:r>
              <a:rPr lang="en-US" altLang="zh-CN" sz="2400" dirty="0"/>
              <a:t>9</a:t>
            </a:r>
            <a:r>
              <a:rPr lang="zh-CN" altLang="en-US" sz="2400" dirty="0"/>
              <a:t>、明朝戏剧家和代表作？</a:t>
            </a:r>
            <a:r>
              <a:rPr lang="zh-CN" altLang="en-US" sz="2400" dirty="0">
                <a:solidFill>
                  <a:srgbClr val="FF0000"/>
                </a:solidFill>
              </a:rPr>
              <a:t>汤显祖《牡丹亭》</a:t>
            </a:r>
          </a:p>
          <a:p>
            <a:pPr>
              <a:lnSpc>
                <a:spcPct val="100000"/>
              </a:lnSpc>
            </a:pPr>
            <a:r>
              <a:rPr lang="en-US" altLang="zh-CN" sz="2400" dirty="0"/>
              <a:t>10</a:t>
            </a:r>
            <a:r>
              <a:rPr lang="zh-CN" altLang="en-US" sz="2400" dirty="0"/>
              <a:t>、清朝对新疆地区的管辖措施有？</a:t>
            </a:r>
            <a:r>
              <a:rPr lang="zh-CN" altLang="en-US" sz="2400" dirty="0">
                <a:solidFill>
                  <a:srgbClr val="FF0000"/>
                </a:solidFill>
              </a:rPr>
              <a:t>康熙：平定</a:t>
            </a:r>
            <a:r>
              <a:rPr lang="zh-CN" altLang="en-US" sz="2400" dirty="0">
                <a:solidFill>
                  <a:srgbClr val="FF0000"/>
                </a:solidFill>
                <a:sym typeface="+mn-ea"/>
              </a:rPr>
              <a:t>准噶尔叛乱；乾隆：平定</a:t>
            </a:r>
            <a:r>
              <a:rPr lang="zh-CN" altLang="en-US" sz="2400" dirty="0">
                <a:solidFill>
                  <a:srgbClr val="FF0000"/>
                </a:solidFill>
              </a:rPr>
              <a:t>大小和卓、设置伊犁将军、哨所、安置土尔扈特部；左宗棠收复新疆，1884年新疆设省。</a:t>
            </a:r>
          </a:p>
          <a:p>
            <a:pPr>
              <a:lnSpc>
                <a:spcPct val="100000"/>
              </a:lnSpc>
            </a:pPr>
            <a:endParaRPr lang="zh-CN" altLang="en-US" sz="2400"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a:xfrm>
            <a:off x="367665" y="240665"/>
            <a:ext cx="11535410" cy="6765925"/>
          </a:xfrm>
        </p:spPr>
        <p:txBody>
          <a:bodyPr>
            <a:normAutofit fontScale="87500" lnSpcReduction="10000"/>
          </a:bodyPr>
          <a:lstStyle/>
          <a:p>
            <a:r>
              <a:rPr lang="en-US" altLang="zh-CN" sz="2400"/>
              <a:t>1</a:t>
            </a:r>
            <a:r>
              <a:rPr lang="zh-CN" altLang="en-US" sz="2400"/>
              <a:t>、清朝政治制度：</a:t>
            </a:r>
            <a:r>
              <a:rPr lang="zh-CN" altLang="en-US" sz="2400">
                <a:solidFill>
                  <a:srgbClr val="FF0000"/>
                </a:solidFill>
                <a:latin typeface="Calibri" panose="020F0502020204030204" charset="0"/>
                <a:sym typeface="+mn-ea"/>
              </a:rPr>
              <a:t>①</a:t>
            </a:r>
            <a:r>
              <a:rPr lang="zh-CN" altLang="en-US" sz="2400">
                <a:solidFill>
                  <a:srgbClr val="FF0000"/>
                </a:solidFill>
              </a:rPr>
              <a:t>康熙：南书房；</a:t>
            </a:r>
            <a:r>
              <a:rPr lang="zh-CN" altLang="en-US" sz="2400">
                <a:solidFill>
                  <a:srgbClr val="FF0000"/>
                </a:solidFill>
                <a:latin typeface="Calibri" panose="020F0502020204030204" charset="0"/>
                <a:sym typeface="+mn-ea"/>
              </a:rPr>
              <a:t>②</a:t>
            </a:r>
            <a:r>
              <a:rPr lang="zh-CN" altLang="en-US" sz="2400">
                <a:solidFill>
                  <a:srgbClr val="FF0000"/>
                </a:solidFill>
              </a:rPr>
              <a:t>雍正：军机处，便于皇帝独掌朝政，君主专制进一步强化，君主专制达到顶峰。</a:t>
            </a:r>
          </a:p>
          <a:p>
            <a:r>
              <a:rPr lang="en-US" altLang="zh-CN" sz="2400"/>
              <a:t>2</a:t>
            </a:r>
            <a:r>
              <a:rPr lang="zh-CN" altLang="en-US" sz="2400"/>
              <a:t>、清朝前期人口增长的原因：</a:t>
            </a:r>
            <a:r>
              <a:rPr lang="zh-CN" altLang="en-US" sz="2400">
                <a:solidFill>
                  <a:srgbClr val="FF0000"/>
                </a:solidFill>
                <a:latin typeface="Calibri" panose="020F0502020204030204" charset="0"/>
                <a:sym typeface="+mn-ea"/>
              </a:rPr>
              <a:t>①</a:t>
            </a:r>
            <a:r>
              <a:rPr lang="zh-CN" altLang="en-US" sz="2400">
                <a:solidFill>
                  <a:srgbClr val="FF0000"/>
                </a:solidFill>
              </a:rPr>
              <a:t>统治者采取恢复社会经济的措施，使经济发展，社会安定。</a:t>
            </a:r>
            <a:r>
              <a:rPr lang="zh-CN" altLang="en-US" sz="2400">
                <a:solidFill>
                  <a:srgbClr val="FF0000"/>
                </a:solidFill>
                <a:latin typeface="Calibri" panose="020F0502020204030204" charset="0"/>
                <a:sym typeface="+mn-ea"/>
              </a:rPr>
              <a:t>②</a:t>
            </a:r>
            <a:r>
              <a:rPr lang="zh-CN" altLang="en-US" sz="2400">
                <a:solidFill>
                  <a:srgbClr val="FF0000"/>
                </a:solidFill>
              </a:rPr>
              <a:t>推广玉米、甘薯等高产作物。</a:t>
            </a:r>
          </a:p>
          <a:p>
            <a:r>
              <a:rPr lang="zh-CN" altLang="en-US" sz="2400"/>
              <a:t>3、明朝经济发展的表现：</a:t>
            </a:r>
            <a:r>
              <a:rPr lang="zh-CN" altLang="en-US" sz="2400">
                <a:solidFill>
                  <a:srgbClr val="FF0000"/>
                </a:solidFill>
              </a:rPr>
              <a:t>农业：引进</a:t>
            </a:r>
            <a:r>
              <a:rPr lang="zh-CN" altLang="en-US" sz="2400">
                <a:solidFill>
                  <a:srgbClr val="FF0000"/>
                </a:solidFill>
                <a:sym typeface="+mn-ea"/>
              </a:rPr>
              <a:t>玉米、甘薯、花生、向日葵等作物。（新航路开辟有关）</a:t>
            </a:r>
          </a:p>
          <a:p>
            <a:r>
              <a:rPr lang="zh-CN" altLang="en-US" sz="2400">
                <a:solidFill>
                  <a:srgbClr val="FF0000"/>
                </a:solidFill>
              </a:rPr>
              <a:t>手工业：棉纺织业由南方推广到北方，出现棉纺织基地；苏州是明代丝织业中心；景德镇是制瓷中心，代表青花瓷。</a:t>
            </a:r>
          </a:p>
          <a:p>
            <a:r>
              <a:rPr lang="zh-CN" altLang="en-US" sz="2400">
                <a:solidFill>
                  <a:srgbClr val="FF0000"/>
                </a:solidFill>
              </a:rPr>
              <a:t>商业：商品经济活跃；北京、南京是全国商贸城市；商帮：晋商、徽商。</a:t>
            </a:r>
          </a:p>
          <a:p>
            <a:pPr>
              <a:lnSpc>
                <a:spcPct val="100000"/>
              </a:lnSpc>
            </a:pPr>
            <a:r>
              <a:rPr lang="en-US" altLang="zh-CN" sz="2400">
                <a:sym typeface="+mn-ea"/>
              </a:rPr>
              <a:t>1</a:t>
            </a:r>
            <a:r>
              <a:rPr lang="zh-CN" altLang="en-US" sz="2400">
                <a:sym typeface="+mn-ea"/>
              </a:rPr>
              <a:t>、清朝前期经济发展的原因：</a:t>
            </a:r>
            <a:r>
              <a:rPr lang="zh-CN" altLang="en-US" sz="2400">
                <a:solidFill>
                  <a:srgbClr val="FF0000"/>
                </a:solidFill>
                <a:latin typeface="Calibri" panose="020F0502020204030204" charset="0"/>
                <a:sym typeface="+mn-ea"/>
              </a:rPr>
              <a:t>①</a:t>
            </a:r>
            <a:r>
              <a:rPr lang="zh-CN" altLang="en-US" sz="2400">
                <a:solidFill>
                  <a:srgbClr val="FF0000"/>
                </a:solidFill>
                <a:sym typeface="+mn-ea"/>
              </a:rPr>
              <a:t>国家统一、社会安定；</a:t>
            </a:r>
            <a:r>
              <a:rPr lang="zh-CN" altLang="en-US" sz="2400">
                <a:solidFill>
                  <a:srgbClr val="FF0000"/>
                </a:solidFill>
                <a:latin typeface="Calibri" panose="020F0502020204030204" charset="0"/>
                <a:sym typeface="+mn-ea"/>
              </a:rPr>
              <a:t>②</a:t>
            </a:r>
            <a:r>
              <a:rPr lang="zh-CN" altLang="en-US" sz="2400">
                <a:solidFill>
                  <a:srgbClr val="FF0000"/>
                </a:solidFill>
                <a:sym typeface="+mn-ea"/>
              </a:rPr>
              <a:t>清初统治者重视农业生产，大力推行垦荒政策；</a:t>
            </a:r>
            <a:endParaRPr lang="zh-CN" altLang="en-US" sz="2400">
              <a:solidFill>
                <a:srgbClr val="FF0000"/>
              </a:solidFill>
            </a:endParaRPr>
          </a:p>
          <a:p>
            <a:pPr>
              <a:lnSpc>
                <a:spcPct val="100000"/>
              </a:lnSpc>
            </a:pPr>
            <a:r>
              <a:rPr lang="en-US" altLang="zh-CN" sz="2400">
                <a:sym typeface="+mn-ea"/>
              </a:rPr>
              <a:t>2</a:t>
            </a:r>
            <a:r>
              <a:rPr lang="zh-CN" altLang="en-US" sz="2400">
                <a:sym typeface="+mn-ea"/>
              </a:rPr>
              <a:t>、表现：</a:t>
            </a:r>
            <a:r>
              <a:rPr lang="zh-CN" altLang="en-US" sz="2400">
                <a:solidFill>
                  <a:srgbClr val="FF0000"/>
                </a:solidFill>
                <a:latin typeface="Calibri" panose="020F0502020204030204" charset="0"/>
                <a:sym typeface="+mn-ea"/>
              </a:rPr>
              <a:t>①</a:t>
            </a:r>
            <a:r>
              <a:rPr lang="zh-CN" altLang="en-US" sz="2400">
                <a:solidFill>
                  <a:srgbClr val="FF0000"/>
                </a:solidFill>
                <a:sym typeface="+mn-ea"/>
              </a:rPr>
              <a:t>耕地面积扩大；</a:t>
            </a:r>
            <a:r>
              <a:rPr lang="zh-CN" altLang="en-US" sz="2400">
                <a:solidFill>
                  <a:srgbClr val="FF0000"/>
                </a:solidFill>
                <a:latin typeface="Calibri" panose="020F0502020204030204" charset="0"/>
                <a:sym typeface="+mn-ea"/>
              </a:rPr>
              <a:t>②</a:t>
            </a:r>
            <a:r>
              <a:rPr lang="zh-CN" altLang="en-US" sz="2400">
                <a:solidFill>
                  <a:srgbClr val="FF0000"/>
                </a:solidFill>
                <a:sym typeface="+mn-ea"/>
              </a:rPr>
              <a:t>兴修水利；</a:t>
            </a:r>
            <a:r>
              <a:rPr lang="zh-CN" altLang="en-US" sz="2400">
                <a:solidFill>
                  <a:srgbClr val="FF0000"/>
                </a:solidFill>
                <a:latin typeface="Calibri" panose="020F0502020204030204" charset="0"/>
                <a:sym typeface="+mn-ea"/>
              </a:rPr>
              <a:t>③</a:t>
            </a:r>
            <a:r>
              <a:rPr lang="zh-CN" altLang="en-US" sz="2400">
                <a:solidFill>
                  <a:srgbClr val="FF0000"/>
                </a:solidFill>
                <a:sym typeface="+mn-ea"/>
              </a:rPr>
              <a:t>推广玉米、甘薯等高产作物（与新航路开辟有关！）；</a:t>
            </a:r>
            <a:r>
              <a:rPr lang="zh-CN" altLang="en-US" sz="2400">
                <a:solidFill>
                  <a:srgbClr val="FF0000"/>
                </a:solidFill>
                <a:latin typeface="Calibri" panose="020F0502020204030204" charset="0"/>
                <a:sym typeface="+mn-ea"/>
              </a:rPr>
              <a:t>④</a:t>
            </a:r>
            <a:r>
              <a:rPr lang="zh-CN" altLang="en-US" sz="2400">
                <a:solidFill>
                  <a:srgbClr val="FF0000"/>
                </a:solidFill>
                <a:sym typeface="+mn-ea"/>
              </a:rPr>
              <a:t>经济作物品种增多（重点关注烟草，与新航路开辟有关！）。</a:t>
            </a:r>
            <a:endParaRPr lang="zh-CN" altLang="en-US" sz="2400">
              <a:solidFill>
                <a:srgbClr val="FF0000"/>
              </a:solidFill>
            </a:endParaRPr>
          </a:p>
          <a:p>
            <a:pPr>
              <a:lnSpc>
                <a:spcPct val="100000"/>
              </a:lnSpc>
            </a:pPr>
            <a:r>
              <a:rPr lang="en-US" altLang="zh-CN" sz="2400">
                <a:sym typeface="+mn-ea"/>
              </a:rPr>
              <a:t>3</a:t>
            </a:r>
            <a:r>
              <a:rPr lang="zh-CN" altLang="en-US" sz="2400">
                <a:sym typeface="+mn-ea"/>
              </a:rPr>
              <a:t>、清朝前期经济发展的影响：</a:t>
            </a:r>
            <a:r>
              <a:rPr lang="zh-CN" altLang="en-US" sz="2400">
                <a:solidFill>
                  <a:srgbClr val="FF0000"/>
                </a:solidFill>
                <a:latin typeface="Calibri" panose="020F0502020204030204" charset="0"/>
                <a:sym typeface="+mn-ea"/>
              </a:rPr>
              <a:t>①</a:t>
            </a:r>
            <a:r>
              <a:rPr lang="zh-CN" altLang="en-US" sz="2400">
                <a:solidFill>
                  <a:srgbClr val="FF0000"/>
                </a:solidFill>
                <a:sym typeface="+mn-ea"/>
              </a:rPr>
              <a:t>有利于社会稳定与繁荣；</a:t>
            </a:r>
            <a:r>
              <a:rPr lang="zh-CN" altLang="en-US" sz="2400">
                <a:solidFill>
                  <a:srgbClr val="FF0000"/>
                </a:solidFill>
                <a:latin typeface="Calibri" panose="020F0502020204030204" charset="0"/>
                <a:sym typeface="+mn-ea"/>
              </a:rPr>
              <a:t>②</a:t>
            </a:r>
            <a:r>
              <a:rPr lang="zh-CN" altLang="en-US" sz="2400">
                <a:solidFill>
                  <a:srgbClr val="FF0000"/>
                </a:solidFill>
                <a:sym typeface="+mn-ea"/>
              </a:rPr>
              <a:t>为清朝前期的兴盛奠基；</a:t>
            </a:r>
            <a:r>
              <a:rPr lang="zh-CN" altLang="en-US" sz="2400">
                <a:solidFill>
                  <a:srgbClr val="FF0000"/>
                </a:solidFill>
                <a:latin typeface="Calibri" panose="020F0502020204030204" charset="0"/>
                <a:sym typeface="+mn-ea"/>
              </a:rPr>
              <a:t>③</a:t>
            </a:r>
            <a:r>
              <a:rPr lang="zh-CN" altLang="en-US" sz="2400">
                <a:solidFill>
                  <a:srgbClr val="FF0000"/>
                </a:solidFill>
                <a:sym typeface="+mn-ea"/>
              </a:rPr>
              <a:t>推动手工业和城镇商品经济的发展。</a:t>
            </a:r>
            <a:endParaRPr lang="zh-CN" altLang="en-US" sz="2400">
              <a:solidFill>
                <a:srgbClr val="FF0000"/>
              </a:solidFill>
            </a:endParaRPr>
          </a:p>
          <a:p>
            <a:endParaRPr lang="zh-CN" altLang="en-US" sz="2400">
              <a:solidFill>
                <a:srgbClr val="FF0000"/>
              </a:solidFill>
            </a:endParaRPr>
          </a:p>
          <a:p>
            <a:endParaRPr lang="zh-CN" altLang="en-US" sz="2400">
              <a:solidFill>
                <a:srgbClr val="FF0000"/>
              </a:solidFill>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custDataLst>
              <p:tags r:id="rId2"/>
            </p:custDataLst>
          </p:nvPr>
        </p:nvSpPr>
        <p:spPr>
          <a:xfrm>
            <a:off x="159385" y="216310"/>
            <a:ext cx="11873230" cy="7874635"/>
          </a:xfrm>
        </p:spPr>
        <p:txBody>
          <a:bodyPr>
            <a:normAutofit fontScale="97500"/>
          </a:bodyPr>
          <a:lstStyle/>
          <a:p>
            <a:pPr>
              <a:lnSpc>
                <a:spcPct val="100000"/>
              </a:lnSpc>
            </a:pPr>
            <a:r>
              <a:rPr lang="en-US" altLang="zh-CN" sz="1600" dirty="0">
                <a:sym typeface="+mn-ea"/>
              </a:rPr>
              <a:t>1</a:t>
            </a:r>
            <a:r>
              <a:rPr lang="zh-CN" altLang="en-US" sz="1600" dirty="0">
                <a:sym typeface="+mn-ea"/>
              </a:rPr>
              <a:t>、人民解放战争中，</a:t>
            </a:r>
            <a:r>
              <a:rPr lang="zh-CN" altLang="en-US" sz="1600" dirty="0">
                <a:highlight>
                  <a:srgbClr val="FFFF00"/>
                </a:highlight>
                <a:sym typeface="+mn-ea"/>
              </a:rPr>
              <a:t>解放长江中下游以北广大地区的战争是？</a:t>
            </a:r>
            <a:r>
              <a:rPr lang="zh-CN" altLang="en-US" sz="1600" dirty="0">
                <a:solidFill>
                  <a:srgbClr val="FF0000"/>
                </a:solidFill>
                <a:highlight>
                  <a:srgbClr val="FFFF00"/>
                </a:highlight>
                <a:sym typeface="+mn-ea"/>
              </a:rPr>
              <a:t>淮海战役</a:t>
            </a:r>
            <a:endParaRPr lang="zh-CN" altLang="en-US" sz="1600" dirty="0">
              <a:solidFill>
                <a:srgbClr val="FF0000"/>
              </a:solidFill>
              <a:highlight>
                <a:srgbClr val="FFFF00"/>
              </a:highlight>
            </a:endParaRPr>
          </a:p>
          <a:p>
            <a:pPr>
              <a:lnSpc>
                <a:spcPct val="100000"/>
              </a:lnSpc>
            </a:pPr>
            <a:r>
              <a:rPr lang="en-US" altLang="zh-CN" sz="1600" dirty="0">
                <a:sym typeface="+mn-ea"/>
              </a:rPr>
              <a:t>2</a:t>
            </a:r>
            <a:r>
              <a:rPr lang="zh-CN" altLang="en-US" sz="1600" dirty="0">
                <a:sym typeface="+mn-ea"/>
              </a:rPr>
              <a:t>、</a:t>
            </a:r>
            <a:r>
              <a:rPr lang="zh-CN" altLang="en-US" sz="1600" dirty="0">
                <a:highlight>
                  <a:srgbClr val="FFFF00"/>
                </a:highlight>
                <a:sym typeface="+mn-ea"/>
              </a:rPr>
              <a:t>抗日战争进入到战略相持阶段的标志事件是：</a:t>
            </a:r>
            <a:r>
              <a:rPr lang="zh-CN" altLang="en-US" sz="1600" dirty="0">
                <a:solidFill>
                  <a:srgbClr val="FF0000"/>
                </a:solidFill>
                <a:highlight>
                  <a:srgbClr val="FFFF00"/>
                </a:highlight>
                <a:sym typeface="+mn-ea"/>
              </a:rPr>
              <a:t>武汉、广州失陷</a:t>
            </a:r>
            <a:endParaRPr lang="zh-CN" altLang="en-US" sz="1600" dirty="0">
              <a:highlight>
                <a:srgbClr val="FFFF00"/>
              </a:highlight>
            </a:endParaRPr>
          </a:p>
          <a:p>
            <a:pPr>
              <a:lnSpc>
                <a:spcPct val="100000"/>
              </a:lnSpc>
            </a:pPr>
            <a:r>
              <a:rPr lang="en-US" altLang="zh-CN" sz="1600" dirty="0">
                <a:sym typeface="+mn-ea"/>
              </a:rPr>
              <a:t>3</a:t>
            </a:r>
            <a:r>
              <a:rPr lang="zh-CN" altLang="en-US" sz="1600" dirty="0">
                <a:sym typeface="+mn-ea"/>
              </a:rPr>
              <a:t>、抗战胜利的决定性因素：中共在抗战中发挥（</a:t>
            </a:r>
            <a:r>
              <a:rPr lang="zh-CN" altLang="en-US" sz="1600" dirty="0">
                <a:solidFill>
                  <a:srgbClr val="FF0000"/>
                </a:solidFill>
                <a:sym typeface="+mn-ea"/>
              </a:rPr>
              <a:t>中流砥柱</a:t>
            </a:r>
            <a:r>
              <a:rPr lang="en-US" altLang="zh-CN" sz="1600" dirty="0">
                <a:sym typeface="+mn-ea"/>
              </a:rPr>
              <a:t> </a:t>
            </a:r>
            <a:r>
              <a:rPr lang="zh-CN" altLang="en-US" sz="1600" dirty="0">
                <a:sym typeface="+mn-ea"/>
              </a:rPr>
              <a:t>）作用。</a:t>
            </a:r>
            <a:endParaRPr lang="zh-CN" altLang="en-US" sz="1600" dirty="0"/>
          </a:p>
          <a:p>
            <a:pPr algn="l">
              <a:lnSpc>
                <a:spcPct val="100000"/>
              </a:lnSpc>
              <a:buClrTx/>
              <a:buSzTx/>
            </a:pPr>
            <a:r>
              <a:rPr lang="en-US" altLang="zh-CN" sz="1600" dirty="0">
                <a:highlight>
                  <a:srgbClr val="FFFF00"/>
                </a:highlight>
                <a:sym typeface="+mn-ea"/>
              </a:rPr>
              <a:t>4</a:t>
            </a:r>
            <a:r>
              <a:rPr lang="zh-CN" altLang="en-US" sz="1600" dirty="0">
                <a:highlight>
                  <a:srgbClr val="FFFF00"/>
                </a:highlight>
                <a:sym typeface="+mn-ea"/>
              </a:rPr>
              <a:t>、毛泽东思想写入党章是哪次会议？</a:t>
            </a:r>
            <a:r>
              <a:rPr lang="zh-CN" altLang="en-US" sz="1600" dirty="0">
                <a:solidFill>
                  <a:srgbClr val="FF0000"/>
                </a:solidFill>
                <a:highlight>
                  <a:srgbClr val="FFFF00"/>
                </a:highlight>
                <a:sym typeface="+mn-ea"/>
              </a:rPr>
              <a:t>中共七大</a:t>
            </a:r>
            <a:endParaRPr lang="zh-CN" altLang="en-US" sz="1600" dirty="0">
              <a:solidFill>
                <a:srgbClr val="FF0000"/>
              </a:solidFill>
              <a:highlight>
                <a:srgbClr val="FFFF00"/>
              </a:highlight>
            </a:endParaRPr>
          </a:p>
          <a:p>
            <a:pPr>
              <a:lnSpc>
                <a:spcPct val="100000"/>
              </a:lnSpc>
            </a:pPr>
            <a:r>
              <a:rPr lang="en-US" altLang="zh-CN" sz="1600" dirty="0">
                <a:sym typeface="+mn-ea"/>
              </a:rPr>
              <a:t>5</a:t>
            </a:r>
            <a:r>
              <a:rPr lang="zh-CN" altLang="en-US" sz="1600" dirty="0">
                <a:sym typeface="+mn-ea"/>
              </a:rPr>
              <a:t>、</a:t>
            </a:r>
            <a:r>
              <a:rPr lang="zh-CN" altLang="en-US" sz="1600" dirty="0">
                <a:highlight>
                  <a:srgbClr val="FFFF00"/>
                </a:highlight>
                <a:sym typeface="+mn-ea"/>
              </a:rPr>
              <a:t>人民解放战争中，国民党全面进攻哪个解放区？</a:t>
            </a:r>
            <a:r>
              <a:rPr lang="zh-CN" altLang="en-US" sz="1600" dirty="0">
                <a:solidFill>
                  <a:srgbClr val="FF0000"/>
                </a:solidFill>
                <a:highlight>
                  <a:srgbClr val="FFFF00"/>
                </a:highlight>
                <a:sym typeface="+mn-ea"/>
              </a:rPr>
              <a:t>中原解放区</a:t>
            </a:r>
          </a:p>
          <a:p>
            <a:pPr marL="0" indent="0">
              <a:lnSpc>
                <a:spcPct val="100000"/>
              </a:lnSpc>
              <a:buNone/>
            </a:pPr>
            <a:r>
              <a:rPr lang="zh-CN" altLang="en-US" sz="1600" b="1" u="sng" dirty="0">
                <a:solidFill>
                  <a:schemeClr val="accent1">
                    <a:lumMod val="75000"/>
                  </a:schemeClr>
                </a:solidFill>
                <a:highlight>
                  <a:srgbClr val="FFFF00"/>
                </a:highlight>
                <a:sym typeface="+mn-ea"/>
              </a:rPr>
              <a:t>重点进攻：陕北、山东解放区</a:t>
            </a:r>
          </a:p>
          <a:p>
            <a:pPr>
              <a:lnSpc>
                <a:spcPct val="100000"/>
              </a:lnSpc>
            </a:pPr>
            <a:r>
              <a:rPr lang="en-US" altLang="zh-CN" sz="1600" dirty="0">
                <a:sym typeface="+mn-ea"/>
              </a:rPr>
              <a:t>6</a:t>
            </a:r>
            <a:r>
              <a:rPr lang="zh-CN" altLang="en-US" sz="1600" dirty="0">
                <a:sym typeface="+mn-ea"/>
              </a:rPr>
              <a:t>、</a:t>
            </a:r>
            <a:r>
              <a:rPr lang="zh-CN" altLang="en-US" sz="1600" dirty="0">
                <a:highlight>
                  <a:srgbClr val="FFFF00"/>
                </a:highlight>
                <a:sym typeface="+mn-ea"/>
              </a:rPr>
              <a:t>第一次国共合作的政治基础：</a:t>
            </a:r>
            <a:r>
              <a:rPr lang="zh-CN" altLang="en-US" sz="1600" dirty="0">
                <a:solidFill>
                  <a:srgbClr val="FF0000"/>
                </a:solidFill>
                <a:highlight>
                  <a:srgbClr val="FFFF00"/>
                </a:highlight>
                <a:sym typeface="+mn-ea"/>
              </a:rPr>
              <a:t>新三民主义：联俄、联共、扶助农工</a:t>
            </a:r>
            <a:endParaRPr lang="zh-CN" altLang="en-US" sz="1600" dirty="0">
              <a:solidFill>
                <a:srgbClr val="FF0000"/>
              </a:solidFill>
              <a:highlight>
                <a:srgbClr val="FFFF00"/>
              </a:highlight>
            </a:endParaRPr>
          </a:p>
          <a:p>
            <a:pPr>
              <a:lnSpc>
                <a:spcPct val="100000"/>
              </a:lnSpc>
            </a:pPr>
            <a:r>
              <a:rPr lang="en-US" altLang="zh-CN" sz="1600" dirty="0">
                <a:sym typeface="+mn-ea"/>
              </a:rPr>
              <a:t>7</a:t>
            </a:r>
            <a:r>
              <a:rPr lang="zh-CN" altLang="en-US" sz="1600" dirty="0">
                <a:sym typeface="+mn-ea"/>
              </a:rPr>
              <a:t>、</a:t>
            </a:r>
            <a:r>
              <a:rPr lang="zh-CN" altLang="en-US" sz="1600" dirty="0">
                <a:highlight>
                  <a:srgbClr val="FFFF00"/>
                </a:highlight>
                <a:sym typeface="+mn-ea"/>
              </a:rPr>
              <a:t>长征中，跳出敌人的重重包围：</a:t>
            </a:r>
            <a:r>
              <a:rPr lang="en-US" altLang="zh-CN" sz="1600" dirty="0">
                <a:solidFill>
                  <a:srgbClr val="FF0000"/>
                </a:solidFill>
                <a:highlight>
                  <a:srgbClr val="FFFF00"/>
                </a:highlight>
                <a:sym typeface="+mn-ea"/>
              </a:rPr>
              <a:t>A</a:t>
            </a:r>
            <a:r>
              <a:rPr lang="zh-CN" altLang="en-US" sz="1600" dirty="0">
                <a:solidFill>
                  <a:srgbClr val="FF0000"/>
                </a:solidFill>
                <a:highlight>
                  <a:srgbClr val="FFFF00"/>
                </a:highlight>
                <a:sym typeface="+mn-ea"/>
              </a:rPr>
              <a:t>渡过金沙江</a:t>
            </a:r>
            <a:endParaRPr lang="zh-CN" altLang="en-US" sz="1600" dirty="0">
              <a:solidFill>
                <a:srgbClr val="FF0000"/>
              </a:solidFill>
              <a:highlight>
                <a:srgbClr val="FFFF00"/>
              </a:highlight>
            </a:endParaRPr>
          </a:p>
          <a:p>
            <a:pPr>
              <a:lnSpc>
                <a:spcPct val="100000"/>
              </a:lnSpc>
            </a:pPr>
            <a:r>
              <a:rPr lang="zh-CN" altLang="en-US" sz="1600" b="1" u="sng" dirty="0">
                <a:solidFill>
                  <a:schemeClr val="accent1">
                    <a:lumMod val="75000"/>
                  </a:schemeClr>
                </a:solidFill>
                <a:highlight>
                  <a:srgbClr val="FFFF00"/>
                </a:highlight>
                <a:sym typeface="+mn-ea"/>
              </a:rPr>
              <a:t>B四渡赤水（打乱敌人的</a:t>
            </a:r>
            <a:r>
              <a:rPr lang="en-US" altLang="zh-CN" sz="1600" b="1" u="sng" dirty="0">
                <a:solidFill>
                  <a:schemeClr val="accent1">
                    <a:lumMod val="75000"/>
                  </a:schemeClr>
                </a:solidFill>
                <a:highlight>
                  <a:srgbClr val="FFFF00"/>
                </a:highlight>
                <a:sym typeface="+mn-ea"/>
              </a:rPr>
              <a:t>“</a:t>
            </a:r>
            <a:r>
              <a:rPr lang="zh-CN" altLang="en-US" sz="1600" b="1" u="sng" dirty="0">
                <a:solidFill>
                  <a:schemeClr val="accent1">
                    <a:lumMod val="75000"/>
                  </a:schemeClr>
                </a:solidFill>
                <a:highlight>
                  <a:srgbClr val="FFFF00"/>
                </a:highlight>
                <a:sym typeface="+mn-ea"/>
              </a:rPr>
              <a:t>追剿</a:t>
            </a:r>
            <a:r>
              <a:rPr lang="en-US" altLang="zh-CN" sz="1600" b="1" u="sng" dirty="0">
                <a:solidFill>
                  <a:schemeClr val="accent1">
                    <a:lumMod val="75000"/>
                  </a:schemeClr>
                </a:solidFill>
                <a:highlight>
                  <a:srgbClr val="FFFF00"/>
                </a:highlight>
                <a:sym typeface="+mn-ea"/>
              </a:rPr>
              <a:t>”</a:t>
            </a:r>
            <a:r>
              <a:rPr lang="zh-CN" altLang="en-US" sz="1600" b="1" u="sng" dirty="0">
                <a:solidFill>
                  <a:schemeClr val="accent1">
                    <a:lumMod val="75000"/>
                  </a:schemeClr>
                </a:solidFill>
                <a:highlight>
                  <a:srgbClr val="FFFF00"/>
                </a:highlight>
                <a:sym typeface="+mn-ea"/>
              </a:rPr>
              <a:t>计划）</a:t>
            </a:r>
            <a:r>
              <a:rPr lang="en-US" altLang="zh-CN" sz="1600" b="1" u="sng" dirty="0">
                <a:solidFill>
                  <a:schemeClr val="accent1">
                    <a:lumMod val="75000"/>
                  </a:schemeClr>
                </a:solidFill>
                <a:highlight>
                  <a:srgbClr val="FFFF00"/>
                </a:highlight>
                <a:sym typeface="+mn-ea"/>
              </a:rPr>
              <a:t>    </a:t>
            </a:r>
            <a:r>
              <a:rPr lang="zh-CN" altLang="en-US" sz="1600" b="1" u="sng" dirty="0">
                <a:solidFill>
                  <a:schemeClr val="accent1">
                    <a:lumMod val="75000"/>
                  </a:schemeClr>
                </a:solidFill>
                <a:highlight>
                  <a:srgbClr val="FFFF00"/>
                </a:highlight>
                <a:sym typeface="+mn-ea"/>
              </a:rPr>
              <a:t>胜利会师：甘肃会宁</a:t>
            </a:r>
            <a:endParaRPr lang="zh-CN" altLang="en-US" sz="1600" b="1" u="sng" dirty="0">
              <a:solidFill>
                <a:schemeClr val="accent1">
                  <a:lumMod val="75000"/>
                </a:schemeClr>
              </a:solidFill>
              <a:highlight>
                <a:srgbClr val="FFFF00"/>
              </a:highlight>
            </a:endParaRPr>
          </a:p>
          <a:p>
            <a:pPr>
              <a:lnSpc>
                <a:spcPct val="100000"/>
              </a:lnSpc>
            </a:pPr>
            <a:r>
              <a:rPr lang="en-US" altLang="zh-CN" sz="1600" dirty="0">
                <a:sym typeface="+mn-ea"/>
              </a:rPr>
              <a:t>8</a:t>
            </a:r>
            <a:r>
              <a:rPr lang="zh-CN" altLang="en-US" sz="1600" dirty="0">
                <a:sym typeface="+mn-ea"/>
              </a:rPr>
              <a:t>、</a:t>
            </a:r>
            <a:r>
              <a:rPr lang="zh-CN" altLang="en-US" sz="1600" dirty="0">
                <a:highlight>
                  <a:srgbClr val="FFFF00"/>
                </a:highlight>
                <a:sym typeface="+mn-ea"/>
              </a:rPr>
              <a:t>中国革命道路是：</a:t>
            </a:r>
            <a:r>
              <a:rPr lang="zh-CN" altLang="en-US" sz="1600" dirty="0">
                <a:solidFill>
                  <a:srgbClr val="FF0000"/>
                </a:solidFill>
                <a:highlight>
                  <a:srgbClr val="FFFF00"/>
                </a:highlight>
                <a:sym typeface="+mn-ea"/>
              </a:rPr>
              <a:t>农村包围城市、武装夺取政权、工农武装割据</a:t>
            </a:r>
            <a:endParaRPr lang="zh-CN" altLang="en-US" sz="1600" dirty="0">
              <a:solidFill>
                <a:srgbClr val="FF0000"/>
              </a:solidFill>
              <a:highlight>
                <a:srgbClr val="FFFF00"/>
              </a:highlight>
            </a:endParaRPr>
          </a:p>
          <a:p>
            <a:pPr>
              <a:lnSpc>
                <a:spcPct val="100000"/>
              </a:lnSpc>
            </a:pPr>
            <a:r>
              <a:rPr lang="en-US" altLang="zh-CN" sz="1600" dirty="0">
                <a:sym typeface="+mn-ea"/>
              </a:rPr>
              <a:t>9</a:t>
            </a:r>
            <a:r>
              <a:rPr lang="zh-CN" altLang="en-US" sz="1600" dirty="0">
                <a:sym typeface="+mn-ea"/>
              </a:rPr>
              <a:t>、抗日期间，提高了共产党和八路军的威望是哪场战争？</a:t>
            </a:r>
            <a:r>
              <a:rPr lang="zh-CN" altLang="en-US" sz="1600" dirty="0">
                <a:solidFill>
                  <a:srgbClr val="FF0000"/>
                </a:solidFill>
                <a:sym typeface="+mn-ea"/>
              </a:rPr>
              <a:t>百团大战、华北、彭德怀、破坏日军交通线</a:t>
            </a:r>
            <a:endParaRPr lang="zh-CN" altLang="en-US" sz="1600" dirty="0">
              <a:solidFill>
                <a:srgbClr val="FF0000"/>
              </a:solidFill>
            </a:endParaRPr>
          </a:p>
          <a:p>
            <a:pPr>
              <a:lnSpc>
                <a:spcPct val="100000"/>
              </a:lnSpc>
            </a:pPr>
            <a:r>
              <a:rPr lang="en-US" altLang="zh-CN" sz="1600" dirty="0">
                <a:sym typeface="+mn-ea"/>
              </a:rPr>
              <a:t>10</a:t>
            </a:r>
            <a:r>
              <a:rPr lang="zh-CN" altLang="en-US" sz="1600" dirty="0">
                <a:sym typeface="+mn-ea"/>
              </a:rPr>
              <a:t>、抗日期间，姚子青、谢晋元是哪场战争的？</a:t>
            </a:r>
            <a:r>
              <a:rPr lang="zh-CN" altLang="en-US" sz="1600" dirty="0">
                <a:solidFill>
                  <a:srgbClr val="FF0000"/>
                </a:solidFill>
                <a:highlight>
                  <a:srgbClr val="FFFF00"/>
                </a:highlight>
                <a:sym typeface="+mn-ea"/>
              </a:rPr>
              <a:t>淞沪会战（打破了日本三个月灭亡中国的迷梦）</a:t>
            </a:r>
            <a:r>
              <a:rPr lang="en-US" altLang="zh-CN" sz="1600" dirty="0">
                <a:solidFill>
                  <a:srgbClr val="FF0000"/>
                </a:solidFill>
                <a:sym typeface="+mn-ea"/>
              </a:rPr>
              <a:t>    </a:t>
            </a:r>
            <a:r>
              <a:rPr lang="zh-CN" altLang="en-US" sz="1600" b="1" u="sng" dirty="0">
                <a:solidFill>
                  <a:schemeClr val="accent1">
                    <a:lumMod val="75000"/>
                  </a:schemeClr>
                </a:solidFill>
                <a:sym typeface="+mn-ea"/>
              </a:rPr>
              <a:t>赵登禹、佟麟阁是在七七事变牺牲的</a:t>
            </a:r>
            <a:endParaRPr lang="zh-CN" altLang="en-US" sz="1600" b="1" u="sng" dirty="0">
              <a:solidFill>
                <a:schemeClr val="accent1">
                  <a:lumMod val="75000"/>
                </a:schemeClr>
              </a:solidFill>
            </a:endParaRPr>
          </a:p>
          <a:p>
            <a:pPr algn="l">
              <a:lnSpc>
                <a:spcPct val="100000"/>
              </a:lnSpc>
              <a:buClrTx/>
              <a:buSzTx/>
            </a:pPr>
            <a:r>
              <a:rPr lang="en-US" altLang="zh-CN" sz="1600" dirty="0">
                <a:sym typeface="+mn-ea"/>
              </a:rPr>
              <a:t>11</a:t>
            </a:r>
            <a:r>
              <a:rPr lang="zh-CN" altLang="en-US" sz="1600" dirty="0">
                <a:sym typeface="+mn-ea"/>
              </a:rPr>
              <a:t>、</a:t>
            </a:r>
            <a:r>
              <a:rPr lang="zh-CN" altLang="en-US" sz="1600" dirty="0">
                <a:highlight>
                  <a:srgbClr val="FFFF00"/>
                </a:highlight>
                <a:sym typeface="+mn-ea"/>
              </a:rPr>
              <a:t>第一个反帝反封建的革命纲领是什么时候提出的？</a:t>
            </a:r>
            <a:r>
              <a:rPr lang="zh-CN" altLang="en-US" sz="1600" dirty="0">
                <a:solidFill>
                  <a:srgbClr val="FF0000"/>
                </a:solidFill>
                <a:highlight>
                  <a:srgbClr val="FFFF00"/>
                </a:highlight>
                <a:sym typeface="+mn-ea"/>
              </a:rPr>
              <a:t>中共二大：打倒军阀、推翻帝国主义，将中国统一为真正的民主共和国。</a:t>
            </a:r>
            <a:endParaRPr lang="zh-CN" altLang="en-US" sz="1600" dirty="0">
              <a:solidFill>
                <a:srgbClr val="FF0000"/>
              </a:solidFill>
              <a:highlight>
                <a:srgbClr val="FFFF00"/>
              </a:highlight>
            </a:endParaRPr>
          </a:p>
          <a:p>
            <a:pPr algn="l">
              <a:lnSpc>
                <a:spcPct val="100000"/>
              </a:lnSpc>
              <a:buClrTx/>
              <a:buSzTx/>
            </a:pPr>
            <a:r>
              <a:rPr lang="en-US" altLang="zh-CN" sz="1600" dirty="0">
                <a:sym typeface="+mn-ea"/>
              </a:rPr>
              <a:t>12</a:t>
            </a:r>
            <a:r>
              <a:rPr lang="zh-CN" altLang="en-US" sz="1600" dirty="0">
                <a:sym typeface="+mn-ea"/>
              </a:rPr>
              <a:t>、成为讨伐封建主义的檄文是哪部文学作品？</a:t>
            </a:r>
            <a:r>
              <a:rPr lang="zh-CN" altLang="en-US" sz="1600" dirty="0">
                <a:solidFill>
                  <a:srgbClr val="FF0000"/>
                </a:solidFill>
                <a:sym typeface="+mn-ea"/>
              </a:rPr>
              <a:t>鲁迅《狂人日记》第一部白话文小说</a:t>
            </a:r>
            <a:endParaRPr lang="zh-CN" altLang="en-US" sz="1600" dirty="0">
              <a:solidFill>
                <a:srgbClr val="FF0000"/>
              </a:solidFill>
            </a:endParaRPr>
          </a:p>
          <a:p>
            <a:pPr>
              <a:lnSpc>
                <a:spcPct val="100000"/>
              </a:lnSpc>
            </a:pPr>
            <a:endParaRPr lang="zh-CN" altLang="en-US" sz="1600" dirty="0"/>
          </a:p>
          <a:p>
            <a:pPr>
              <a:lnSpc>
                <a:spcPct val="100000"/>
              </a:lnSpc>
            </a:pPr>
            <a:endParaRPr lang="zh-CN" altLang="en-US" sz="1600" dirty="0">
              <a:sym typeface="+mn-ea"/>
            </a:endParaRPr>
          </a:p>
          <a:p>
            <a:pPr>
              <a:lnSpc>
                <a:spcPct val="100000"/>
              </a:lnSpc>
            </a:pPr>
            <a:endParaRPr lang="zh-CN" altLang="en-US" sz="1600" dirty="0"/>
          </a:p>
          <a:p>
            <a:pPr>
              <a:lnSpc>
                <a:spcPct val="100000"/>
              </a:lnSpc>
            </a:pPr>
            <a:endParaRPr lang="zh-CN" altLang="en-US" sz="1600" dirty="0"/>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0" y="45085"/>
            <a:ext cx="11779250" cy="6812915"/>
          </a:xfrm>
        </p:spPr>
        <p:txBody>
          <a:bodyPr>
            <a:noAutofit/>
          </a:bodyPr>
          <a:lstStyle/>
          <a:p>
            <a:pPr>
              <a:lnSpc>
                <a:spcPct val="100000"/>
              </a:lnSpc>
              <a:spcAft>
                <a:spcPts val="400"/>
              </a:spcAft>
            </a:pPr>
            <a:r>
              <a:rPr lang="zh-CN" altLang="en-US" sz="2200" dirty="0">
                <a:solidFill>
                  <a:srgbClr val="FF0000"/>
                </a:solidFill>
                <a:highlight>
                  <a:srgbClr val="FFFF00"/>
                </a:highlight>
              </a:rPr>
              <a:t>辛亥革命影响</a:t>
            </a:r>
            <a:r>
              <a:rPr lang="zh-CN" altLang="en-US" sz="2200" dirty="0">
                <a:solidFill>
                  <a:srgbClr val="FF0000"/>
                </a:solidFill>
              </a:rPr>
              <a:t>：</a:t>
            </a:r>
            <a:r>
              <a:rPr lang="en-US" altLang="en-US" sz="2200" dirty="0">
                <a:sym typeface="+mn-ea"/>
              </a:rPr>
              <a:t>①</a:t>
            </a:r>
            <a:r>
              <a:rPr lang="zh-CN" altLang="en-US" sz="2200" dirty="0"/>
              <a:t>推翻了清王朝的反动统治，结束了封建帝制；</a:t>
            </a:r>
            <a:r>
              <a:rPr lang="en-US" altLang="en-US" sz="2200" dirty="0"/>
              <a:t>②</a:t>
            </a:r>
            <a:r>
              <a:rPr lang="zh-CN" altLang="en-US" sz="2200" dirty="0"/>
              <a:t>它开创了完全意义上的近代民族民主革命，极大地推动了中华民族的思想解放，</a:t>
            </a:r>
            <a:r>
              <a:rPr lang="en-US" altLang="en-US" sz="2200" dirty="0"/>
              <a:t>③</a:t>
            </a:r>
            <a:r>
              <a:rPr lang="zh-CN" altLang="en-US" sz="2200" dirty="0"/>
              <a:t>促进民族资本主义的发展</a:t>
            </a:r>
            <a:r>
              <a:rPr lang="en-US" altLang="zh-CN" sz="2200" dirty="0"/>
              <a:t>  </a:t>
            </a:r>
            <a:r>
              <a:rPr lang="en-US" altLang="en-US" sz="2200" dirty="0"/>
              <a:t>④</a:t>
            </a:r>
            <a:r>
              <a:rPr lang="zh-CN" altLang="en-US" sz="2200" dirty="0"/>
              <a:t>社会观念的转变和移风易俗。局限：</a:t>
            </a:r>
            <a:r>
              <a:rPr lang="zh-CN" altLang="en-US" sz="2200" dirty="0">
                <a:latin typeface="Calibri" panose="020F0502020204030204" charset="0"/>
              </a:rPr>
              <a:t>⑤没有完成反帝反封建的任务；没有改变半殖民地半封建社会。</a:t>
            </a:r>
            <a:endParaRPr lang="zh-CN" altLang="en-US" sz="2200" dirty="0"/>
          </a:p>
          <a:p>
            <a:pPr>
              <a:lnSpc>
                <a:spcPct val="100000"/>
              </a:lnSpc>
              <a:spcAft>
                <a:spcPts val="400"/>
              </a:spcAft>
            </a:pPr>
            <a:r>
              <a:rPr lang="zh-CN" altLang="en-US" sz="2200" dirty="0">
                <a:solidFill>
                  <a:srgbClr val="FF0000"/>
                </a:solidFill>
              </a:rPr>
              <a:t>1、中国同盟会成立：</a:t>
            </a:r>
            <a:r>
              <a:rPr lang="en-US" altLang="zh-CN" sz="2200" dirty="0"/>
              <a:t>1905</a:t>
            </a:r>
            <a:r>
              <a:rPr lang="zh-CN" altLang="en-US" sz="2200" dirty="0"/>
              <a:t>、东京</a:t>
            </a:r>
            <a:r>
              <a:rPr lang="en-US" altLang="zh-CN" sz="2200" dirty="0"/>
              <a:t>      </a:t>
            </a:r>
            <a:r>
              <a:rPr lang="zh-CN" altLang="en-US" sz="2200" dirty="0">
                <a:solidFill>
                  <a:srgbClr val="FF0000"/>
                </a:solidFill>
              </a:rPr>
              <a:t> 机关报：</a:t>
            </a:r>
            <a:r>
              <a:rPr lang="zh-CN" altLang="en-US" sz="2200" dirty="0"/>
              <a:t>《民报》</a:t>
            </a:r>
          </a:p>
          <a:p>
            <a:pPr>
              <a:lnSpc>
                <a:spcPct val="100000"/>
              </a:lnSpc>
              <a:spcAft>
                <a:spcPts val="400"/>
              </a:spcAft>
            </a:pPr>
            <a:r>
              <a:rPr lang="zh-CN" altLang="en-US" sz="2200" dirty="0">
                <a:solidFill>
                  <a:srgbClr val="FF0000"/>
                </a:solidFill>
              </a:rPr>
              <a:t>2、同盟会政治纲领：</a:t>
            </a:r>
            <a:r>
              <a:rPr lang="zh-CN" altLang="en-US" sz="2200" dirty="0"/>
              <a:t>驱除鞑虏、恢复中华（民族）、创立民国（民权）、平均地权（民生）</a:t>
            </a:r>
          </a:p>
          <a:p>
            <a:pPr>
              <a:lnSpc>
                <a:spcPct val="100000"/>
              </a:lnSpc>
              <a:spcAft>
                <a:spcPts val="400"/>
              </a:spcAft>
            </a:pPr>
            <a:r>
              <a:rPr lang="zh-CN" altLang="en-US" sz="2200" dirty="0">
                <a:solidFill>
                  <a:srgbClr val="FF0000"/>
                </a:solidFill>
              </a:rPr>
              <a:t>3、地位：</a:t>
            </a:r>
            <a:r>
              <a:rPr lang="zh-CN" altLang="en-US" sz="2200" dirty="0"/>
              <a:t>第一个全国规模的、统一的资产阶级革命政党。</a:t>
            </a:r>
          </a:p>
          <a:p>
            <a:pPr>
              <a:lnSpc>
                <a:spcPct val="100000"/>
              </a:lnSpc>
              <a:spcAft>
                <a:spcPts val="400"/>
              </a:spcAft>
            </a:pPr>
            <a:r>
              <a:rPr lang="en-US" altLang="zh-CN" sz="2200" dirty="0"/>
              <a:t>4</a:t>
            </a:r>
            <a:r>
              <a:rPr lang="zh-CN" altLang="en-US" sz="2200" dirty="0"/>
              <a:t>、</a:t>
            </a:r>
            <a:r>
              <a:rPr lang="en-US" altLang="zh-CN" sz="2200" dirty="0"/>
              <a:t>1911</a:t>
            </a:r>
            <a:r>
              <a:rPr lang="zh-CN" altLang="en-US" sz="2200" dirty="0"/>
              <a:t>年</a:t>
            </a:r>
            <a:r>
              <a:rPr lang="zh-CN" altLang="en-US" sz="2200" dirty="0">
                <a:solidFill>
                  <a:srgbClr val="FF0000"/>
                </a:solidFill>
              </a:rPr>
              <a:t>广州黄花岗</a:t>
            </a:r>
            <a:r>
              <a:rPr lang="zh-CN" altLang="en-US" sz="2200" dirty="0"/>
              <a:t>起义，革命党人不屈不挠的精神和视死如归的英雄气概鼓舞了全国人民的斗志。</a:t>
            </a:r>
          </a:p>
          <a:p>
            <a:pPr>
              <a:lnSpc>
                <a:spcPct val="100000"/>
              </a:lnSpc>
              <a:spcAft>
                <a:spcPts val="400"/>
              </a:spcAft>
            </a:pPr>
            <a:r>
              <a:rPr lang="zh-CN" altLang="en-US" sz="2200" dirty="0">
                <a:solidFill>
                  <a:srgbClr val="FF0000"/>
                </a:solidFill>
                <a:highlight>
                  <a:srgbClr val="FFFF00"/>
                </a:highlight>
              </a:rPr>
              <a:t>5、辛亥革命：</a:t>
            </a:r>
            <a:r>
              <a:rPr lang="en-US" altLang="zh-CN" sz="2200" dirty="0">
                <a:highlight>
                  <a:srgbClr val="FFFF00"/>
                </a:highlight>
              </a:rPr>
              <a:t>1911</a:t>
            </a:r>
            <a:r>
              <a:rPr lang="zh-CN" altLang="en-US" sz="2200" dirty="0">
                <a:highlight>
                  <a:srgbClr val="FFFF00"/>
                </a:highlight>
              </a:rPr>
              <a:t>年</a:t>
            </a:r>
            <a:r>
              <a:rPr lang="en-US" altLang="zh-CN" sz="2200" dirty="0">
                <a:highlight>
                  <a:srgbClr val="FFFF00"/>
                </a:highlight>
              </a:rPr>
              <a:t>10</a:t>
            </a:r>
            <a:r>
              <a:rPr lang="zh-CN" altLang="en-US" sz="2200" dirty="0">
                <a:highlight>
                  <a:srgbClr val="FFFF00"/>
                </a:highlight>
              </a:rPr>
              <a:t>月</a:t>
            </a:r>
            <a:r>
              <a:rPr lang="en-US" altLang="zh-CN" sz="2200" dirty="0">
                <a:highlight>
                  <a:srgbClr val="FFFF00"/>
                </a:highlight>
              </a:rPr>
              <a:t>10</a:t>
            </a:r>
            <a:r>
              <a:rPr lang="zh-CN" altLang="en-US" sz="2200" dirty="0">
                <a:highlight>
                  <a:srgbClr val="FFFF00"/>
                </a:highlight>
              </a:rPr>
              <a:t>日、武昌</a:t>
            </a:r>
          </a:p>
          <a:p>
            <a:pPr>
              <a:lnSpc>
                <a:spcPct val="100000"/>
              </a:lnSpc>
              <a:spcAft>
                <a:spcPts val="400"/>
              </a:spcAft>
            </a:pPr>
            <a:r>
              <a:rPr lang="zh-CN" altLang="en-US" sz="2200" dirty="0">
                <a:solidFill>
                  <a:srgbClr val="FF0000"/>
                </a:solidFill>
              </a:rPr>
              <a:t>6、</a:t>
            </a:r>
            <a:r>
              <a:rPr lang="zh-CN" altLang="en-US" sz="2200" dirty="0">
                <a:solidFill>
                  <a:srgbClr val="FF0000"/>
                </a:solidFill>
                <a:sym typeface="+mn-ea"/>
              </a:rPr>
              <a:t>宣传革命思想的著作：</a:t>
            </a:r>
            <a:r>
              <a:rPr lang="zh-CN" altLang="en-US" sz="2200" dirty="0">
                <a:sym typeface="+mn-ea"/>
              </a:rPr>
              <a:t>《革命军》《猛回头》《警示钟》《驳康有为论革命书》</a:t>
            </a:r>
            <a:endParaRPr lang="zh-CN" altLang="en-US" sz="2200" dirty="0"/>
          </a:p>
          <a:p>
            <a:pPr>
              <a:lnSpc>
                <a:spcPct val="100000"/>
              </a:lnSpc>
              <a:spcAft>
                <a:spcPts val="400"/>
              </a:spcAft>
            </a:pPr>
            <a:r>
              <a:rPr lang="zh-CN" altLang="en-US" sz="2200" dirty="0">
                <a:solidFill>
                  <a:srgbClr val="FF0000"/>
                </a:solidFill>
              </a:rPr>
              <a:t>7、辛亥革命的背景：</a:t>
            </a:r>
            <a:r>
              <a:rPr lang="zh-CN" altLang="en-US" sz="2200" dirty="0"/>
              <a:t>《辛丑条约》后，清政府沦为帝国主义统治中国的工具，国内革命情绪高涨。</a:t>
            </a:r>
          </a:p>
          <a:p>
            <a:pPr>
              <a:lnSpc>
                <a:spcPct val="100000"/>
              </a:lnSpc>
              <a:spcAft>
                <a:spcPts val="400"/>
              </a:spcAft>
            </a:pPr>
            <a:r>
              <a:rPr lang="zh-CN" altLang="en-US" sz="2200" dirty="0">
                <a:solidFill>
                  <a:srgbClr val="FF0000"/>
                </a:solidFill>
              </a:rPr>
              <a:t>8、</a:t>
            </a:r>
            <a:r>
              <a:rPr lang="zh-CN" altLang="en-US" sz="2200" dirty="0">
                <a:solidFill>
                  <a:srgbClr val="FF0000"/>
                </a:solidFill>
                <a:highlight>
                  <a:srgbClr val="FFFF00"/>
                </a:highlight>
                <a:sym typeface="+mn-ea"/>
              </a:rPr>
              <a:t>辛亥革命的成果：</a:t>
            </a:r>
            <a:r>
              <a:rPr lang="zh-CN" altLang="en-US" sz="2200" dirty="0">
                <a:highlight>
                  <a:srgbClr val="FFFF00"/>
                </a:highlight>
                <a:sym typeface="+mn-ea"/>
              </a:rPr>
              <a:t>民国、清帝退位、《中国民国临时约法》</a:t>
            </a:r>
            <a:endParaRPr lang="zh-CN" altLang="en-US" sz="2200" dirty="0">
              <a:highlight>
                <a:srgbClr val="FFFF00"/>
              </a:highlight>
            </a:endParaRPr>
          </a:p>
          <a:p>
            <a:pPr>
              <a:lnSpc>
                <a:spcPct val="100000"/>
              </a:lnSpc>
              <a:spcAft>
                <a:spcPts val="400"/>
              </a:spcAft>
            </a:pPr>
            <a:r>
              <a:rPr lang="zh-CN" altLang="en-US" sz="2200" dirty="0">
                <a:solidFill>
                  <a:srgbClr val="FF0000"/>
                </a:solidFill>
              </a:rPr>
              <a:t>9、</a:t>
            </a:r>
            <a:r>
              <a:rPr lang="zh-CN" altLang="en-US" sz="2200" dirty="0">
                <a:solidFill>
                  <a:srgbClr val="FF0000"/>
                </a:solidFill>
                <a:sym typeface="+mn-ea"/>
              </a:rPr>
              <a:t>《中国民国临时约法》性质和影响：</a:t>
            </a:r>
            <a:r>
              <a:rPr lang="zh-CN" altLang="en-US" sz="2200" dirty="0"/>
              <a:t>中国历史上第一部具有资产阶级共和国宪法性质的重要文件；肯定资产阶级民主共和制度和民主自由的原则、</a:t>
            </a:r>
          </a:p>
          <a:p>
            <a:pPr>
              <a:lnSpc>
                <a:spcPct val="100000"/>
              </a:lnSpc>
              <a:spcAft>
                <a:spcPts val="400"/>
              </a:spcAft>
            </a:pPr>
            <a:r>
              <a:rPr lang="en-US" altLang="zh-CN" sz="2200" dirty="0"/>
              <a:t>10</a:t>
            </a:r>
            <a:r>
              <a:rPr lang="zh-CN" altLang="en-US" sz="2200" dirty="0"/>
              <a:t>、</a:t>
            </a:r>
            <a:r>
              <a:rPr lang="zh-CN" altLang="en-US" sz="2200" dirty="0">
                <a:sym typeface="+mn-ea"/>
              </a:rPr>
              <a:t>宋教仁案</a:t>
            </a:r>
            <a:r>
              <a:rPr lang="en-US" altLang="zh-CN" sz="2200" dirty="0">
                <a:sym typeface="+mn-ea"/>
              </a:rPr>
              <a:t>—</a:t>
            </a:r>
            <a:r>
              <a:rPr lang="zh-CN" altLang="en-US" sz="2200" dirty="0">
                <a:sym typeface="+mn-ea"/>
              </a:rPr>
              <a:t>二次革命</a:t>
            </a:r>
            <a:r>
              <a:rPr lang="en-US" altLang="zh-CN" sz="2200" dirty="0">
                <a:sym typeface="+mn-ea"/>
              </a:rPr>
              <a:t>—</a:t>
            </a:r>
            <a:r>
              <a:rPr lang="zh-CN" altLang="en-US" sz="2200" dirty="0">
                <a:sym typeface="+mn-ea"/>
              </a:rPr>
              <a:t>袁复辟帝制</a:t>
            </a:r>
            <a:r>
              <a:rPr lang="en-US" altLang="zh-CN" sz="2200" dirty="0">
                <a:sym typeface="+mn-ea"/>
              </a:rPr>
              <a:t>—</a:t>
            </a:r>
            <a:r>
              <a:rPr lang="zh-CN" altLang="en-US" sz="2200" dirty="0">
                <a:sym typeface="+mn-ea"/>
              </a:rPr>
              <a:t>护国运动</a:t>
            </a:r>
            <a:r>
              <a:rPr lang="en-US" altLang="zh-CN" sz="2200" dirty="0">
                <a:sym typeface="+mn-ea"/>
              </a:rPr>
              <a:t>—</a:t>
            </a:r>
            <a:r>
              <a:rPr lang="zh-CN" altLang="en-US" sz="2200" dirty="0">
                <a:sym typeface="+mn-ea"/>
              </a:rPr>
              <a:t>北洋军阀混战</a:t>
            </a:r>
            <a:endParaRPr lang="zh-CN" altLang="en-US" sz="2200" dirty="0"/>
          </a:p>
          <a:p>
            <a:pPr>
              <a:lnSpc>
                <a:spcPct val="100000"/>
              </a:lnSpc>
              <a:spcAft>
                <a:spcPts val="400"/>
              </a:spcAft>
            </a:pPr>
            <a:endParaRPr lang="zh-CN" altLang="en-US" sz="2200" dirty="0"/>
          </a:p>
          <a:p>
            <a:pPr>
              <a:lnSpc>
                <a:spcPct val="100000"/>
              </a:lnSpc>
              <a:spcAft>
                <a:spcPts val="400"/>
              </a:spcAft>
            </a:pPr>
            <a:endParaRPr lang="zh-CN" altLang="en-US" sz="2200" dirty="0"/>
          </a:p>
          <a:p>
            <a:pPr>
              <a:lnSpc>
                <a:spcPct val="100000"/>
              </a:lnSpc>
              <a:spcAft>
                <a:spcPts val="400"/>
              </a:spcAft>
            </a:pPr>
            <a:endParaRPr lang="zh-CN" altLang="en-US" sz="2200" dirty="0"/>
          </a:p>
          <a:p>
            <a:pPr>
              <a:lnSpc>
                <a:spcPct val="100000"/>
              </a:lnSpc>
              <a:spcAft>
                <a:spcPts val="400"/>
              </a:spcAft>
            </a:pPr>
            <a:endParaRPr lang="zh-CN" altLang="en-US" sz="2200" dirty="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274320" y="144780"/>
            <a:ext cx="11646535" cy="6569075"/>
          </a:xfrm>
        </p:spPr>
        <p:txBody>
          <a:bodyPr>
            <a:normAutofit fontScale="90000"/>
          </a:bodyPr>
          <a:lstStyle/>
          <a:p>
            <a:r>
              <a:rPr lang="zh-CN" altLang="en-US" sz="2800" dirty="0">
                <a:highlight>
                  <a:srgbClr val="FFFF00"/>
                </a:highlight>
                <a:sym typeface="+mn-ea"/>
              </a:rPr>
              <a:t>甲午中日战争</a:t>
            </a:r>
            <a:r>
              <a:rPr lang="zh-CN" altLang="en-US" sz="2800" dirty="0">
                <a:sym typeface="+mn-ea"/>
              </a:rPr>
              <a:t>：</a:t>
            </a:r>
            <a:r>
              <a:rPr lang="en-US" altLang="zh-CN" sz="2800" dirty="0">
                <a:solidFill>
                  <a:srgbClr val="FF0000"/>
                </a:solidFill>
                <a:sym typeface="+mn-ea"/>
              </a:rPr>
              <a:t>1894-1895</a:t>
            </a:r>
            <a:r>
              <a:rPr lang="zh-CN" altLang="en-US" sz="2800" dirty="0">
                <a:solidFill>
                  <a:srgbClr val="FF0000"/>
                </a:solidFill>
                <a:sym typeface="+mn-ea"/>
              </a:rPr>
              <a:t>，侵略势力进一步深入中国腹地，大大加深了中国半殖民地化程度，刺激列强掀起瓜分中国狂潮，进一步加剧民族危机。激起中华民族觉醒，推动中国人民展开救亡图存斗争（百日维新、实业救国）</a:t>
            </a:r>
          </a:p>
          <a:p>
            <a:r>
              <a:rPr lang="zh-CN" altLang="en-US" sz="2800" dirty="0">
                <a:highlight>
                  <a:srgbClr val="FFFF00"/>
                </a:highlight>
                <a:sym typeface="+mn-ea"/>
              </a:rPr>
              <a:t>《马关条约》</a:t>
            </a:r>
            <a:r>
              <a:rPr lang="zh-CN" altLang="en-US" sz="2800" dirty="0">
                <a:sym typeface="+mn-ea"/>
              </a:rPr>
              <a:t>：</a:t>
            </a:r>
            <a:r>
              <a:rPr lang="zh-CN" altLang="en-US" sz="2800" dirty="0">
                <a:solidFill>
                  <a:srgbClr val="FF0000"/>
                </a:solidFill>
                <a:sym typeface="+mn-ea"/>
              </a:rPr>
              <a:t>割三地（辽东半岛、澎湖列岛、台湾）赔两亿（白银）开四口（沙市、重庆、苏州、杭州）允设厂（日本在通商口岸开设工厂）。</a:t>
            </a:r>
            <a:endParaRPr lang="zh-CN" altLang="en-US" sz="2800" dirty="0">
              <a:solidFill>
                <a:srgbClr val="FF0000"/>
              </a:solidFill>
            </a:endParaRPr>
          </a:p>
          <a:p>
            <a:r>
              <a:rPr lang="zh-CN" altLang="en-US" sz="2800" dirty="0">
                <a:highlight>
                  <a:srgbClr val="FFFF00"/>
                </a:highlight>
              </a:rPr>
              <a:t>《辛丑》</a:t>
            </a:r>
            <a:r>
              <a:rPr lang="zh-CN" altLang="en-US" sz="2800" dirty="0"/>
              <a:t>：</a:t>
            </a:r>
            <a:r>
              <a:rPr lang="en-US" altLang="en-US" sz="2800" dirty="0">
                <a:solidFill>
                  <a:srgbClr val="FF0000"/>
                </a:solidFill>
              </a:rPr>
              <a:t>①</a:t>
            </a:r>
            <a:r>
              <a:rPr lang="zh-CN" altLang="en-US" sz="2800" dirty="0">
                <a:solidFill>
                  <a:srgbClr val="FF0000"/>
                </a:solidFill>
              </a:rPr>
              <a:t>清政府赔款白银</a:t>
            </a:r>
            <a:r>
              <a:rPr lang="en-US" altLang="zh-CN" sz="2800" dirty="0">
                <a:solidFill>
                  <a:srgbClr val="FF0000"/>
                </a:solidFill>
              </a:rPr>
              <a:t>4.5</a:t>
            </a:r>
            <a:r>
              <a:rPr lang="zh-CN" altLang="en-US" sz="2800" dirty="0">
                <a:solidFill>
                  <a:srgbClr val="FF0000"/>
                </a:solidFill>
              </a:rPr>
              <a:t>亿两，分</a:t>
            </a:r>
            <a:r>
              <a:rPr lang="en-US" altLang="zh-CN" sz="2800" dirty="0">
                <a:solidFill>
                  <a:srgbClr val="FF0000"/>
                </a:solidFill>
              </a:rPr>
              <a:t>39</a:t>
            </a:r>
            <a:r>
              <a:rPr lang="zh-CN" altLang="en-US" sz="2800" dirty="0">
                <a:solidFill>
                  <a:srgbClr val="FF0000"/>
                </a:solidFill>
              </a:rPr>
              <a:t>年还清，本息共计</a:t>
            </a:r>
            <a:r>
              <a:rPr lang="en-US" altLang="zh-CN" sz="2800" dirty="0">
                <a:solidFill>
                  <a:srgbClr val="FF0000"/>
                </a:solidFill>
              </a:rPr>
              <a:t>9. 8</a:t>
            </a:r>
            <a:r>
              <a:rPr lang="zh-CN" altLang="en-US" sz="2800" dirty="0">
                <a:solidFill>
                  <a:srgbClr val="FF0000"/>
                </a:solidFill>
              </a:rPr>
              <a:t>亿两，以海关税、盐税等税收作担保</a:t>
            </a:r>
            <a:r>
              <a:rPr lang="en-US" altLang="zh-CN" sz="2800" dirty="0">
                <a:solidFill>
                  <a:srgbClr val="FF0000"/>
                </a:solidFill>
              </a:rPr>
              <a:t>;</a:t>
            </a:r>
            <a:r>
              <a:rPr lang="en-US" altLang="en-US" sz="2800" dirty="0">
                <a:solidFill>
                  <a:srgbClr val="FF0000"/>
                </a:solidFill>
              </a:rPr>
              <a:t>②</a:t>
            </a:r>
            <a:r>
              <a:rPr lang="zh-CN" altLang="en-US" sz="2800" dirty="0">
                <a:solidFill>
                  <a:srgbClr val="FF0000"/>
                </a:solidFill>
              </a:rPr>
              <a:t>清政府保证严禁人民参加各种形式的反帝活动</a:t>
            </a:r>
            <a:r>
              <a:rPr lang="en-US" altLang="zh-CN" sz="2800" dirty="0">
                <a:solidFill>
                  <a:srgbClr val="FF0000"/>
                </a:solidFill>
              </a:rPr>
              <a:t>;</a:t>
            </a:r>
            <a:r>
              <a:rPr lang="zh-CN" altLang="en-US" sz="2800" dirty="0">
                <a:solidFill>
                  <a:srgbClr val="FF0000"/>
                </a:solidFill>
              </a:rPr>
              <a:t>清政府拆毁大沽炮台，</a:t>
            </a:r>
            <a:r>
              <a:rPr lang="en-US" altLang="en-US" sz="2800" dirty="0">
                <a:solidFill>
                  <a:srgbClr val="FF0000"/>
                </a:solidFill>
              </a:rPr>
              <a:t>③</a:t>
            </a:r>
            <a:r>
              <a:rPr lang="zh-CN" altLang="en-US" sz="2800" dirty="0">
                <a:solidFill>
                  <a:srgbClr val="FF0000"/>
                </a:solidFill>
              </a:rPr>
              <a:t>允许外国军队驻扎在从北京到山海关的铁路沿线要地</a:t>
            </a:r>
            <a:r>
              <a:rPr lang="en-US" altLang="zh-CN" sz="2800" dirty="0">
                <a:solidFill>
                  <a:srgbClr val="FF0000"/>
                </a:solidFill>
              </a:rPr>
              <a:t>;</a:t>
            </a:r>
            <a:r>
              <a:rPr lang="en-US" altLang="en-US" sz="2800" dirty="0">
                <a:solidFill>
                  <a:srgbClr val="FF0000"/>
                </a:solidFill>
              </a:rPr>
              <a:t>④</a:t>
            </a:r>
            <a:r>
              <a:rPr lang="zh-CN" altLang="en-US" sz="2800" dirty="0">
                <a:solidFill>
                  <a:srgbClr val="FF0000"/>
                </a:solidFill>
              </a:rPr>
              <a:t>划定北京东交民巷为使馆界，允许各国派兵驻守，不准中国人居住，改总理衙门为外务部，班列六部之前。</a:t>
            </a:r>
          </a:p>
          <a:p>
            <a:r>
              <a:rPr lang="zh-CN" altLang="en-US" sz="2800" dirty="0">
                <a:highlight>
                  <a:srgbClr val="FFFF00"/>
                </a:highlight>
                <a:sym typeface="+mn-ea"/>
              </a:rPr>
              <a:t>《辛丑》影响</a:t>
            </a:r>
            <a:r>
              <a:rPr lang="zh-CN" altLang="en-US" sz="2800" dirty="0">
                <a:sym typeface="+mn-ea"/>
              </a:rPr>
              <a:t>：</a:t>
            </a:r>
            <a:r>
              <a:rPr lang="zh-CN" altLang="en-US" sz="2800" dirty="0">
                <a:solidFill>
                  <a:srgbClr val="FF0000"/>
                </a:solidFill>
              </a:rPr>
              <a:t>清政府沦为帝国主义列统治中国的工具，中国完全陷入半殖民地半封建社会的深渊。</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92075" y="0"/>
            <a:ext cx="12007215" cy="6123940"/>
          </a:xfrm>
        </p:spPr>
        <p:txBody>
          <a:bodyPr>
            <a:noAutofit/>
          </a:bodyPr>
          <a:lstStyle/>
          <a:p>
            <a:pPr>
              <a:lnSpc>
                <a:spcPct val="100000"/>
              </a:lnSpc>
              <a:spcAft>
                <a:spcPts val="400"/>
              </a:spcAft>
            </a:pPr>
            <a:r>
              <a:rPr lang="en-US" altLang="zh-CN" sz="2200" dirty="0">
                <a:sym typeface="+mn-ea"/>
              </a:rPr>
              <a:t>1</a:t>
            </a:r>
            <a:r>
              <a:rPr lang="zh-CN" altLang="en-US" sz="2200" dirty="0">
                <a:sym typeface="+mn-ea"/>
              </a:rPr>
              <a:t>、第一次近代化运动</a:t>
            </a:r>
            <a:r>
              <a:rPr lang="en-US" altLang="zh-CN" sz="2200" dirty="0">
                <a:sym typeface="+mn-ea"/>
              </a:rPr>
              <a:t>:</a:t>
            </a:r>
            <a:r>
              <a:rPr lang="zh-CN" altLang="en-US" sz="2200" dirty="0">
                <a:solidFill>
                  <a:srgbClr val="FF0000"/>
                </a:solidFill>
                <a:sym typeface="+mn-ea"/>
              </a:rPr>
              <a:t>洋务运动（近代化的开端）</a:t>
            </a:r>
            <a:r>
              <a:rPr lang="en-US" altLang="zh-CN" sz="2200" dirty="0">
                <a:solidFill>
                  <a:srgbClr val="FF0000"/>
                </a:solidFill>
                <a:sym typeface="+mn-ea"/>
              </a:rPr>
              <a:t>   </a:t>
            </a:r>
            <a:r>
              <a:rPr lang="zh-CN" altLang="en-US" sz="2200" dirty="0">
                <a:sym typeface="+mn-ea"/>
              </a:rPr>
              <a:t>中国近代史的开端：</a:t>
            </a:r>
            <a:r>
              <a:rPr lang="zh-CN" altLang="en-US" sz="2200" dirty="0">
                <a:solidFill>
                  <a:srgbClr val="FF0000"/>
                </a:solidFill>
                <a:sym typeface="+mn-ea"/>
              </a:rPr>
              <a:t>鸦片战争</a:t>
            </a:r>
            <a:endParaRPr lang="en-US" altLang="zh-CN" sz="2200" dirty="0"/>
          </a:p>
          <a:p>
            <a:pPr>
              <a:lnSpc>
                <a:spcPct val="100000"/>
              </a:lnSpc>
              <a:spcAft>
                <a:spcPts val="400"/>
              </a:spcAft>
            </a:pPr>
            <a:r>
              <a:rPr lang="en-US" altLang="zh-CN" sz="2200" dirty="0">
                <a:sym typeface="+mn-ea"/>
              </a:rPr>
              <a:t>2</a:t>
            </a:r>
            <a:r>
              <a:rPr lang="zh-CN" altLang="en-US" sz="2200" dirty="0">
                <a:sym typeface="+mn-ea"/>
              </a:rPr>
              <a:t>、洋务运动破产的标志：</a:t>
            </a:r>
            <a:r>
              <a:rPr lang="zh-CN" altLang="en-US" sz="2200" dirty="0">
                <a:solidFill>
                  <a:srgbClr val="FF0000"/>
                </a:solidFill>
                <a:sym typeface="+mn-ea"/>
              </a:rPr>
              <a:t>甲午战争北洋舰队全军覆没</a:t>
            </a:r>
            <a:endParaRPr lang="zh-CN" altLang="en-US" sz="2200" dirty="0">
              <a:solidFill>
                <a:srgbClr val="FF0000"/>
              </a:solidFill>
            </a:endParaRPr>
          </a:p>
          <a:p>
            <a:pPr algn="l">
              <a:lnSpc>
                <a:spcPct val="100000"/>
              </a:lnSpc>
              <a:spcAft>
                <a:spcPts val="400"/>
              </a:spcAft>
              <a:buClrTx/>
              <a:buSzTx/>
            </a:pPr>
            <a:r>
              <a:rPr lang="en-US" altLang="zh-CN" sz="2200" dirty="0">
                <a:sym typeface="+mn-ea"/>
              </a:rPr>
              <a:t>3</a:t>
            </a:r>
            <a:r>
              <a:rPr lang="zh-CN" altLang="en-US" sz="2200" dirty="0">
                <a:sym typeface="+mn-ea"/>
              </a:rPr>
              <a:t>、拉开维新变法运动的序幕是：</a:t>
            </a:r>
            <a:r>
              <a:rPr lang="zh-CN" altLang="en-US" sz="2200" dirty="0">
                <a:solidFill>
                  <a:srgbClr val="FF0000"/>
                </a:solidFill>
                <a:sym typeface="+mn-ea"/>
              </a:rPr>
              <a:t>公车上书</a:t>
            </a:r>
            <a:endParaRPr lang="zh-CN" altLang="en-US" sz="2200" dirty="0">
              <a:solidFill>
                <a:srgbClr val="FF0000"/>
              </a:solidFill>
            </a:endParaRPr>
          </a:p>
          <a:p>
            <a:pPr algn="l">
              <a:lnSpc>
                <a:spcPct val="100000"/>
              </a:lnSpc>
              <a:spcAft>
                <a:spcPts val="400"/>
              </a:spcAft>
              <a:buClrTx/>
              <a:buSzTx/>
            </a:pPr>
            <a:r>
              <a:rPr lang="en-US" altLang="zh-CN" sz="2200" dirty="0">
                <a:sym typeface="+mn-ea"/>
              </a:rPr>
              <a:t>4</a:t>
            </a:r>
            <a:r>
              <a:rPr lang="zh-CN" altLang="en-US" sz="2200" dirty="0">
                <a:sym typeface="+mn-ea"/>
              </a:rPr>
              <a:t>、义和团的口号、性质：</a:t>
            </a:r>
            <a:r>
              <a:rPr lang="zh-CN" altLang="en-US" sz="2200" dirty="0">
                <a:solidFill>
                  <a:srgbClr val="FF0000"/>
                </a:solidFill>
                <a:sym typeface="+mn-ea"/>
              </a:rPr>
              <a:t>扶清灭洋、广泛群众性反帝爱国运动</a:t>
            </a:r>
            <a:endParaRPr lang="zh-CN" altLang="en-US" sz="2200" dirty="0">
              <a:solidFill>
                <a:srgbClr val="FF0000"/>
              </a:solidFill>
            </a:endParaRPr>
          </a:p>
          <a:p>
            <a:pPr algn="l">
              <a:lnSpc>
                <a:spcPct val="100000"/>
              </a:lnSpc>
              <a:spcAft>
                <a:spcPts val="400"/>
              </a:spcAft>
              <a:buClrTx/>
              <a:buSzTx/>
            </a:pPr>
            <a:r>
              <a:rPr lang="en-US" altLang="zh-CN" sz="2200" dirty="0">
                <a:sym typeface="+mn-ea"/>
              </a:rPr>
              <a:t>5</a:t>
            </a:r>
            <a:r>
              <a:rPr lang="zh-CN" altLang="en-US" sz="2200" dirty="0">
                <a:sym typeface="+mn-ea"/>
              </a:rPr>
              <a:t>、沦为洋人朝廷是哪个条约：</a:t>
            </a:r>
            <a:r>
              <a:rPr lang="zh-CN" altLang="en-US" sz="2200" dirty="0">
                <a:solidFill>
                  <a:srgbClr val="FF0000"/>
                </a:solidFill>
                <a:sym typeface="+mn-ea"/>
              </a:rPr>
              <a:t>《辛丑条约》</a:t>
            </a:r>
            <a:endParaRPr lang="zh-CN" altLang="en-US" sz="2200" dirty="0">
              <a:solidFill>
                <a:srgbClr val="FF0000"/>
              </a:solidFill>
            </a:endParaRPr>
          </a:p>
          <a:p>
            <a:pPr algn="l">
              <a:lnSpc>
                <a:spcPct val="100000"/>
              </a:lnSpc>
              <a:spcAft>
                <a:spcPts val="400"/>
              </a:spcAft>
              <a:buClrTx/>
              <a:buSzTx/>
            </a:pPr>
            <a:r>
              <a:rPr lang="en-US" altLang="zh-CN" sz="2200" dirty="0">
                <a:sym typeface="+mn-ea"/>
              </a:rPr>
              <a:t>6</a:t>
            </a:r>
            <a:r>
              <a:rPr lang="zh-CN" altLang="en-US" sz="2200" dirty="0">
                <a:sym typeface="+mn-ea"/>
              </a:rPr>
              <a:t>、客观上促进中国民族资本主义产生是哪件事？</a:t>
            </a:r>
            <a:r>
              <a:rPr lang="zh-CN" altLang="en-US" sz="2200" dirty="0">
                <a:solidFill>
                  <a:srgbClr val="FF0000"/>
                </a:solidFill>
                <a:sym typeface="+mn-ea"/>
              </a:rPr>
              <a:t>洋务运动</a:t>
            </a:r>
            <a:endParaRPr lang="zh-CN" altLang="en-US" sz="2200" dirty="0">
              <a:solidFill>
                <a:srgbClr val="FF0000"/>
              </a:solidFill>
            </a:endParaRPr>
          </a:p>
          <a:p>
            <a:pPr algn="l">
              <a:lnSpc>
                <a:spcPct val="100000"/>
              </a:lnSpc>
              <a:spcAft>
                <a:spcPts val="400"/>
              </a:spcAft>
              <a:buClrTx/>
              <a:buSzTx/>
            </a:pPr>
            <a:r>
              <a:rPr lang="en-US" altLang="zh-CN" sz="2200" dirty="0">
                <a:sym typeface="+mn-ea"/>
              </a:rPr>
              <a:t>7</a:t>
            </a:r>
            <a:r>
              <a:rPr lang="zh-CN" altLang="en-US" sz="2200" dirty="0">
                <a:sym typeface="+mn-ea"/>
              </a:rPr>
              <a:t>、李鸿章办的军事工业：</a:t>
            </a:r>
            <a:r>
              <a:rPr lang="zh-CN" altLang="en-US" sz="2200" dirty="0">
                <a:solidFill>
                  <a:srgbClr val="FF0000"/>
                </a:solidFill>
                <a:sym typeface="+mn-ea"/>
              </a:rPr>
              <a:t>江南机器制造总局（封建性质）</a:t>
            </a:r>
            <a:endParaRPr lang="zh-CN" altLang="en-US" sz="2200" dirty="0">
              <a:solidFill>
                <a:srgbClr val="FF0000"/>
              </a:solidFill>
            </a:endParaRPr>
          </a:p>
          <a:p>
            <a:pPr>
              <a:lnSpc>
                <a:spcPct val="100000"/>
              </a:lnSpc>
              <a:spcAft>
                <a:spcPts val="400"/>
              </a:spcAft>
            </a:pPr>
            <a:r>
              <a:rPr lang="en-US" altLang="zh-CN" sz="2200" dirty="0">
                <a:sym typeface="+mn-ea"/>
              </a:rPr>
              <a:t>8</a:t>
            </a:r>
            <a:r>
              <a:rPr lang="zh-CN" altLang="en-US" sz="2200" dirty="0">
                <a:sym typeface="+mn-ea"/>
              </a:rPr>
              <a:t>、梁启超在（</a:t>
            </a:r>
            <a:r>
              <a:rPr lang="zh-CN" altLang="en-US" sz="2200" dirty="0">
                <a:solidFill>
                  <a:srgbClr val="FF0000"/>
                </a:solidFill>
                <a:sym typeface="+mn-ea"/>
              </a:rPr>
              <a:t>上海</a:t>
            </a:r>
            <a:r>
              <a:rPr lang="zh-CN" altLang="en-US" sz="2200" dirty="0">
                <a:sym typeface="+mn-ea"/>
              </a:rPr>
              <a:t>）办了</a:t>
            </a:r>
            <a:r>
              <a:rPr lang="zh-CN" altLang="en-US" sz="2200" dirty="0">
                <a:solidFill>
                  <a:srgbClr val="FF0000"/>
                </a:solidFill>
                <a:sym typeface="+mn-ea"/>
              </a:rPr>
              <a:t>《时务报》</a:t>
            </a:r>
            <a:r>
              <a:rPr lang="zh-CN" altLang="en-US" sz="2200" dirty="0">
                <a:sym typeface="+mn-ea"/>
              </a:rPr>
              <a:t>报刊。严复（</a:t>
            </a:r>
            <a:r>
              <a:rPr lang="zh-CN" altLang="en-US" sz="2200" dirty="0">
                <a:solidFill>
                  <a:srgbClr val="FF0000"/>
                </a:solidFill>
                <a:sym typeface="+mn-ea"/>
              </a:rPr>
              <a:t>天津</a:t>
            </a:r>
            <a:r>
              <a:rPr lang="zh-CN" altLang="en-US" sz="2200" dirty="0">
                <a:sym typeface="+mn-ea"/>
              </a:rPr>
              <a:t>）办了</a:t>
            </a:r>
            <a:r>
              <a:rPr lang="zh-CN" altLang="en-US" sz="2200" dirty="0">
                <a:solidFill>
                  <a:srgbClr val="FF0000"/>
                </a:solidFill>
                <a:sym typeface="+mn-ea"/>
              </a:rPr>
              <a:t>《国闻报》。</a:t>
            </a:r>
            <a:endParaRPr lang="zh-CN" altLang="en-US" sz="2200" dirty="0">
              <a:solidFill>
                <a:srgbClr val="FF0000"/>
              </a:solidFill>
            </a:endParaRPr>
          </a:p>
          <a:p>
            <a:pPr>
              <a:lnSpc>
                <a:spcPct val="100000"/>
              </a:lnSpc>
              <a:spcAft>
                <a:spcPts val="400"/>
              </a:spcAft>
            </a:pPr>
            <a:r>
              <a:rPr lang="en-US" altLang="zh-CN" sz="2200" dirty="0">
                <a:sym typeface="+mn-ea"/>
              </a:rPr>
              <a:t>9</a:t>
            </a:r>
            <a:r>
              <a:rPr lang="zh-CN" altLang="en-US" sz="2200" dirty="0">
                <a:sym typeface="+mn-ea"/>
              </a:rPr>
              <a:t>、政治近代化的开端是：</a:t>
            </a:r>
            <a:r>
              <a:rPr lang="zh-CN" altLang="en-US" sz="2200" dirty="0">
                <a:solidFill>
                  <a:srgbClr val="FF0000"/>
                </a:solidFill>
                <a:sym typeface="+mn-ea"/>
              </a:rPr>
              <a:t>百日维新</a:t>
            </a:r>
            <a:endParaRPr lang="zh-CN" altLang="en-US" sz="2200" dirty="0">
              <a:solidFill>
                <a:srgbClr val="FF0000"/>
              </a:solidFill>
            </a:endParaRPr>
          </a:p>
          <a:p>
            <a:pPr algn="l">
              <a:lnSpc>
                <a:spcPct val="100000"/>
              </a:lnSpc>
              <a:spcAft>
                <a:spcPts val="400"/>
              </a:spcAft>
              <a:buClrTx/>
              <a:buSzTx/>
            </a:pPr>
            <a:r>
              <a:rPr lang="en-US" altLang="zh-CN" sz="2200" dirty="0">
                <a:sym typeface="+mn-ea"/>
              </a:rPr>
              <a:t>10</a:t>
            </a:r>
            <a:r>
              <a:rPr lang="zh-CN" altLang="en-US" sz="2200" dirty="0">
                <a:sym typeface="+mn-ea"/>
              </a:rPr>
              <a:t>、沉重打击帝国主义瓜分中国野心是哪件事？</a:t>
            </a:r>
            <a:r>
              <a:rPr lang="zh-CN" altLang="en-US" sz="2200" dirty="0">
                <a:solidFill>
                  <a:srgbClr val="FF0000"/>
                </a:solidFill>
                <a:sym typeface="+mn-ea"/>
              </a:rPr>
              <a:t>义和团运动</a:t>
            </a:r>
            <a:endParaRPr lang="zh-CN" altLang="en-US" sz="2200" dirty="0">
              <a:solidFill>
                <a:srgbClr val="FF0000"/>
              </a:solidFill>
            </a:endParaRPr>
          </a:p>
          <a:p>
            <a:pPr algn="l">
              <a:lnSpc>
                <a:spcPct val="100000"/>
              </a:lnSpc>
              <a:spcAft>
                <a:spcPts val="400"/>
              </a:spcAft>
              <a:buClrTx/>
              <a:buSzTx/>
            </a:pPr>
            <a:r>
              <a:rPr lang="en-US" altLang="zh-CN" sz="2200" dirty="0">
                <a:sym typeface="+mn-ea"/>
              </a:rPr>
              <a:t>11</a:t>
            </a:r>
            <a:r>
              <a:rPr lang="zh-CN" altLang="en-US" sz="2200" dirty="0">
                <a:sym typeface="+mn-ea"/>
              </a:rPr>
              <a:t>、教育近代化的开端是哪件事？</a:t>
            </a:r>
            <a:r>
              <a:rPr lang="zh-CN" altLang="en-US" sz="2200" dirty="0">
                <a:solidFill>
                  <a:srgbClr val="FF0000"/>
                </a:solidFill>
                <a:sym typeface="+mn-ea"/>
              </a:rPr>
              <a:t>洋务运动（京师同文馆）</a:t>
            </a:r>
          </a:p>
          <a:p>
            <a:pPr algn="l">
              <a:lnSpc>
                <a:spcPct val="100000"/>
              </a:lnSpc>
              <a:spcAft>
                <a:spcPts val="400"/>
              </a:spcAft>
              <a:buClrTx/>
              <a:buSzTx/>
            </a:pPr>
            <a:r>
              <a:rPr lang="en-US" altLang="zh-CN" sz="2200" dirty="0">
                <a:sym typeface="+mn-ea"/>
              </a:rPr>
              <a:t>1</a:t>
            </a:r>
            <a:r>
              <a:rPr lang="zh-CN" altLang="en-US" sz="2200" dirty="0">
                <a:sym typeface="+mn-ea"/>
              </a:rPr>
              <a:t>、第一次鸦片战争的时间：</a:t>
            </a:r>
            <a:r>
              <a:rPr lang="zh-CN" altLang="en-US" sz="2200" dirty="0">
                <a:solidFill>
                  <a:srgbClr val="FF0000"/>
                </a:solidFill>
                <a:sym typeface="+mn-ea"/>
              </a:rPr>
              <a:t>1840-1842年</a:t>
            </a:r>
            <a:r>
              <a:rPr lang="en-US" altLang="zh-CN" sz="2200" dirty="0">
                <a:solidFill>
                  <a:srgbClr val="FF0000"/>
                </a:solidFill>
                <a:sym typeface="+mn-ea"/>
              </a:rPr>
              <a:t>      </a:t>
            </a:r>
            <a:r>
              <a:rPr lang="zh-CN" altLang="en-US" sz="2200" dirty="0">
                <a:sym typeface="+mn-ea"/>
              </a:rPr>
              <a:t>导火线：</a:t>
            </a:r>
            <a:r>
              <a:rPr lang="zh-CN" altLang="en-US" sz="2200" dirty="0">
                <a:solidFill>
                  <a:srgbClr val="FF0000"/>
                </a:solidFill>
                <a:sym typeface="+mn-ea"/>
              </a:rPr>
              <a:t>林则徐虎门销烟</a:t>
            </a:r>
            <a:endParaRPr lang="zh-CN" altLang="en-US" sz="2200" dirty="0">
              <a:solidFill>
                <a:srgbClr val="FF0000"/>
              </a:solidFill>
            </a:endParaRPr>
          </a:p>
          <a:p>
            <a:pPr algn="l">
              <a:lnSpc>
                <a:spcPct val="100000"/>
              </a:lnSpc>
              <a:spcAft>
                <a:spcPts val="400"/>
              </a:spcAft>
              <a:buClrTx/>
              <a:buSzTx/>
            </a:pPr>
            <a:r>
              <a:rPr lang="en-US" altLang="zh-CN" sz="2200" dirty="0">
                <a:sym typeface="+mn-ea"/>
              </a:rPr>
              <a:t>3</a:t>
            </a:r>
            <a:r>
              <a:rPr lang="zh-CN" altLang="en-US" sz="2200" dirty="0">
                <a:sym typeface="+mn-ea"/>
              </a:rPr>
              <a:t>、第二次鸦片战争的根本原因：</a:t>
            </a:r>
            <a:r>
              <a:rPr lang="zh-CN" altLang="en-US" sz="2200" dirty="0">
                <a:solidFill>
                  <a:srgbClr val="FF0000"/>
                </a:solidFill>
                <a:sym typeface="+mn-ea"/>
              </a:rPr>
              <a:t>西方列强为打开中国市场，倾销商品，掠夺原材料</a:t>
            </a:r>
            <a:endParaRPr lang="zh-CN" altLang="en-US" sz="2200" dirty="0">
              <a:solidFill>
                <a:srgbClr val="FF0000"/>
              </a:solidFill>
            </a:endParaRPr>
          </a:p>
          <a:p>
            <a:pPr algn="l">
              <a:lnSpc>
                <a:spcPct val="100000"/>
              </a:lnSpc>
              <a:spcAft>
                <a:spcPts val="400"/>
              </a:spcAft>
              <a:buClrTx/>
              <a:buSzTx/>
            </a:pPr>
            <a:r>
              <a:rPr lang="en-US" altLang="zh-CN" sz="2200" dirty="0">
                <a:sym typeface="+mn-ea"/>
              </a:rPr>
              <a:t>4</a:t>
            </a:r>
            <a:r>
              <a:rPr lang="zh-CN" altLang="en-US" sz="2200" dirty="0">
                <a:sym typeface="+mn-ea"/>
              </a:rPr>
              <a:t>、第一次鸦片战争失败根因：</a:t>
            </a:r>
            <a:r>
              <a:rPr lang="zh-CN" altLang="en-US" sz="2200" dirty="0">
                <a:solidFill>
                  <a:srgbClr val="FF0000"/>
                </a:solidFill>
                <a:sym typeface="+mn-ea"/>
              </a:rPr>
              <a:t>清朝封建专制制度的腐败</a:t>
            </a:r>
            <a:endParaRPr lang="zh-CN" altLang="en-US" sz="2200" dirty="0">
              <a:solidFill>
                <a:srgbClr val="FF0000"/>
              </a:solidFill>
            </a:endParaRPr>
          </a:p>
          <a:p>
            <a:pPr algn="l">
              <a:lnSpc>
                <a:spcPct val="100000"/>
              </a:lnSpc>
              <a:spcAft>
                <a:spcPts val="400"/>
              </a:spcAft>
              <a:buClrTx/>
              <a:buSzTx/>
            </a:pPr>
            <a:r>
              <a:rPr lang="en-US" altLang="zh-CN" sz="2200" dirty="0">
                <a:sym typeface="+mn-ea"/>
              </a:rPr>
              <a:t>6</a:t>
            </a:r>
            <a:r>
              <a:rPr lang="zh-CN" altLang="en-US" sz="2200" dirty="0">
                <a:sym typeface="+mn-ea"/>
              </a:rPr>
              <a:t>、近代侵占我国领土最多的国家是：</a:t>
            </a:r>
            <a:r>
              <a:rPr lang="zh-CN" altLang="en-US" sz="2200" dirty="0">
                <a:solidFill>
                  <a:srgbClr val="FF0000"/>
                </a:solidFill>
                <a:sym typeface="+mn-ea"/>
              </a:rPr>
              <a:t>俄国</a:t>
            </a:r>
            <a:endParaRPr lang="zh-CN" altLang="en-US" sz="2200" dirty="0">
              <a:solidFill>
                <a:srgbClr val="FF0000"/>
              </a:solidFill>
            </a:endParaRPr>
          </a:p>
          <a:p>
            <a:pPr algn="l">
              <a:lnSpc>
                <a:spcPct val="100000"/>
              </a:lnSpc>
              <a:spcAft>
                <a:spcPts val="400"/>
              </a:spcAft>
              <a:buClrTx/>
              <a:buSzTx/>
            </a:pPr>
            <a:r>
              <a:rPr lang="en-US" altLang="zh-CN" sz="2200" dirty="0">
                <a:sym typeface="+mn-ea"/>
              </a:rPr>
              <a:t>7</a:t>
            </a:r>
            <a:r>
              <a:rPr lang="zh-CN" altLang="en-US" sz="2200" dirty="0">
                <a:sym typeface="+mn-ea"/>
              </a:rPr>
              <a:t>、天平天国运动军事上全盛：</a:t>
            </a:r>
            <a:r>
              <a:rPr lang="zh-CN" altLang="en-US" sz="2200" dirty="0">
                <a:solidFill>
                  <a:srgbClr val="FF0000"/>
                </a:solidFill>
                <a:sym typeface="+mn-ea"/>
              </a:rPr>
              <a:t>北伐、西征</a:t>
            </a:r>
            <a:endParaRPr lang="zh-CN" altLang="en-US" sz="2200" dirty="0">
              <a:solidFill>
                <a:srgbClr val="FF0000"/>
              </a:solidFill>
            </a:endParaRPr>
          </a:p>
          <a:p>
            <a:pPr algn="l">
              <a:lnSpc>
                <a:spcPct val="100000"/>
              </a:lnSpc>
              <a:spcAft>
                <a:spcPts val="400"/>
              </a:spcAft>
              <a:buClrTx/>
              <a:buSzTx/>
            </a:pPr>
            <a:r>
              <a:rPr lang="en-US" altLang="zh-CN" sz="2200" dirty="0">
                <a:sym typeface="+mn-ea"/>
              </a:rPr>
              <a:t>8</a:t>
            </a:r>
            <a:r>
              <a:rPr lang="zh-CN" altLang="en-US" sz="2200" dirty="0">
                <a:sym typeface="+mn-ea"/>
              </a:rPr>
              <a:t>、西方侵略势力由东南沿海深入到长江中下游地区是哪场战争？</a:t>
            </a:r>
            <a:r>
              <a:rPr lang="zh-CN" altLang="en-US" sz="2200" dirty="0">
                <a:solidFill>
                  <a:srgbClr val="FF0000"/>
                </a:solidFill>
                <a:sym typeface="+mn-ea"/>
              </a:rPr>
              <a:t>第二次鸦片战争（《天津》外国商船和军舰可在长江各口岸自由航行。</a:t>
            </a:r>
            <a:endParaRPr lang="zh-CN" altLang="en-US" sz="2200" dirty="0">
              <a:solidFill>
                <a:srgbClr val="FF0000"/>
              </a:solidFill>
            </a:endParaRPr>
          </a:p>
          <a:p>
            <a:pPr algn="l">
              <a:lnSpc>
                <a:spcPct val="100000"/>
              </a:lnSpc>
              <a:buClrTx/>
              <a:buSzTx/>
            </a:pPr>
            <a:endParaRPr lang="zh-CN" altLang="en-US" sz="2200" dirty="0"/>
          </a:p>
          <a:p>
            <a:pPr algn="l">
              <a:lnSpc>
                <a:spcPct val="100000"/>
              </a:lnSpc>
              <a:buClrTx/>
              <a:buSzTx/>
            </a:pPr>
            <a:endParaRPr lang="zh-CN" altLang="en-US" sz="2200" dirty="0">
              <a:solidFill>
                <a:srgbClr val="FF0000"/>
              </a:solidFill>
            </a:endParaRPr>
          </a:p>
          <a:p>
            <a:endParaRPr lang="zh-CN" altLang="en-US" sz="2200" dirty="0">
              <a:solidFill>
                <a:srgbClr val="FF0000"/>
              </a:solidFill>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208280" y="242570"/>
            <a:ext cx="11892280" cy="6541135"/>
          </a:xfrm>
        </p:spPr>
        <p:txBody>
          <a:bodyPr>
            <a:noAutofit/>
          </a:bodyPr>
          <a:lstStyle/>
          <a:p>
            <a:pPr algn="l">
              <a:buClrTx/>
              <a:buSzTx/>
            </a:pPr>
            <a:r>
              <a:rPr lang="en-US" altLang="zh-CN" sz="2700" dirty="0"/>
              <a:t>1</a:t>
            </a:r>
            <a:r>
              <a:rPr lang="zh-CN" altLang="en-US" sz="2700" dirty="0"/>
              <a:t>、第一次鸦片战争的时间：</a:t>
            </a:r>
            <a:r>
              <a:rPr lang="zh-CN" altLang="en-US" sz="2700" dirty="0">
                <a:solidFill>
                  <a:srgbClr val="FF0000"/>
                </a:solidFill>
              </a:rPr>
              <a:t>1840-1842年</a:t>
            </a:r>
          </a:p>
          <a:p>
            <a:r>
              <a:rPr lang="en-US" altLang="zh-CN" sz="2700" dirty="0"/>
              <a:t>2</a:t>
            </a:r>
            <a:r>
              <a:rPr lang="zh-CN" altLang="en-US" sz="2700" dirty="0"/>
              <a:t>、第一次鸦片战争的导火线：</a:t>
            </a:r>
            <a:r>
              <a:rPr lang="zh-CN" altLang="en-US" sz="2700" dirty="0">
                <a:solidFill>
                  <a:srgbClr val="FF0000"/>
                </a:solidFill>
              </a:rPr>
              <a:t>林则徐虎门销烟</a:t>
            </a:r>
          </a:p>
          <a:p>
            <a:pPr algn="l">
              <a:buClrTx/>
              <a:buSzTx/>
            </a:pPr>
            <a:r>
              <a:rPr lang="en-US" altLang="zh-CN" sz="2700" dirty="0"/>
              <a:t>3</a:t>
            </a:r>
            <a:r>
              <a:rPr lang="zh-CN" altLang="en-US" sz="2700" dirty="0"/>
              <a:t>、第二次鸦片战争的根本原因：</a:t>
            </a:r>
            <a:r>
              <a:rPr lang="zh-CN" altLang="en-US" sz="2700" dirty="0">
                <a:solidFill>
                  <a:srgbClr val="FF0000"/>
                </a:solidFill>
              </a:rPr>
              <a:t>西方列强为打开中国市场，倾销商品，掠夺原材料</a:t>
            </a:r>
          </a:p>
          <a:p>
            <a:pPr algn="l">
              <a:buClrTx/>
              <a:buSzTx/>
            </a:pPr>
            <a:r>
              <a:rPr lang="en-US" altLang="zh-CN" sz="2700" dirty="0"/>
              <a:t>4</a:t>
            </a:r>
            <a:r>
              <a:rPr lang="zh-CN" altLang="en-US" sz="2700" dirty="0"/>
              <a:t>、中国近代史的开端：</a:t>
            </a:r>
            <a:r>
              <a:rPr lang="zh-CN" altLang="en-US" sz="2700" dirty="0">
                <a:solidFill>
                  <a:srgbClr val="FF0000"/>
                </a:solidFill>
              </a:rPr>
              <a:t>鸦片战争</a:t>
            </a:r>
          </a:p>
          <a:p>
            <a:pPr algn="l">
              <a:buClrTx/>
              <a:buSzTx/>
            </a:pPr>
            <a:r>
              <a:rPr lang="en-US" altLang="zh-CN" sz="2700" dirty="0"/>
              <a:t>5</a:t>
            </a:r>
            <a:r>
              <a:rPr lang="zh-CN" altLang="en-US" sz="2700" dirty="0"/>
              <a:t>、第一次鸦片战争失败根因：</a:t>
            </a:r>
            <a:r>
              <a:rPr lang="zh-CN" altLang="en-US" sz="2700" dirty="0">
                <a:solidFill>
                  <a:srgbClr val="FF0000"/>
                </a:solidFill>
              </a:rPr>
              <a:t>清朝封建专制制度的腐败</a:t>
            </a:r>
          </a:p>
          <a:p>
            <a:pPr algn="l">
              <a:buClrTx/>
              <a:buSzTx/>
            </a:pPr>
            <a:r>
              <a:rPr lang="en-US" altLang="zh-CN" sz="2700" dirty="0"/>
              <a:t>6</a:t>
            </a:r>
            <a:r>
              <a:rPr lang="zh-CN" altLang="en-US" sz="2700" dirty="0"/>
              <a:t>、近代侵占我国领土最多的国家是：</a:t>
            </a:r>
            <a:r>
              <a:rPr lang="zh-CN" altLang="en-US" sz="2700" dirty="0">
                <a:solidFill>
                  <a:srgbClr val="FF0000"/>
                </a:solidFill>
              </a:rPr>
              <a:t>俄国</a:t>
            </a:r>
          </a:p>
          <a:p>
            <a:pPr algn="l">
              <a:buClrTx/>
              <a:buSzTx/>
            </a:pPr>
            <a:r>
              <a:rPr lang="en-US" altLang="zh-CN" sz="2700" dirty="0"/>
              <a:t>7</a:t>
            </a:r>
            <a:r>
              <a:rPr lang="zh-CN" altLang="en-US" sz="2700" dirty="0"/>
              <a:t>、天平天国运动军事上全盛：</a:t>
            </a:r>
            <a:r>
              <a:rPr lang="zh-CN" altLang="en-US" sz="2700" dirty="0">
                <a:solidFill>
                  <a:srgbClr val="FF0000"/>
                </a:solidFill>
              </a:rPr>
              <a:t>北伐、西征</a:t>
            </a:r>
          </a:p>
          <a:p>
            <a:pPr algn="l">
              <a:buClrTx/>
              <a:buSzTx/>
            </a:pPr>
            <a:r>
              <a:rPr lang="en-US" altLang="zh-CN" sz="2700" dirty="0"/>
              <a:t>8</a:t>
            </a:r>
            <a:r>
              <a:rPr lang="zh-CN" altLang="en-US" sz="2700" dirty="0"/>
              <a:t>、西方侵略势力由东南沿海深入到长江中下游地区是哪场战争？</a:t>
            </a:r>
            <a:r>
              <a:rPr lang="zh-CN" altLang="en-US" sz="2700" dirty="0">
                <a:solidFill>
                  <a:srgbClr val="FF0000"/>
                </a:solidFill>
              </a:rPr>
              <a:t>第二次鸦片战争（《天津》</a:t>
            </a:r>
            <a:r>
              <a:rPr lang="zh-CN" altLang="en-US" sz="2700" dirty="0">
                <a:solidFill>
                  <a:srgbClr val="FF0000"/>
                </a:solidFill>
                <a:sym typeface="+mn-ea"/>
              </a:rPr>
              <a:t>外国商船和军舰可在长江各口岸自由航行。</a:t>
            </a:r>
            <a:endParaRPr lang="zh-CN" altLang="en-US" sz="2700" dirty="0">
              <a:solidFill>
                <a:srgbClr val="FF0000"/>
              </a:solidFill>
            </a:endParaRPr>
          </a:p>
          <a:p>
            <a:endParaRPr lang="zh-CN" altLang="en-US" sz="2100" dirty="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74955" y="224790"/>
            <a:ext cx="11605260" cy="6407785"/>
          </a:xfrm>
        </p:spPr>
        <p:txBody>
          <a:bodyPr>
            <a:noAutofit/>
          </a:bodyPr>
          <a:lstStyle/>
          <a:p>
            <a:r>
              <a:rPr lang="zh-CN" altLang="en-US" sz="2400" dirty="0">
                <a:highlight>
                  <a:srgbClr val="FFFF00"/>
                </a:highlight>
                <a:sym typeface="+mn-ea"/>
              </a:rPr>
              <a:t>经济特区的作用：</a:t>
            </a:r>
            <a:r>
              <a:rPr lang="zh-CN" altLang="en-US" sz="2400" dirty="0">
                <a:solidFill>
                  <a:srgbClr val="FF0000"/>
                </a:solidFill>
                <a:highlight>
                  <a:srgbClr val="FFFF00"/>
                </a:highlight>
                <a:sym typeface="+mn-ea"/>
              </a:rPr>
              <a:t>引进外资、先进技术和管理经验，推动国内的进一步改革，扩大对外经济交流，发展社会主义现代化事业起到重要作用</a:t>
            </a:r>
            <a:r>
              <a:rPr lang="zh-CN" altLang="en-US" sz="2400" dirty="0">
                <a:solidFill>
                  <a:srgbClr val="FF0000"/>
                </a:solidFill>
                <a:sym typeface="+mn-ea"/>
              </a:rPr>
              <a:t>。</a:t>
            </a:r>
          </a:p>
          <a:p>
            <a:r>
              <a:rPr lang="zh-CN" altLang="en-US" sz="2400" dirty="0">
                <a:highlight>
                  <a:srgbClr val="FFFF00"/>
                </a:highlight>
                <a:sym typeface="+mn-ea"/>
              </a:rPr>
              <a:t>中美关系的的影响：</a:t>
            </a:r>
            <a:r>
              <a:rPr lang="zh-CN" altLang="en-US" sz="2400" dirty="0">
                <a:solidFill>
                  <a:srgbClr val="FF0000"/>
                </a:solidFill>
                <a:highlight>
                  <a:srgbClr val="FFFF00"/>
                </a:highlight>
                <a:sym typeface="+mn-ea"/>
              </a:rPr>
              <a:t>许多国家纷纷与中国建立外交关系，出现了与中国建交的高潮；为我国改革开放和社会主义现代化建设提高了良好的国际环境</a:t>
            </a:r>
            <a:r>
              <a:rPr lang="zh-CN" altLang="en-US" sz="2400" dirty="0">
                <a:solidFill>
                  <a:srgbClr val="FF0000"/>
                </a:solidFill>
                <a:sym typeface="+mn-ea"/>
              </a:rPr>
              <a:t>。</a:t>
            </a:r>
          </a:p>
          <a:p>
            <a:pPr>
              <a:lnSpc>
                <a:spcPct val="100000"/>
              </a:lnSpc>
            </a:pPr>
            <a:r>
              <a:rPr lang="zh-CN" altLang="en-US" sz="2400" dirty="0">
                <a:highlight>
                  <a:srgbClr val="FFFF00"/>
                </a:highlight>
                <a:sym typeface="+mn-ea"/>
              </a:rPr>
              <a:t>对外开放格局：</a:t>
            </a:r>
            <a:r>
              <a:rPr lang="zh-CN" altLang="en-US" sz="2400" dirty="0">
                <a:solidFill>
                  <a:srgbClr val="FF0000"/>
                </a:solidFill>
                <a:highlight>
                  <a:srgbClr val="FFFF00"/>
                </a:highlight>
                <a:sym typeface="+mn-ea"/>
              </a:rPr>
              <a:t>经济特区-沿海开放城市-沿海经济开放区-内地的全方位、多层次、</a:t>
            </a:r>
            <a:r>
              <a:rPr lang="zh-CN" altLang="en-US" sz="2400" u="sng" dirty="0">
                <a:solidFill>
                  <a:srgbClr val="FF0000"/>
                </a:solidFill>
                <a:highlight>
                  <a:srgbClr val="FFFF00"/>
                </a:highlight>
                <a:sym typeface="+mn-ea"/>
              </a:rPr>
              <a:t>宽领域</a:t>
            </a:r>
            <a:r>
              <a:rPr lang="zh-CN" altLang="en-US" sz="2400" dirty="0">
                <a:solidFill>
                  <a:srgbClr val="FF0000"/>
                </a:solidFill>
                <a:highlight>
                  <a:srgbClr val="FFFF00"/>
                </a:highlight>
                <a:sym typeface="+mn-ea"/>
              </a:rPr>
              <a:t>。</a:t>
            </a:r>
            <a:endParaRPr lang="zh-CN" altLang="en-US" sz="2400" dirty="0">
              <a:solidFill>
                <a:srgbClr val="FF0000"/>
              </a:solidFill>
              <a:highlight>
                <a:srgbClr val="FFFF00"/>
              </a:highlight>
            </a:endParaRPr>
          </a:p>
          <a:p>
            <a:pPr algn="l">
              <a:lnSpc>
                <a:spcPct val="100000"/>
              </a:lnSpc>
              <a:buClrTx/>
              <a:buSzTx/>
            </a:pPr>
            <a:r>
              <a:rPr lang="zh-CN" altLang="en-US" sz="2400" dirty="0">
                <a:highlight>
                  <a:srgbClr val="FFFF00"/>
                </a:highlight>
                <a:sym typeface="+mn-ea"/>
              </a:rPr>
              <a:t>改革开放后的外交布局：</a:t>
            </a:r>
            <a:r>
              <a:rPr lang="zh-CN" altLang="en-US" sz="2400" dirty="0">
                <a:solidFill>
                  <a:srgbClr val="FF0000"/>
                </a:solidFill>
                <a:highlight>
                  <a:srgbClr val="FFFF00"/>
                </a:highlight>
                <a:sym typeface="+mn-ea"/>
              </a:rPr>
              <a:t>全方位、多层次、</a:t>
            </a:r>
            <a:r>
              <a:rPr lang="zh-CN" altLang="en-US" sz="2400" u="sng" dirty="0">
                <a:solidFill>
                  <a:srgbClr val="FF0000"/>
                </a:solidFill>
                <a:highlight>
                  <a:srgbClr val="FFFF00"/>
                </a:highlight>
                <a:sym typeface="+mn-ea"/>
              </a:rPr>
              <a:t>立体化</a:t>
            </a:r>
            <a:endParaRPr lang="zh-CN" altLang="en-US" sz="2400" dirty="0">
              <a:solidFill>
                <a:srgbClr val="FF0000"/>
              </a:solidFill>
              <a:highlight>
                <a:srgbClr val="FFFF00"/>
              </a:highlight>
            </a:endParaRPr>
          </a:p>
          <a:p>
            <a:pPr>
              <a:lnSpc>
                <a:spcPct val="100000"/>
              </a:lnSpc>
            </a:pPr>
            <a:r>
              <a:rPr lang="zh-CN" altLang="en-US" sz="2400" dirty="0">
                <a:highlight>
                  <a:srgbClr val="FFFF00"/>
                </a:highlight>
                <a:sym typeface="+mn-ea"/>
              </a:rPr>
              <a:t>全方位外交布局的影响：</a:t>
            </a:r>
            <a:r>
              <a:rPr lang="zh-CN" altLang="en-US" sz="2400" dirty="0">
                <a:solidFill>
                  <a:srgbClr val="FF0000"/>
                </a:solidFill>
                <a:highlight>
                  <a:srgbClr val="FFFF00"/>
                </a:highlight>
                <a:sym typeface="+mn-ea"/>
              </a:rPr>
              <a:t>中国的国际地位不断提高，成为维护和促进世界和平、稳定与发展的坚定力量，在国际事务中发挥日益重要作用</a:t>
            </a:r>
            <a:r>
              <a:rPr lang="zh-CN" altLang="en-US" sz="2400" dirty="0">
                <a:solidFill>
                  <a:srgbClr val="FF0000"/>
                </a:solidFill>
                <a:sym typeface="+mn-ea"/>
              </a:rPr>
              <a:t>。</a:t>
            </a:r>
          </a:p>
          <a:p>
            <a:pPr>
              <a:lnSpc>
                <a:spcPct val="100000"/>
              </a:lnSpc>
            </a:pPr>
            <a:r>
              <a:rPr lang="zh-CN" altLang="en-US" sz="2400" dirty="0">
                <a:highlight>
                  <a:srgbClr val="FFFF00"/>
                </a:highlight>
                <a:sym typeface="+mn-ea"/>
              </a:rPr>
              <a:t>中国恢复联合国合法席位的意义：</a:t>
            </a:r>
            <a:r>
              <a:rPr lang="zh-CN" altLang="en-US" sz="2400" dirty="0">
                <a:solidFill>
                  <a:srgbClr val="FF0000"/>
                </a:solidFill>
                <a:highlight>
                  <a:srgbClr val="FFFF00"/>
                </a:highlight>
                <a:sym typeface="+mn-ea"/>
              </a:rPr>
              <a:t>中国外交重大胜利，中国国际地位和国际影响力进一步提高和扩大；中国积极参与国际事务，作为联合国安理会常任理事国之一，发挥重要作用。</a:t>
            </a:r>
          </a:p>
          <a:p>
            <a:pPr>
              <a:lnSpc>
                <a:spcPct val="100000"/>
              </a:lnSpc>
            </a:pPr>
            <a:r>
              <a:rPr lang="zh-CN" altLang="en-US" sz="2400" dirty="0">
                <a:sym typeface="+mn-ea"/>
              </a:rPr>
              <a:t>南方谈话：</a:t>
            </a:r>
            <a:r>
              <a:rPr lang="en-US" altLang="zh-CN" sz="2400" dirty="0">
                <a:solidFill>
                  <a:srgbClr val="FF0000"/>
                </a:solidFill>
                <a:sym typeface="+mn-ea"/>
              </a:rPr>
              <a:t>1992</a:t>
            </a:r>
            <a:r>
              <a:rPr lang="zh-CN" altLang="en-US" sz="2400" dirty="0">
                <a:solidFill>
                  <a:srgbClr val="FF0000"/>
                </a:solidFill>
                <a:sym typeface="+mn-ea"/>
              </a:rPr>
              <a:t>年，解放人民的思想，改革开放和社会主义现代化事业进入新阶段。</a:t>
            </a:r>
            <a:endParaRPr lang="zh-CN" altLang="en-US" sz="2400" dirty="0">
              <a:solidFill>
                <a:srgbClr val="FF0000"/>
              </a:solidFill>
            </a:endParaRPr>
          </a:p>
          <a:p>
            <a:pPr>
              <a:lnSpc>
                <a:spcPct val="100000"/>
              </a:lnSpc>
            </a:pPr>
            <a:endParaRPr lang="zh-CN" altLang="en-US" sz="2400" dirty="0">
              <a:solidFill>
                <a:srgbClr val="FF0000"/>
              </a:solidFill>
            </a:endParaRPr>
          </a:p>
          <a:p>
            <a:endParaRPr lang="zh-CN" altLang="en-US" sz="2400" dirty="0">
              <a:solidFill>
                <a:srgbClr val="FF0000"/>
              </a:solidFill>
            </a:endParaRPr>
          </a:p>
          <a:p>
            <a:endParaRPr lang="zh-CN" altLang="en-US" sz="2400" dirty="0">
              <a:solidFill>
                <a:srgbClr val="FF0000"/>
              </a:solidFill>
              <a:sym typeface="+mn-ea"/>
            </a:endParaRPr>
          </a:p>
          <a:p>
            <a:endParaRPr lang="zh-CN" altLang="en-US" sz="2400" dirty="0">
              <a:solidFill>
                <a:srgbClr val="FF0000"/>
              </a:solidFill>
              <a:sym typeface="+mn-ea"/>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365760" y="146685"/>
            <a:ext cx="11675110" cy="6109970"/>
          </a:xfrm>
        </p:spPr>
        <p:txBody>
          <a:bodyPr>
            <a:noAutofit/>
          </a:bodyPr>
          <a:lstStyle/>
          <a:p>
            <a:r>
              <a:rPr lang="zh-CN" altLang="en-US" sz="2300" dirty="0">
                <a:highlight>
                  <a:srgbClr val="FFFF00"/>
                </a:highlight>
              </a:rPr>
              <a:t>辛亥革命的历史意义：</a:t>
            </a:r>
            <a:r>
              <a:rPr lang="zh-CN" altLang="en-US" sz="2300" dirty="0">
                <a:solidFill>
                  <a:srgbClr val="FF0000"/>
                </a:solidFill>
                <a:highlight>
                  <a:srgbClr val="FFFF00"/>
                </a:highlight>
              </a:rPr>
              <a:t>推翻了清朝的统治，宣告两千多年的封建君主专制终结；开创了近代民族民主革命；建立了第一个资产阶级共和国</a:t>
            </a:r>
            <a:r>
              <a:rPr lang="en-US" altLang="zh-CN" sz="2300" dirty="0">
                <a:solidFill>
                  <a:srgbClr val="FF0000"/>
                </a:solidFill>
                <a:highlight>
                  <a:srgbClr val="FFFF00"/>
                </a:highlight>
              </a:rPr>
              <a:t>——</a:t>
            </a:r>
            <a:r>
              <a:rPr lang="zh-CN" altLang="en-US" sz="2300" dirty="0">
                <a:solidFill>
                  <a:srgbClr val="FF0000"/>
                </a:solidFill>
                <a:highlight>
                  <a:srgbClr val="FFFF00"/>
                </a:highlight>
              </a:rPr>
              <a:t>中华民国；推动近代民族工业的发展；极大推动中华民族思想解放，打开了中国进步潮流的闸门；推动了社会观念的转变和平等自由思想的普及，促使社会移风易俗</a:t>
            </a:r>
            <a:r>
              <a:rPr lang="zh-CN" altLang="en-US" sz="2300" dirty="0">
                <a:solidFill>
                  <a:srgbClr val="FF0000"/>
                </a:solidFill>
              </a:rPr>
              <a:t>。</a:t>
            </a:r>
            <a:endParaRPr lang="zh-CN" altLang="en-US" sz="2300" dirty="0"/>
          </a:p>
          <a:p>
            <a:r>
              <a:rPr lang="zh-CN" altLang="en-US" sz="2300" dirty="0">
                <a:highlight>
                  <a:srgbClr val="FFFF00"/>
                </a:highlight>
              </a:rPr>
              <a:t>局限性：</a:t>
            </a:r>
            <a:r>
              <a:rPr lang="zh-CN" altLang="en-US" sz="2300" dirty="0">
                <a:solidFill>
                  <a:srgbClr val="FF0000"/>
                </a:solidFill>
                <a:highlight>
                  <a:srgbClr val="FFFF00"/>
                </a:highlight>
              </a:rPr>
              <a:t>没有改变中国半殖民地半封建社会的性质，没有完成反帝反封建的革命任务</a:t>
            </a:r>
            <a:r>
              <a:rPr lang="zh-CN" altLang="en-US" sz="2300" dirty="0">
                <a:solidFill>
                  <a:srgbClr val="FF0000"/>
                </a:solidFill>
              </a:rPr>
              <a:t>。</a:t>
            </a:r>
          </a:p>
          <a:p>
            <a:pPr algn="l">
              <a:buClrTx/>
              <a:buSzTx/>
            </a:pPr>
            <a:r>
              <a:rPr lang="zh-CN" altLang="en-US" sz="2300" b="1" dirty="0">
                <a:highlight>
                  <a:srgbClr val="FFFF00"/>
                </a:highlight>
                <a:sym typeface="+mn-ea"/>
              </a:rPr>
              <a:t>长征胜利的意义：</a:t>
            </a:r>
            <a:r>
              <a:rPr lang="zh-CN" altLang="en-US" sz="2300" dirty="0">
                <a:solidFill>
                  <a:srgbClr val="FF0000"/>
                </a:solidFill>
                <a:highlight>
                  <a:srgbClr val="FFFF00"/>
                </a:highlight>
                <a:sym typeface="+mn-ea"/>
              </a:rPr>
              <a:t>粉碎了国民党反动派消灭红军的企图，保存了党和红军的基干力量，使中国革命转危为安，红军长征播下革命种子，铸就长征精神（独立自主、实事求是），打开了中国革命的新局面。</a:t>
            </a:r>
          </a:p>
          <a:p>
            <a:pPr algn="l">
              <a:buClrTx/>
              <a:buSzTx/>
            </a:pPr>
            <a:r>
              <a:rPr lang="zh-CN" altLang="en-US" sz="2300" b="1" dirty="0">
                <a:highlight>
                  <a:srgbClr val="FFFF00"/>
                </a:highlight>
                <a:sym typeface="+mn-ea"/>
              </a:rPr>
              <a:t>遵义会议：</a:t>
            </a:r>
            <a:r>
              <a:rPr lang="zh-CN" altLang="en-US" sz="2300" dirty="0">
                <a:solidFill>
                  <a:srgbClr val="FF0000"/>
                </a:solidFill>
                <a:highlight>
                  <a:srgbClr val="FFFF00"/>
                </a:highlight>
                <a:sym typeface="+mn-ea"/>
              </a:rPr>
              <a:t>1935年1月，开始确立以毛泽东为主要代表的马克思主义正确路线在中共中央的领导地位；在极其危急的情况下，挽救了党，挽救了红军，挽救了中国革命，是中共历史上一个生死攸关得转折点，是中共从幼年走向成熟的标志。</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0665" y="106680"/>
            <a:ext cx="11787505" cy="6450965"/>
          </a:xfrm>
        </p:spPr>
        <p:txBody>
          <a:bodyPr>
            <a:noAutofit/>
          </a:bodyPr>
          <a:lstStyle/>
          <a:p>
            <a:pPr>
              <a:lnSpc>
                <a:spcPct val="100000"/>
              </a:lnSpc>
            </a:pPr>
            <a:r>
              <a:rPr lang="zh-CN" altLang="en-US" sz="2400" dirty="0">
                <a:solidFill>
                  <a:srgbClr val="FF0000"/>
                </a:solidFill>
                <a:highlight>
                  <a:srgbClr val="FFFF00"/>
                </a:highlight>
              </a:rPr>
              <a:t>中共十一届三中全会</a:t>
            </a:r>
            <a:r>
              <a:rPr lang="zh-CN" altLang="en-US" sz="2400" dirty="0">
                <a:highlight>
                  <a:srgbClr val="FFFF00"/>
                </a:highlight>
              </a:rPr>
              <a:t>：</a:t>
            </a:r>
            <a:r>
              <a:rPr lang="zh-CN" altLang="en-US" sz="2400" dirty="0">
                <a:highlight>
                  <a:srgbClr val="FFFF00"/>
                </a:highlight>
                <a:latin typeface="Calibri" panose="020F0502020204030204" charset="0"/>
              </a:rPr>
              <a:t>①</a:t>
            </a:r>
            <a:r>
              <a:rPr lang="zh-CN" altLang="en-US" sz="2400" dirty="0">
                <a:highlight>
                  <a:srgbClr val="FFFF00"/>
                </a:highlight>
              </a:rPr>
              <a:t>是新中国成立以来党和国家历史上具有深远意义的伟大转折，开启了改革开放和社会主义现代化建设的新时期。</a:t>
            </a:r>
            <a:r>
              <a:rPr lang="zh-CN" altLang="en-US" sz="2400" dirty="0">
                <a:highlight>
                  <a:srgbClr val="FFFF00"/>
                </a:highlight>
                <a:latin typeface="Calibri" panose="020F0502020204030204" charset="0"/>
                <a:sym typeface="+mn-ea"/>
              </a:rPr>
              <a:t>②</a:t>
            </a:r>
            <a:r>
              <a:rPr lang="zh-CN" altLang="en-US" sz="2400" dirty="0">
                <a:highlight>
                  <a:srgbClr val="FFFF00"/>
                </a:highlight>
              </a:rPr>
              <a:t>形成以邓小平为核心的第二代中央领导集体</a:t>
            </a:r>
            <a:r>
              <a:rPr lang="zh-CN" altLang="en-US" sz="2400" dirty="0"/>
              <a:t>。</a:t>
            </a:r>
          </a:p>
          <a:p>
            <a:pPr>
              <a:lnSpc>
                <a:spcPct val="100000"/>
              </a:lnSpc>
            </a:pPr>
            <a:r>
              <a:rPr lang="zh-CN" altLang="en-US" sz="2400" dirty="0">
                <a:solidFill>
                  <a:srgbClr val="FF0000"/>
                </a:solidFill>
              </a:rPr>
              <a:t>农村经济体制改革内容</a:t>
            </a:r>
            <a:r>
              <a:rPr lang="zh-CN" altLang="en-US" sz="2400" dirty="0"/>
              <a:t>：</a:t>
            </a:r>
            <a:r>
              <a:rPr lang="en-US" altLang="zh-CN" sz="2400" dirty="0"/>
              <a:t>1978</a:t>
            </a:r>
            <a:r>
              <a:rPr lang="zh-CN" altLang="en-US" sz="2400" dirty="0"/>
              <a:t>年，家庭联产承包责任制、分田包干到户、自负盈亏</a:t>
            </a:r>
          </a:p>
          <a:p>
            <a:pPr>
              <a:lnSpc>
                <a:spcPct val="100000"/>
              </a:lnSpc>
            </a:pPr>
            <a:r>
              <a:rPr lang="zh-CN" altLang="en-US" sz="2400" dirty="0">
                <a:solidFill>
                  <a:srgbClr val="FF0000"/>
                </a:solidFill>
              </a:rPr>
              <a:t>作用</a:t>
            </a:r>
            <a:r>
              <a:rPr lang="zh-CN" altLang="en-US" sz="2400" dirty="0"/>
              <a:t>：</a:t>
            </a:r>
            <a:r>
              <a:rPr lang="zh-CN" altLang="en-US" sz="2400" dirty="0">
                <a:latin typeface="Calibri" panose="020F0502020204030204" charset="0"/>
                <a:sym typeface="+mn-ea"/>
              </a:rPr>
              <a:t>①</a:t>
            </a:r>
            <a:r>
              <a:rPr lang="zh-CN" altLang="en-US" sz="2400" dirty="0"/>
              <a:t>农民有了生产自主权，激发农民的劳动热情，生产积极性提高，带来了农村生产力解放，农业生产和农民收入均有很大提高；</a:t>
            </a:r>
            <a:r>
              <a:rPr lang="zh-CN" altLang="en-US" sz="2400" dirty="0">
                <a:latin typeface="Calibri" panose="020F0502020204030204" charset="0"/>
              </a:rPr>
              <a:t>②</a:t>
            </a:r>
            <a:r>
              <a:rPr lang="zh-CN" altLang="en-US" sz="2400" dirty="0"/>
              <a:t>农业生产向专业化、商品化、社会化发展，推动农村乡镇企业发展，为农民致富和实现现代化开辟了一条新路。</a:t>
            </a:r>
          </a:p>
          <a:p>
            <a:pPr>
              <a:lnSpc>
                <a:spcPct val="100000"/>
              </a:lnSpc>
            </a:pPr>
            <a:r>
              <a:rPr lang="zh-CN" altLang="en-US" sz="2400" dirty="0">
                <a:sym typeface="+mn-ea"/>
              </a:rPr>
              <a:t>城市经济体制改革：</a:t>
            </a:r>
            <a:r>
              <a:rPr lang="en-US" altLang="zh-CN" sz="2400" dirty="0">
                <a:solidFill>
                  <a:srgbClr val="FF0000"/>
                </a:solidFill>
                <a:sym typeface="+mn-ea"/>
              </a:rPr>
              <a:t>1984</a:t>
            </a:r>
            <a:r>
              <a:rPr lang="zh-CN" altLang="en-US" sz="2400" dirty="0">
                <a:solidFill>
                  <a:srgbClr val="FF0000"/>
                </a:solidFill>
                <a:sym typeface="+mn-ea"/>
              </a:rPr>
              <a:t>年，中心环节：增强企业活力。</a:t>
            </a:r>
            <a:endParaRPr lang="zh-CN" altLang="en-US" sz="2400" dirty="0">
              <a:solidFill>
                <a:srgbClr val="FF0000"/>
              </a:solidFill>
            </a:endParaRPr>
          </a:p>
          <a:p>
            <a:pPr>
              <a:lnSpc>
                <a:spcPct val="100000"/>
              </a:lnSpc>
            </a:pPr>
            <a:r>
              <a:rPr lang="zh-CN" altLang="en-US" sz="2400" dirty="0">
                <a:sym typeface="+mn-ea"/>
              </a:rPr>
              <a:t>城市经济体制改革的意义：</a:t>
            </a:r>
            <a:r>
              <a:rPr lang="zh-CN" altLang="en-US" sz="2400" dirty="0">
                <a:solidFill>
                  <a:srgbClr val="FF0000"/>
                </a:solidFill>
                <a:sym typeface="+mn-ea"/>
              </a:rPr>
              <a:t>企业有了经营自主权；大大调动了企业、职工的积极性，增强了企业的活力。</a:t>
            </a:r>
            <a:endParaRPr lang="zh-CN" altLang="en-US" sz="2400" dirty="0">
              <a:solidFill>
                <a:srgbClr val="FF0000"/>
              </a:solidFill>
            </a:endParaRPr>
          </a:p>
          <a:p>
            <a:pPr>
              <a:lnSpc>
                <a:spcPct val="100000"/>
              </a:lnSpc>
            </a:pPr>
            <a:r>
              <a:rPr lang="zh-CN" altLang="en-US" sz="2400" dirty="0">
                <a:sym typeface="+mn-ea"/>
              </a:rPr>
              <a:t>经济特区：</a:t>
            </a:r>
            <a:r>
              <a:rPr lang="en-US" altLang="zh-CN" sz="2400" dirty="0">
                <a:solidFill>
                  <a:srgbClr val="FF0000"/>
                </a:solidFill>
                <a:sym typeface="+mn-ea"/>
              </a:rPr>
              <a:t>1980</a:t>
            </a:r>
            <a:r>
              <a:rPr lang="zh-CN" altLang="en-US" sz="2400" dirty="0">
                <a:solidFill>
                  <a:srgbClr val="FF0000"/>
                </a:solidFill>
                <a:sym typeface="+mn-ea"/>
              </a:rPr>
              <a:t>年，深圳（窗口）、珠海、汕头、厦门。</a:t>
            </a:r>
            <a:r>
              <a:rPr lang="en-US" altLang="zh-CN" sz="2400" u="sng" dirty="0">
                <a:solidFill>
                  <a:srgbClr val="FF0000"/>
                </a:solidFill>
                <a:sym typeface="+mn-ea"/>
              </a:rPr>
              <a:t>1984</a:t>
            </a:r>
            <a:r>
              <a:rPr lang="zh-CN" altLang="en-US" sz="2400" u="sng" dirty="0">
                <a:solidFill>
                  <a:srgbClr val="FF0000"/>
                </a:solidFill>
                <a:sym typeface="+mn-ea"/>
              </a:rPr>
              <a:t>年，广州沿海开放城市。</a:t>
            </a:r>
            <a:endParaRPr lang="zh-CN" altLang="en-US" sz="2400" u="sng" dirty="0">
              <a:solidFill>
                <a:srgbClr val="FF0000"/>
              </a:solidFill>
            </a:endParaRPr>
          </a:p>
          <a:p>
            <a:pPr>
              <a:lnSpc>
                <a:spcPct val="100000"/>
              </a:lnSpc>
            </a:pPr>
            <a:r>
              <a:rPr lang="zh-CN" altLang="en-US" sz="2400" dirty="0">
                <a:sym typeface="+mn-ea"/>
              </a:rPr>
              <a:t>经济特区的作用：</a:t>
            </a:r>
            <a:r>
              <a:rPr lang="zh-CN" altLang="en-US" sz="2400" dirty="0">
                <a:solidFill>
                  <a:srgbClr val="FF0000"/>
                </a:solidFill>
                <a:sym typeface="+mn-ea"/>
              </a:rPr>
              <a:t>引进外资、先进技术和管理经验，推动国内的进一步改革，扩大对外经济交流，发展社会主义现代化事业起到重要作用。</a:t>
            </a:r>
          </a:p>
          <a:p>
            <a:pPr>
              <a:lnSpc>
                <a:spcPct val="100000"/>
              </a:lnSpc>
            </a:pPr>
            <a:endParaRPr lang="zh-CN" altLang="en-US" sz="2400" dirty="0">
              <a:solidFill>
                <a:srgbClr val="FF0000"/>
              </a:solidFill>
            </a:endParaRPr>
          </a:p>
          <a:p>
            <a:pPr>
              <a:lnSpc>
                <a:spcPct val="100000"/>
              </a:lnSpc>
            </a:pPr>
            <a:endParaRPr lang="zh-CN" altLang="en-US" sz="2400" dirty="0"/>
          </a:p>
          <a:p>
            <a:pPr>
              <a:lnSpc>
                <a:spcPct val="100000"/>
              </a:lnSpc>
            </a:pPr>
            <a:endParaRPr lang="zh-CN" altLang="en-US" sz="2400" dirty="0"/>
          </a:p>
          <a:p>
            <a:pPr>
              <a:lnSpc>
                <a:spcPct val="100000"/>
              </a:lnSpc>
            </a:pPr>
            <a:endParaRPr lang="zh-CN" altLang="en-US" sz="2400" dirty="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4150" y="103505"/>
            <a:ext cx="11937365" cy="6487795"/>
          </a:xfrm>
        </p:spPr>
        <p:txBody>
          <a:bodyPr>
            <a:noAutofit/>
          </a:bodyPr>
          <a:lstStyle/>
          <a:p>
            <a:pPr>
              <a:lnSpc>
                <a:spcPct val="100000"/>
              </a:lnSpc>
            </a:pPr>
            <a:r>
              <a:rPr lang="en-US" altLang="zh-CN" sz="2300" dirty="0">
                <a:solidFill>
                  <a:srgbClr val="FF0000"/>
                </a:solidFill>
              </a:rPr>
              <a:t>1</a:t>
            </a:r>
            <a:r>
              <a:rPr lang="zh-CN" altLang="en-US" sz="2300" dirty="0">
                <a:solidFill>
                  <a:srgbClr val="FF0000"/>
                </a:solidFill>
              </a:rPr>
              <a:t>、中共一大：</a:t>
            </a:r>
            <a:r>
              <a:rPr lang="en-US" altLang="zh-CN" sz="2300" dirty="0"/>
              <a:t>1921</a:t>
            </a:r>
            <a:r>
              <a:rPr lang="zh-CN" altLang="en-US" sz="2300" dirty="0"/>
              <a:t>年，上海</a:t>
            </a:r>
            <a:r>
              <a:rPr lang="en-US" altLang="zh-CN" sz="2300" dirty="0"/>
              <a:t>-</a:t>
            </a:r>
            <a:r>
              <a:rPr lang="zh-CN" altLang="en-US" sz="2300" dirty="0"/>
              <a:t>嘉兴。中共成立是</a:t>
            </a:r>
            <a:r>
              <a:rPr lang="zh-CN" altLang="en-US" sz="2300" b="1" dirty="0"/>
              <a:t>开天辟地</a:t>
            </a:r>
            <a:r>
              <a:rPr lang="zh-CN" altLang="en-US" sz="2300" dirty="0"/>
              <a:t>的大事变，自从有了中共，中国革命面貌就</a:t>
            </a:r>
            <a:r>
              <a:rPr lang="zh-CN" altLang="en-US" sz="2300" b="1" dirty="0"/>
              <a:t>焕然一新</a:t>
            </a:r>
            <a:r>
              <a:rPr lang="zh-CN" altLang="en-US" sz="2300" dirty="0"/>
              <a:t>。</a:t>
            </a:r>
          </a:p>
          <a:p>
            <a:pPr>
              <a:lnSpc>
                <a:spcPct val="100000"/>
              </a:lnSpc>
            </a:pPr>
            <a:r>
              <a:rPr lang="en-US" altLang="zh-CN" sz="2300" dirty="0">
                <a:solidFill>
                  <a:srgbClr val="FF0000"/>
                </a:solidFill>
              </a:rPr>
              <a:t>2</a:t>
            </a:r>
            <a:r>
              <a:rPr lang="zh-CN" altLang="en-US" sz="2300" dirty="0">
                <a:solidFill>
                  <a:srgbClr val="FF0000"/>
                </a:solidFill>
              </a:rPr>
              <a:t>、中共二大：</a:t>
            </a:r>
            <a:r>
              <a:rPr lang="en-US" altLang="zh-CN" sz="2300" dirty="0"/>
              <a:t>1922</a:t>
            </a:r>
            <a:r>
              <a:rPr lang="zh-CN" altLang="en-US" sz="2300" dirty="0"/>
              <a:t>年。任务：打倒军阀、推翻帝国主义，将中国统一为真正的民主共和国。第一次提出明确反帝反封建</a:t>
            </a:r>
            <a:r>
              <a:rPr lang="zh-CN" altLang="en-US" sz="2300" b="1" dirty="0"/>
              <a:t>革命纲领</a:t>
            </a:r>
            <a:r>
              <a:rPr lang="zh-CN" altLang="en-US" sz="2300" dirty="0"/>
              <a:t>。</a:t>
            </a:r>
          </a:p>
          <a:p>
            <a:pPr>
              <a:lnSpc>
                <a:spcPct val="100000"/>
              </a:lnSpc>
            </a:pPr>
            <a:r>
              <a:rPr lang="en-US" altLang="zh-CN" sz="2300" dirty="0">
                <a:solidFill>
                  <a:srgbClr val="FF0000"/>
                </a:solidFill>
              </a:rPr>
              <a:t>3、中共三大：</a:t>
            </a:r>
            <a:r>
              <a:rPr lang="en-US" altLang="zh-CN" sz="2300" dirty="0"/>
              <a:t>1923</a:t>
            </a:r>
            <a:r>
              <a:rPr lang="zh-CN" altLang="en-US" sz="2300" dirty="0"/>
              <a:t>年，广州。与国民党合作，建立革命统一战线。</a:t>
            </a:r>
          </a:p>
          <a:p>
            <a:pPr>
              <a:lnSpc>
                <a:spcPct val="100000"/>
              </a:lnSpc>
            </a:pPr>
            <a:r>
              <a:rPr lang="en-US" altLang="zh-CN" sz="2300" dirty="0">
                <a:solidFill>
                  <a:srgbClr val="FF0000"/>
                </a:solidFill>
              </a:rPr>
              <a:t>4、八七会议：</a:t>
            </a:r>
            <a:r>
              <a:rPr lang="en-US" altLang="zh-CN" sz="2300" dirty="0"/>
              <a:t>1927</a:t>
            </a:r>
            <a:r>
              <a:rPr lang="zh-CN" altLang="en-US" sz="2300" dirty="0"/>
              <a:t>年，汉口。确定实行土地革命和武装反抗国民党反动派的方针，发动秋收起义，</a:t>
            </a:r>
            <a:r>
              <a:rPr lang="en-US" altLang="zh-CN" sz="2300" dirty="0"/>
              <a:t>“</a:t>
            </a:r>
            <a:r>
              <a:rPr lang="zh-CN" altLang="en-US" sz="2300" dirty="0"/>
              <a:t>政权是由枪杆子中取得的</a:t>
            </a:r>
            <a:r>
              <a:rPr lang="en-US" altLang="zh-CN" sz="2300" dirty="0"/>
              <a:t>”</a:t>
            </a:r>
            <a:r>
              <a:rPr lang="zh-CN" altLang="en-US" sz="2300" dirty="0"/>
              <a:t>。</a:t>
            </a:r>
          </a:p>
          <a:p>
            <a:pPr>
              <a:lnSpc>
                <a:spcPct val="100000"/>
              </a:lnSpc>
            </a:pPr>
            <a:r>
              <a:rPr lang="en-US" altLang="zh-CN" sz="2300" dirty="0">
                <a:solidFill>
                  <a:srgbClr val="FF0000"/>
                </a:solidFill>
              </a:rPr>
              <a:t>5</a:t>
            </a:r>
            <a:r>
              <a:rPr lang="zh-CN" altLang="en-US" sz="2300" dirty="0">
                <a:solidFill>
                  <a:srgbClr val="FF0000"/>
                </a:solidFill>
              </a:rPr>
              <a:t>、遵义会议：</a:t>
            </a:r>
            <a:r>
              <a:rPr lang="en-US" altLang="zh-CN" sz="2300" dirty="0"/>
              <a:t>1935</a:t>
            </a:r>
            <a:r>
              <a:rPr lang="zh-CN" altLang="en-US" sz="2300" dirty="0"/>
              <a:t>年，遵义。纠正了</a:t>
            </a:r>
            <a:r>
              <a:rPr lang="en-US" altLang="zh-CN" sz="2300" dirty="0"/>
              <a:t>“</a:t>
            </a:r>
            <a:r>
              <a:rPr lang="zh-CN" altLang="en-US" sz="2300" dirty="0"/>
              <a:t>左</a:t>
            </a:r>
            <a:r>
              <a:rPr lang="en-US" altLang="zh-CN" sz="2300" dirty="0"/>
              <a:t>”</a:t>
            </a:r>
            <a:r>
              <a:rPr lang="zh-CN" altLang="en-US" sz="2300" dirty="0"/>
              <a:t>的错误，确立了以毛泽东为主要代表马克思主义正确路线在党中央的领导地位。生死攸关转折点。</a:t>
            </a:r>
          </a:p>
          <a:p>
            <a:pPr>
              <a:lnSpc>
                <a:spcPct val="100000"/>
              </a:lnSpc>
            </a:pPr>
            <a:r>
              <a:rPr lang="en-US" altLang="zh-CN" sz="2300" dirty="0">
                <a:solidFill>
                  <a:srgbClr val="FF0000"/>
                </a:solidFill>
              </a:rPr>
              <a:t>6、中共七大：</a:t>
            </a:r>
            <a:r>
              <a:rPr lang="en-US" altLang="zh-CN" sz="2300" dirty="0"/>
              <a:t>1945</a:t>
            </a:r>
            <a:r>
              <a:rPr lang="zh-CN" altLang="en-US" sz="2300" dirty="0"/>
              <a:t>年，延安。毛泽东思想</a:t>
            </a:r>
            <a:r>
              <a:rPr lang="zh-CN" altLang="en-US" sz="2300" dirty="0">
                <a:sym typeface="+mn-ea"/>
              </a:rPr>
              <a:t>成为党的指导思想和</a:t>
            </a:r>
            <a:r>
              <a:rPr lang="zh-CN" altLang="en-US" sz="2300" dirty="0"/>
              <a:t>入党章。</a:t>
            </a:r>
          </a:p>
          <a:p>
            <a:pPr>
              <a:lnSpc>
                <a:spcPct val="100000"/>
              </a:lnSpc>
            </a:pPr>
            <a:r>
              <a:rPr lang="en-US" altLang="zh-CN" sz="2300" dirty="0">
                <a:solidFill>
                  <a:srgbClr val="FF0000"/>
                </a:solidFill>
              </a:rPr>
              <a:t>7、中共七届二中全会：</a:t>
            </a:r>
            <a:r>
              <a:rPr lang="en-US" altLang="zh-CN" sz="2300" dirty="0"/>
              <a:t>1949</a:t>
            </a:r>
            <a:r>
              <a:rPr lang="zh-CN" altLang="en-US" sz="2300" dirty="0"/>
              <a:t>年，西柏坡，党的工作重心从乡村转向城市；</a:t>
            </a:r>
            <a:r>
              <a:rPr lang="zh-CN" altLang="en-US" sz="2300" dirty="0">
                <a:sym typeface="+mn-ea"/>
              </a:rPr>
              <a:t>我国从落后农业国变先进工业国。</a:t>
            </a:r>
            <a:endParaRPr lang="zh-CN" altLang="en-US" sz="2300" dirty="0"/>
          </a:p>
          <a:p>
            <a:pPr>
              <a:lnSpc>
                <a:spcPct val="100000"/>
              </a:lnSpc>
            </a:pPr>
            <a:r>
              <a:rPr lang="en-US" altLang="zh-CN" sz="2300" dirty="0">
                <a:solidFill>
                  <a:srgbClr val="FF0000"/>
                </a:solidFill>
              </a:rPr>
              <a:t>8、中共八大：</a:t>
            </a:r>
            <a:r>
              <a:rPr lang="en-US" altLang="zh-CN" sz="2300" dirty="0"/>
              <a:t>1956</a:t>
            </a:r>
            <a:r>
              <a:rPr lang="zh-CN" altLang="en-US" sz="2300" dirty="0"/>
              <a:t>年，北京。分析主要矛盾，任务是把我国从落后农业国变先进工业国。探索建设社会主义道路的良好开端。</a:t>
            </a:r>
          </a:p>
          <a:p>
            <a:pPr>
              <a:lnSpc>
                <a:spcPct val="100000"/>
              </a:lnSpc>
            </a:pPr>
            <a:r>
              <a:rPr lang="en-US" altLang="zh-CN" sz="2300" dirty="0">
                <a:solidFill>
                  <a:srgbClr val="FF0000"/>
                </a:solidFill>
              </a:rPr>
              <a:t>9、中共八大二次会议：</a:t>
            </a:r>
            <a:r>
              <a:rPr lang="en-US" altLang="zh-CN" sz="2300" dirty="0"/>
              <a:t>1958</a:t>
            </a:r>
            <a:r>
              <a:rPr lang="zh-CN" altLang="en-US" sz="2300" dirty="0"/>
              <a:t>年，</a:t>
            </a:r>
            <a:r>
              <a:rPr lang="en-US" altLang="zh-CN" sz="2300" dirty="0"/>
              <a:t>“</a:t>
            </a:r>
            <a:r>
              <a:rPr lang="zh-CN" altLang="en-US" sz="2300" dirty="0"/>
              <a:t>鼓足干劲，力争上游，多快好省地建设社会主义</a:t>
            </a:r>
            <a:r>
              <a:rPr lang="en-US" altLang="zh-CN" sz="2300" dirty="0"/>
              <a:t>”</a:t>
            </a:r>
            <a:r>
              <a:rPr lang="zh-CN" altLang="en-US" sz="2300" dirty="0"/>
              <a:t>的总路线。</a:t>
            </a:r>
            <a:r>
              <a:rPr lang="zh-CN" altLang="en-US" sz="2300" dirty="0">
                <a:solidFill>
                  <a:srgbClr val="FF0000"/>
                </a:solidFill>
              </a:rPr>
              <a:t>（错误）</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367030" y="0"/>
            <a:ext cx="11700510" cy="6321425"/>
          </a:xfrm>
        </p:spPr>
        <p:txBody>
          <a:bodyPr>
            <a:noAutofit/>
          </a:bodyPr>
          <a:lstStyle/>
          <a:p>
            <a:r>
              <a:rPr lang="en-US" altLang="zh-CN" sz="2400" dirty="0">
                <a:solidFill>
                  <a:srgbClr val="FF0000"/>
                </a:solidFill>
              </a:rPr>
              <a:t>10</a:t>
            </a:r>
            <a:r>
              <a:rPr lang="zh-CN" altLang="en-US" sz="2400" dirty="0">
                <a:solidFill>
                  <a:srgbClr val="FF0000"/>
                </a:solidFill>
              </a:rPr>
              <a:t>、中共十一届三中全：</a:t>
            </a:r>
            <a:r>
              <a:rPr lang="en-US" altLang="zh-CN" sz="2400" dirty="0"/>
              <a:t>1978</a:t>
            </a:r>
            <a:r>
              <a:rPr lang="zh-CN" altLang="en-US" sz="2400" dirty="0"/>
              <a:t>年。以经济建设为中心，改革开放，深远意义的伟大转折。</a:t>
            </a:r>
          </a:p>
          <a:p>
            <a:r>
              <a:rPr lang="zh-CN" altLang="en-US" sz="2400" dirty="0">
                <a:solidFill>
                  <a:srgbClr val="FF0000"/>
                </a:solidFill>
              </a:rPr>
              <a:t>1</a:t>
            </a:r>
            <a:r>
              <a:rPr lang="en-US" altLang="zh-CN" sz="2400" dirty="0">
                <a:solidFill>
                  <a:srgbClr val="FF0000"/>
                </a:solidFill>
              </a:rPr>
              <a:t>1</a:t>
            </a:r>
            <a:r>
              <a:rPr lang="zh-CN" altLang="en-US" sz="2400" dirty="0">
                <a:solidFill>
                  <a:srgbClr val="FF0000"/>
                </a:solidFill>
              </a:rPr>
              <a:t>、中共十二大：</a:t>
            </a:r>
            <a:r>
              <a:rPr lang="en-US" altLang="zh-CN" sz="2400" dirty="0"/>
              <a:t>1982</a:t>
            </a:r>
            <a:r>
              <a:rPr lang="zh-CN" altLang="en-US" sz="2400" dirty="0"/>
              <a:t>年，提出</a:t>
            </a:r>
            <a:r>
              <a:rPr lang="en-US" altLang="zh-CN" sz="2400" dirty="0"/>
              <a:t>“</a:t>
            </a:r>
            <a:r>
              <a:rPr lang="zh-CN" altLang="en-US" sz="2400" dirty="0"/>
              <a:t>建设有中国特色的社会主义</a:t>
            </a:r>
            <a:r>
              <a:rPr lang="en-US" altLang="zh-CN" sz="2400" dirty="0"/>
              <a:t>”</a:t>
            </a:r>
            <a:r>
              <a:rPr lang="zh-CN" altLang="en-US" sz="2400" dirty="0"/>
              <a:t>。</a:t>
            </a:r>
          </a:p>
          <a:p>
            <a:r>
              <a:rPr lang="zh-CN" altLang="en-US" sz="2400" dirty="0">
                <a:solidFill>
                  <a:srgbClr val="FF0000"/>
                </a:solidFill>
              </a:rPr>
              <a:t>1</a:t>
            </a:r>
            <a:r>
              <a:rPr lang="en-US" altLang="zh-CN" sz="2400" dirty="0">
                <a:solidFill>
                  <a:srgbClr val="FF0000"/>
                </a:solidFill>
              </a:rPr>
              <a:t>2</a:t>
            </a:r>
            <a:r>
              <a:rPr lang="zh-CN" altLang="en-US" sz="2400" dirty="0">
                <a:solidFill>
                  <a:srgbClr val="FF0000"/>
                </a:solidFill>
              </a:rPr>
              <a:t>、中共十三大：</a:t>
            </a:r>
            <a:r>
              <a:rPr lang="zh-CN" altLang="en-US" sz="2400" dirty="0"/>
              <a:t>一个中心，两个基本点。</a:t>
            </a:r>
          </a:p>
          <a:p>
            <a:r>
              <a:rPr lang="zh-CN" altLang="en-US" sz="2400" dirty="0">
                <a:solidFill>
                  <a:srgbClr val="FF0000"/>
                </a:solidFill>
              </a:rPr>
              <a:t>1</a:t>
            </a:r>
            <a:r>
              <a:rPr lang="en-US" altLang="zh-CN" sz="2400" dirty="0">
                <a:solidFill>
                  <a:srgbClr val="FF0000"/>
                </a:solidFill>
              </a:rPr>
              <a:t>3</a:t>
            </a:r>
            <a:r>
              <a:rPr lang="zh-CN" altLang="en-US" sz="2400" dirty="0">
                <a:solidFill>
                  <a:srgbClr val="FF0000"/>
                </a:solidFill>
              </a:rPr>
              <a:t>、中共十四大：</a:t>
            </a:r>
            <a:r>
              <a:rPr lang="en-US" altLang="zh-CN" sz="2400" dirty="0"/>
              <a:t>1992</a:t>
            </a:r>
            <a:r>
              <a:rPr lang="zh-CN" altLang="en-US" sz="2400" dirty="0"/>
              <a:t>年，提出建立社会主义市场经济体制。邓论武装全党。</a:t>
            </a:r>
          </a:p>
          <a:p>
            <a:r>
              <a:rPr lang="zh-CN" altLang="en-US" sz="2400" dirty="0">
                <a:solidFill>
                  <a:srgbClr val="FF0000"/>
                </a:solidFill>
              </a:rPr>
              <a:t>1</a:t>
            </a:r>
            <a:r>
              <a:rPr lang="en-US" altLang="zh-CN" sz="2400" dirty="0">
                <a:solidFill>
                  <a:srgbClr val="FF0000"/>
                </a:solidFill>
              </a:rPr>
              <a:t>4</a:t>
            </a:r>
            <a:r>
              <a:rPr lang="zh-CN" altLang="en-US" sz="2400" dirty="0">
                <a:solidFill>
                  <a:srgbClr val="FF0000"/>
                </a:solidFill>
              </a:rPr>
              <a:t>、中共十五大：</a:t>
            </a:r>
            <a:r>
              <a:rPr lang="en-US" altLang="zh-CN" sz="2400" dirty="0"/>
              <a:t>1997</a:t>
            </a:r>
            <a:r>
              <a:rPr lang="zh-CN" altLang="en-US" sz="2400" dirty="0"/>
              <a:t>年，邓论</a:t>
            </a:r>
            <a:r>
              <a:rPr lang="zh-CN" altLang="en-US" sz="2400" dirty="0">
                <a:sym typeface="+mn-ea"/>
              </a:rPr>
              <a:t>成为党的指导思想和</a:t>
            </a:r>
            <a:r>
              <a:rPr lang="zh-CN" altLang="en-US" sz="2400" dirty="0"/>
              <a:t>入党章。</a:t>
            </a:r>
          </a:p>
          <a:p>
            <a:r>
              <a:rPr lang="zh-CN" altLang="en-US" sz="2400" dirty="0">
                <a:solidFill>
                  <a:srgbClr val="FF0000"/>
                </a:solidFill>
              </a:rPr>
              <a:t>1</a:t>
            </a:r>
            <a:r>
              <a:rPr lang="en-US" altLang="zh-CN" sz="2400" dirty="0">
                <a:solidFill>
                  <a:srgbClr val="FF0000"/>
                </a:solidFill>
              </a:rPr>
              <a:t>5</a:t>
            </a:r>
            <a:r>
              <a:rPr lang="zh-CN" altLang="en-US" sz="2400" dirty="0">
                <a:solidFill>
                  <a:srgbClr val="FF0000"/>
                </a:solidFill>
              </a:rPr>
              <a:t>、中共十六大：</a:t>
            </a:r>
            <a:r>
              <a:rPr lang="en-US" altLang="zh-CN" sz="2400" dirty="0"/>
              <a:t>“</a:t>
            </a:r>
            <a:r>
              <a:rPr lang="zh-CN" altLang="en-US" sz="2400" dirty="0"/>
              <a:t>三个代表</a:t>
            </a:r>
            <a:r>
              <a:rPr lang="en-US" altLang="zh-CN" sz="2400" dirty="0"/>
              <a:t>”</a:t>
            </a:r>
            <a:r>
              <a:rPr lang="zh-CN" altLang="en-US" sz="2400" dirty="0"/>
              <a:t>成为党的指导思想。</a:t>
            </a:r>
          </a:p>
          <a:p>
            <a:r>
              <a:rPr lang="zh-CN" altLang="en-US" sz="2400" dirty="0">
                <a:solidFill>
                  <a:srgbClr val="FF0000"/>
                </a:solidFill>
              </a:rPr>
              <a:t>1</a:t>
            </a:r>
            <a:r>
              <a:rPr lang="en-US" altLang="zh-CN" sz="2400" dirty="0">
                <a:solidFill>
                  <a:srgbClr val="FF0000"/>
                </a:solidFill>
              </a:rPr>
              <a:t>6</a:t>
            </a:r>
            <a:r>
              <a:rPr lang="zh-CN" altLang="en-US" sz="2400" dirty="0">
                <a:solidFill>
                  <a:srgbClr val="FF0000"/>
                </a:solidFill>
              </a:rPr>
              <a:t>、中共十八大：</a:t>
            </a:r>
            <a:r>
              <a:rPr lang="zh-CN" sz="2400" dirty="0">
                <a:sym typeface="+mn-ea"/>
              </a:rPr>
              <a:t>科学发展观</a:t>
            </a:r>
            <a:r>
              <a:rPr lang="zh-CN" altLang="en-US" sz="2400" dirty="0">
                <a:sym typeface="+mn-ea"/>
              </a:rPr>
              <a:t>成为党的指导思想。</a:t>
            </a:r>
            <a:endParaRPr lang="zh-CN" altLang="en-US" sz="2400" dirty="0"/>
          </a:p>
          <a:p>
            <a:r>
              <a:rPr lang="zh-CN" altLang="en-US" sz="2400" dirty="0">
                <a:solidFill>
                  <a:srgbClr val="FF0000"/>
                </a:solidFill>
              </a:rPr>
              <a:t>1</a:t>
            </a:r>
            <a:r>
              <a:rPr lang="en-US" altLang="zh-CN" sz="2400" dirty="0">
                <a:solidFill>
                  <a:srgbClr val="FF0000"/>
                </a:solidFill>
              </a:rPr>
              <a:t>7</a:t>
            </a:r>
            <a:r>
              <a:rPr lang="zh-CN" altLang="en-US" sz="2400" dirty="0">
                <a:solidFill>
                  <a:srgbClr val="FF0000"/>
                </a:solidFill>
              </a:rPr>
              <a:t>、中共十九大：</a:t>
            </a:r>
            <a:r>
              <a:rPr lang="zh-CN" altLang="en-US" sz="2400" dirty="0"/>
              <a:t>习近平新时代中国特色社会主义思想</a:t>
            </a:r>
            <a:r>
              <a:rPr lang="zh-CN" altLang="en-US" sz="2400" dirty="0">
                <a:sym typeface="+mn-ea"/>
              </a:rPr>
              <a:t>成为党的指导思想。</a:t>
            </a:r>
          </a:p>
          <a:p>
            <a:r>
              <a:rPr lang="zh-CN" altLang="en-US" sz="2400" dirty="0">
                <a:solidFill>
                  <a:srgbClr val="FF0000"/>
                </a:solidFill>
                <a:sym typeface="+mn-ea"/>
              </a:rPr>
              <a:t>社会主义建设成就的影响：</a:t>
            </a:r>
            <a:r>
              <a:rPr lang="en-US" altLang="zh-CN" sz="2400" dirty="0">
                <a:sym typeface="+mn-ea"/>
              </a:rPr>
              <a:t>1956-1976</a:t>
            </a:r>
            <a:r>
              <a:rPr lang="zh-CN" altLang="en-US" sz="2400" dirty="0">
                <a:sym typeface="+mn-ea"/>
              </a:rPr>
              <a:t>年，初步形成了独立的、比较完整的工业体系和国民经济体系，为现代化建设打下了坚实的物质基础。</a:t>
            </a:r>
            <a:endParaRPr lang="zh-CN" altLang="en-US" sz="2400" dirty="0"/>
          </a:p>
          <a:p>
            <a:endParaRPr lang="zh-CN" altLang="en-US" sz="2400" dirty="0">
              <a:sym typeface="+mn-ea"/>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0" y="635"/>
            <a:ext cx="12192635" cy="6856730"/>
          </a:xfrm>
        </p:spPr>
        <p:txBody>
          <a:bodyPr>
            <a:noAutofit/>
          </a:bodyPr>
          <a:lstStyle/>
          <a:p>
            <a:pPr>
              <a:lnSpc>
                <a:spcPct val="100000"/>
              </a:lnSpc>
            </a:pPr>
            <a:r>
              <a:rPr lang="zh-CN" altLang="en-US" sz="2800" dirty="0">
                <a:sym typeface="+mn-ea"/>
              </a:rPr>
              <a:t>1、对外开放格局：</a:t>
            </a:r>
            <a:r>
              <a:rPr lang="zh-CN" altLang="en-US" sz="2800" dirty="0">
                <a:solidFill>
                  <a:srgbClr val="FF0000"/>
                </a:solidFill>
                <a:sym typeface="+mn-ea"/>
              </a:rPr>
              <a:t>经济特区-沿海开放城市-沿海经济开放区-内地的全方位、多层次、</a:t>
            </a:r>
            <a:r>
              <a:rPr lang="zh-CN" altLang="en-US" sz="2800" u="sng" dirty="0">
                <a:solidFill>
                  <a:srgbClr val="FF0000"/>
                </a:solidFill>
                <a:sym typeface="+mn-ea"/>
              </a:rPr>
              <a:t>宽领域</a:t>
            </a:r>
            <a:r>
              <a:rPr lang="zh-CN" altLang="en-US" sz="2800" dirty="0">
                <a:solidFill>
                  <a:srgbClr val="FF0000"/>
                </a:solidFill>
                <a:sym typeface="+mn-ea"/>
              </a:rPr>
              <a:t>。</a:t>
            </a:r>
            <a:endParaRPr lang="zh-CN" altLang="en-US" sz="2800" dirty="0">
              <a:solidFill>
                <a:srgbClr val="FF0000"/>
              </a:solidFill>
            </a:endParaRPr>
          </a:p>
          <a:p>
            <a:pPr algn="l">
              <a:lnSpc>
                <a:spcPct val="100000"/>
              </a:lnSpc>
              <a:buClrTx/>
              <a:buSzTx/>
            </a:pPr>
            <a:r>
              <a:rPr lang="zh-CN" altLang="en-US" sz="2800" dirty="0"/>
              <a:t>2、改革开放后的外交布局：</a:t>
            </a:r>
            <a:r>
              <a:rPr lang="zh-CN" altLang="en-US" sz="2800" dirty="0">
                <a:solidFill>
                  <a:srgbClr val="FF0000"/>
                </a:solidFill>
              </a:rPr>
              <a:t>全方位、多层次、</a:t>
            </a:r>
            <a:r>
              <a:rPr lang="zh-CN" altLang="en-US" sz="2800" u="sng" dirty="0">
                <a:solidFill>
                  <a:srgbClr val="FF0000"/>
                </a:solidFill>
              </a:rPr>
              <a:t>立体化</a:t>
            </a:r>
            <a:endParaRPr lang="zh-CN" altLang="en-US" sz="2800" dirty="0">
              <a:solidFill>
                <a:srgbClr val="FF0000"/>
              </a:solidFill>
            </a:endParaRPr>
          </a:p>
          <a:p>
            <a:pPr>
              <a:lnSpc>
                <a:spcPct val="100000"/>
              </a:lnSpc>
            </a:pPr>
            <a:r>
              <a:rPr lang="zh-CN" altLang="en-US" sz="2800" dirty="0"/>
              <a:t>3、全方位外交布局的影响：</a:t>
            </a:r>
            <a:r>
              <a:rPr lang="zh-CN" altLang="en-US" sz="2800" dirty="0">
                <a:solidFill>
                  <a:srgbClr val="FF0000"/>
                </a:solidFill>
              </a:rPr>
              <a:t>中国的国际地位不断提高，成为维护和促进世界和平、稳定与发展的坚定力量，在国际事务中发挥日益重要作用。</a:t>
            </a:r>
          </a:p>
          <a:p>
            <a:pPr>
              <a:lnSpc>
                <a:spcPct val="100000"/>
              </a:lnSpc>
            </a:pPr>
            <a:r>
              <a:rPr lang="zh-CN" altLang="en-US" sz="2800" dirty="0"/>
              <a:t>4、“两弹一星”的意义：</a:t>
            </a:r>
            <a:r>
              <a:rPr lang="zh-CN" altLang="en-US" sz="2800" dirty="0">
                <a:solidFill>
                  <a:srgbClr val="FF0000"/>
                </a:solidFill>
              </a:rPr>
              <a:t>打破了有核大国的核垄断，增强了我国的国防实力，大大提高了我国国际地位。</a:t>
            </a:r>
          </a:p>
          <a:p>
            <a:pPr>
              <a:lnSpc>
                <a:spcPct val="100000"/>
              </a:lnSpc>
            </a:pPr>
            <a:r>
              <a:rPr lang="zh-CN" altLang="en-US" sz="2800" dirty="0"/>
              <a:t>5、中美关系的变化：</a:t>
            </a:r>
            <a:r>
              <a:rPr lang="zh-CN" altLang="en-US" sz="2800" dirty="0">
                <a:solidFill>
                  <a:srgbClr val="FF0000"/>
                </a:solidFill>
              </a:rPr>
              <a:t>敌对</a:t>
            </a:r>
            <a:r>
              <a:rPr lang="en-US" altLang="zh-CN" sz="2800" dirty="0">
                <a:solidFill>
                  <a:srgbClr val="FF0000"/>
                </a:solidFill>
              </a:rPr>
              <a:t>-</a:t>
            </a:r>
            <a:r>
              <a:rPr lang="zh-CN" altLang="en-US" sz="2800" dirty="0">
                <a:solidFill>
                  <a:srgbClr val="FF0000"/>
                </a:solidFill>
              </a:rPr>
              <a:t>正常化（</a:t>
            </a:r>
            <a:r>
              <a:rPr lang="en-US" altLang="zh-CN" sz="2800" dirty="0">
                <a:solidFill>
                  <a:srgbClr val="FF0000"/>
                </a:solidFill>
              </a:rPr>
              <a:t>72</a:t>
            </a:r>
            <a:r>
              <a:rPr lang="zh-CN" altLang="en-US" sz="2800" dirty="0">
                <a:solidFill>
                  <a:srgbClr val="FF0000"/>
                </a:solidFill>
              </a:rPr>
              <a:t>年）</a:t>
            </a:r>
            <a:r>
              <a:rPr lang="en-US" altLang="zh-CN" sz="2800" dirty="0">
                <a:solidFill>
                  <a:srgbClr val="FF0000"/>
                </a:solidFill>
              </a:rPr>
              <a:t>-</a:t>
            </a:r>
            <a:r>
              <a:rPr lang="zh-CN" altLang="en-US" sz="2800" dirty="0">
                <a:solidFill>
                  <a:srgbClr val="FF0000"/>
                </a:solidFill>
              </a:rPr>
              <a:t>建交（</a:t>
            </a:r>
            <a:r>
              <a:rPr lang="en-US" altLang="zh-CN" sz="2800" dirty="0">
                <a:solidFill>
                  <a:srgbClr val="FF0000"/>
                </a:solidFill>
              </a:rPr>
              <a:t>79</a:t>
            </a:r>
            <a:r>
              <a:rPr lang="zh-CN" altLang="en-US" sz="2800" dirty="0">
                <a:solidFill>
                  <a:srgbClr val="FF0000"/>
                </a:solidFill>
              </a:rPr>
              <a:t>年）</a:t>
            </a:r>
            <a:endParaRPr lang="zh-CN" altLang="en-US" sz="2800" dirty="0"/>
          </a:p>
          <a:p>
            <a:pPr>
              <a:lnSpc>
                <a:spcPct val="100000"/>
              </a:lnSpc>
            </a:pPr>
            <a:r>
              <a:rPr lang="en-US" altLang="zh-CN" sz="2800" dirty="0">
                <a:sym typeface="+mn-ea"/>
              </a:rPr>
              <a:t>6</a:t>
            </a:r>
            <a:r>
              <a:rPr lang="zh-CN" altLang="en-US" sz="2800" dirty="0">
                <a:sym typeface="+mn-ea"/>
              </a:rPr>
              <a:t>、中美关系</a:t>
            </a:r>
            <a:r>
              <a:rPr lang="zh-CN" altLang="en-US" sz="2800" dirty="0"/>
              <a:t>正常化：</a:t>
            </a:r>
            <a:r>
              <a:rPr lang="en-US" altLang="zh-CN" sz="2800" dirty="0">
                <a:solidFill>
                  <a:srgbClr val="FF0000"/>
                </a:solidFill>
              </a:rPr>
              <a:t>71</a:t>
            </a:r>
            <a:r>
              <a:rPr lang="zh-CN" altLang="en-US" sz="2800" dirty="0">
                <a:solidFill>
                  <a:srgbClr val="FF0000"/>
                </a:solidFill>
              </a:rPr>
              <a:t>年基辛格访华，</a:t>
            </a:r>
            <a:r>
              <a:rPr lang="en-US" altLang="zh-CN" sz="2800" dirty="0">
                <a:solidFill>
                  <a:srgbClr val="FF0000"/>
                </a:solidFill>
              </a:rPr>
              <a:t>72</a:t>
            </a:r>
            <a:r>
              <a:rPr lang="zh-CN" altLang="en-US" sz="2800" dirty="0">
                <a:solidFill>
                  <a:srgbClr val="FF0000"/>
                </a:solidFill>
              </a:rPr>
              <a:t>年尼克松访华、发表《联合公报》。</a:t>
            </a:r>
          </a:p>
          <a:p>
            <a:pPr>
              <a:lnSpc>
                <a:spcPct val="100000"/>
              </a:lnSpc>
            </a:pPr>
            <a:r>
              <a:rPr lang="en-US" altLang="zh-CN" sz="2800" dirty="0">
                <a:sym typeface="+mn-ea"/>
              </a:rPr>
              <a:t>7</a:t>
            </a:r>
            <a:r>
              <a:rPr lang="zh-CN" altLang="en-US" sz="2800" dirty="0">
                <a:sym typeface="+mn-ea"/>
              </a:rPr>
              <a:t>、中美关系的</a:t>
            </a:r>
            <a:r>
              <a:rPr lang="zh-CN" altLang="en-US" sz="2800" dirty="0"/>
              <a:t>的影响：</a:t>
            </a:r>
            <a:r>
              <a:rPr lang="zh-CN" altLang="en-US" sz="2800" dirty="0">
                <a:solidFill>
                  <a:srgbClr val="FF0000"/>
                </a:solidFill>
              </a:rPr>
              <a:t>许多国家纷纷与中国建立外交关系，出现了与中国建交的高潮；为我国改革开放和社会主义现代化建设提高了良好的国际环境。</a:t>
            </a:r>
          </a:p>
          <a:p>
            <a:endParaRPr lang="zh-CN" altLang="en-US" sz="2800" dirty="0">
              <a:solidFill>
                <a:srgbClr val="FF0000"/>
              </a:solidFill>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92710" y="115570"/>
            <a:ext cx="12014835" cy="6602095"/>
          </a:xfrm>
        </p:spPr>
        <p:txBody>
          <a:bodyPr>
            <a:noAutofit/>
          </a:bodyPr>
          <a:lstStyle/>
          <a:p>
            <a:pPr>
              <a:lnSpc>
                <a:spcPct val="100000"/>
              </a:lnSpc>
              <a:spcAft>
                <a:spcPts val="800"/>
              </a:spcAft>
            </a:pPr>
            <a:r>
              <a:rPr lang="en-US" altLang="zh-CN" sz="2400"/>
              <a:t>1</a:t>
            </a:r>
            <a:r>
              <a:rPr lang="zh-CN" altLang="en-US" sz="2400"/>
              <a:t>、</a:t>
            </a:r>
            <a:r>
              <a:rPr lang="en-US" altLang="zh-CN" sz="2400"/>
              <a:t>20</a:t>
            </a:r>
            <a:r>
              <a:rPr lang="zh-CN" altLang="en-US" sz="2400"/>
              <a:t>世纪</a:t>
            </a:r>
            <a:r>
              <a:rPr lang="en-US" altLang="zh-CN" sz="2400"/>
              <a:t>70</a:t>
            </a:r>
            <a:r>
              <a:rPr lang="zh-CN" altLang="en-US" sz="2400"/>
              <a:t>年代的外交成就有？（按时间顺序写！）</a:t>
            </a:r>
            <a:r>
              <a:rPr lang="zh-CN" altLang="en-US" sz="2400">
                <a:solidFill>
                  <a:srgbClr val="FF0000"/>
                </a:solidFill>
              </a:rPr>
              <a:t>恢复联合国合法席位（</a:t>
            </a:r>
            <a:r>
              <a:rPr lang="en-US" altLang="zh-CN" sz="2400">
                <a:solidFill>
                  <a:srgbClr val="FF0000"/>
                </a:solidFill>
              </a:rPr>
              <a:t>71</a:t>
            </a:r>
            <a:r>
              <a:rPr lang="zh-CN" altLang="en-US" sz="2400">
                <a:solidFill>
                  <a:srgbClr val="FF0000"/>
                </a:solidFill>
              </a:rPr>
              <a:t>年，</a:t>
            </a:r>
            <a:r>
              <a:rPr lang="en-US" altLang="zh-CN" sz="2400">
                <a:solidFill>
                  <a:srgbClr val="FF0000"/>
                </a:solidFill>
              </a:rPr>
              <a:t>26</a:t>
            </a:r>
            <a:r>
              <a:rPr lang="zh-CN" altLang="en-US" sz="2400">
                <a:solidFill>
                  <a:srgbClr val="FF0000"/>
                </a:solidFill>
              </a:rPr>
              <a:t>届）；中美关系正常化（</a:t>
            </a:r>
            <a:r>
              <a:rPr lang="en-US" altLang="zh-CN" sz="2400">
                <a:solidFill>
                  <a:srgbClr val="FF0000"/>
                </a:solidFill>
              </a:rPr>
              <a:t>72</a:t>
            </a:r>
            <a:r>
              <a:rPr lang="zh-CN" altLang="en-US" sz="2400">
                <a:solidFill>
                  <a:srgbClr val="FF0000"/>
                </a:solidFill>
              </a:rPr>
              <a:t>年）；中日建交（</a:t>
            </a:r>
            <a:r>
              <a:rPr lang="en-US" altLang="zh-CN" sz="2400">
                <a:solidFill>
                  <a:srgbClr val="FF0000"/>
                </a:solidFill>
              </a:rPr>
              <a:t>72</a:t>
            </a:r>
            <a:r>
              <a:rPr lang="zh-CN" altLang="en-US" sz="2400">
                <a:solidFill>
                  <a:srgbClr val="FF0000"/>
                </a:solidFill>
              </a:rPr>
              <a:t>年）；中美建交（</a:t>
            </a:r>
            <a:r>
              <a:rPr lang="en-US" altLang="zh-CN" sz="2400">
                <a:solidFill>
                  <a:srgbClr val="FF0000"/>
                </a:solidFill>
              </a:rPr>
              <a:t>79</a:t>
            </a:r>
            <a:r>
              <a:rPr lang="zh-CN" altLang="en-US" sz="2400">
                <a:solidFill>
                  <a:srgbClr val="FF0000"/>
                </a:solidFill>
              </a:rPr>
              <a:t>年）</a:t>
            </a:r>
          </a:p>
          <a:p>
            <a:pPr>
              <a:lnSpc>
                <a:spcPct val="100000"/>
              </a:lnSpc>
              <a:spcAft>
                <a:spcPts val="800"/>
              </a:spcAft>
            </a:pPr>
            <a:r>
              <a:rPr lang="en-US" altLang="zh-CN" sz="2400"/>
              <a:t>2</a:t>
            </a:r>
            <a:r>
              <a:rPr lang="zh-CN" altLang="en-US" sz="2400"/>
              <a:t>、标志海峡两岸关系发生历史性变化的事件？</a:t>
            </a:r>
            <a:r>
              <a:rPr lang="zh-CN" altLang="en-US" sz="2400">
                <a:solidFill>
                  <a:srgbClr val="FF0000"/>
                </a:solidFill>
              </a:rPr>
              <a:t>台湾调整</a:t>
            </a:r>
            <a:r>
              <a:rPr lang="en-US" altLang="zh-CN" sz="2400">
                <a:solidFill>
                  <a:srgbClr val="FF0000"/>
                </a:solidFill>
              </a:rPr>
              <a:t>“</a:t>
            </a:r>
            <a:r>
              <a:rPr lang="zh-CN" altLang="en-US" sz="2400">
                <a:solidFill>
                  <a:srgbClr val="FF0000"/>
                </a:solidFill>
              </a:rPr>
              <a:t>三不</a:t>
            </a:r>
            <a:r>
              <a:rPr lang="en-US" altLang="zh-CN" sz="2400">
                <a:solidFill>
                  <a:srgbClr val="FF0000"/>
                </a:solidFill>
              </a:rPr>
              <a:t>”</a:t>
            </a:r>
            <a:r>
              <a:rPr lang="zh-CN" altLang="en-US" sz="2400">
                <a:solidFill>
                  <a:srgbClr val="FF0000"/>
                </a:solidFill>
              </a:rPr>
              <a:t>政策。</a:t>
            </a:r>
          </a:p>
          <a:p>
            <a:pPr>
              <a:lnSpc>
                <a:spcPct val="100000"/>
              </a:lnSpc>
              <a:spcAft>
                <a:spcPts val="800"/>
              </a:spcAft>
            </a:pPr>
            <a:r>
              <a:rPr lang="en-US" altLang="zh-CN" sz="2400"/>
              <a:t>3</a:t>
            </a:r>
            <a:r>
              <a:rPr lang="zh-CN" altLang="en-US" sz="2400"/>
              <a:t>、我国的外交政策是？外交原则是？</a:t>
            </a:r>
            <a:r>
              <a:rPr lang="en-US" altLang="zh-CN" sz="2400"/>
              <a:t>  </a:t>
            </a:r>
            <a:r>
              <a:rPr lang="zh-CN" altLang="en-US" sz="2400">
                <a:solidFill>
                  <a:srgbClr val="FF0000"/>
                </a:solidFill>
              </a:rPr>
              <a:t>独立自主和平外交政策</a:t>
            </a:r>
            <a:r>
              <a:rPr lang="en-US" altLang="zh-CN" sz="2400">
                <a:solidFill>
                  <a:srgbClr val="FF0000"/>
                </a:solidFill>
              </a:rPr>
              <a:t>   </a:t>
            </a:r>
            <a:r>
              <a:rPr lang="zh-CN" altLang="en-US" sz="2400">
                <a:solidFill>
                  <a:srgbClr val="FF0000"/>
                </a:solidFill>
              </a:rPr>
              <a:t>和平共处五项原则</a:t>
            </a:r>
          </a:p>
          <a:p>
            <a:pPr algn="l">
              <a:lnSpc>
                <a:spcPct val="100000"/>
              </a:lnSpc>
              <a:spcAft>
                <a:spcPts val="800"/>
              </a:spcAft>
              <a:buClrTx/>
              <a:buSzTx/>
            </a:pPr>
            <a:r>
              <a:rPr lang="en-US" altLang="zh-CN" sz="2400"/>
              <a:t>4</a:t>
            </a:r>
            <a:r>
              <a:rPr lang="zh-CN" altLang="en-US" sz="2400"/>
              <a:t>、恢复联合国合法席位的根本原因是？</a:t>
            </a:r>
            <a:r>
              <a:rPr lang="zh-CN" altLang="en-US" sz="2400">
                <a:solidFill>
                  <a:srgbClr val="FF0000"/>
                </a:solidFill>
              </a:rPr>
              <a:t>中国国际地位的提高</a:t>
            </a:r>
          </a:p>
          <a:p>
            <a:pPr algn="l">
              <a:lnSpc>
                <a:spcPct val="100000"/>
              </a:lnSpc>
              <a:spcAft>
                <a:spcPts val="800"/>
              </a:spcAft>
              <a:buClrTx/>
              <a:buSzTx/>
            </a:pPr>
            <a:r>
              <a:rPr lang="en-US" altLang="zh-CN" sz="2400"/>
              <a:t>5</a:t>
            </a:r>
            <a:r>
              <a:rPr lang="zh-CN" altLang="en-US" sz="2400"/>
              <a:t>、两弹一星是什么？</a:t>
            </a:r>
            <a:r>
              <a:rPr lang="en-US" altLang="zh-CN" sz="2400"/>
              <a:t> </a:t>
            </a:r>
            <a:r>
              <a:rPr lang="zh-CN" altLang="en-US" sz="2400">
                <a:solidFill>
                  <a:srgbClr val="FF0000"/>
                </a:solidFill>
              </a:rPr>
              <a:t>导弹、核弹、人造地球卫星东方红一号</a:t>
            </a:r>
          </a:p>
          <a:p>
            <a:pPr algn="l">
              <a:lnSpc>
                <a:spcPct val="100000"/>
              </a:lnSpc>
              <a:spcAft>
                <a:spcPts val="800"/>
              </a:spcAft>
              <a:buClrTx/>
              <a:buSzTx/>
            </a:pPr>
            <a:r>
              <a:rPr lang="en-US" altLang="zh-CN" sz="2400"/>
              <a:t>6</a:t>
            </a:r>
            <a:r>
              <a:rPr lang="zh-CN" altLang="en-US" sz="2400"/>
              <a:t>、第一位航天员是？</a:t>
            </a:r>
            <a:r>
              <a:rPr lang="en-US" altLang="zh-CN" sz="2400"/>
              <a:t>  </a:t>
            </a:r>
            <a:r>
              <a:rPr lang="zh-CN" altLang="en-US" sz="2400">
                <a:solidFill>
                  <a:srgbClr val="FF0000"/>
                </a:solidFill>
              </a:rPr>
              <a:t>杨利伟</a:t>
            </a:r>
          </a:p>
          <a:p>
            <a:pPr algn="l">
              <a:lnSpc>
                <a:spcPct val="100000"/>
              </a:lnSpc>
              <a:spcAft>
                <a:spcPts val="800"/>
              </a:spcAft>
              <a:buClrTx/>
              <a:buSzTx/>
            </a:pPr>
            <a:r>
              <a:rPr lang="en-US" altLang="zh-CN" sz="2400"/>
              <a:t>7</a:t>
            </a:r>
            <a:r>
              <a:rPr lang="zh-CN" altLang="en-US" sz="2400"/>
              <a:t>、新中国成立后，科学文化方针是什么？</a:t>
            </a:r>
            <a:r>
              <a:rPr lang="en-US" altLang="zh-CN" sz="2400"/>
              <a:t>   </a:t>
            </a:r>
            <a:r>
              <a:rPr lang="zh-CN" altLang="en-US" sz="2400">
                <a:solidFill>
                  <a:srgbClr val="FF0000"/>
                </a:solidFill>
              </a:rPr>
              <a:t>百花齐放、百家争鸣</a:t>
            </a:r>
          </a:p>
          <a:p>
            <a:pPr algn="l">
              <a:lnSpc>
                <a:spcPct val="100000"/>
              </a:lnSpc>
              <a:spcAft>
                <a:spcPts val="800"/>
              </a:spcAft>
              <a:buClrTx/>
              <a:buSzTx/>
            </a:pPr>
            <a:r>
              <a:rPr lang="en-US" altLang="zh-CN" sz="2400"/>
              <a:t>8</a:t>
            </a:r>
            <a:r>
              <a:rPr lang="zh-CN" altLang="en-US" sz="2400"/>
              <a:t>、香港、澳门能够顺利回归祖国的根本原因是？</a:t>
            </a:r>
            <a:r>
              <a:rPr lang="zh-CN" altLang="en-US" sz="2400">
                <a:solidFill>
                  <a:srgbClr val="FF0000"/>
                </a:solidFill>
              </a:rPr>
              <a:t>综合国力的提高</a:t>
            </a:r>
          </a:p>
          <a:p>
            <a:pPr algn="l">
              <a:lnSpc>
                <a:spcPct val="100000"/>
              </a:lnSpc>
              <a:spcAft>
                <a:spcPts val="800"/>
              </a:spcAft>
              <a:buClrTx/>
              <a:buSzTx/>
            </a:pPr>
            <a:r>
              <a:rPr lang="en-US" altLang="zh-CN" sz="2400"/>
              <a:t>9</a:t>
            </a:r>
            <a:r>
              <a:rPr lang="zh-CN" altLang="en-US" sz="2400"/>
              <a:t>、</a:t>
            </a:r>
            <a:r>
              <a:rPr lang="zh-CN" altLang="en-US" sz="2400">
                <a:sym typeface="+mn-ea"/>
              </a:rPr>
              <a:t>香港、澳门能够顺利回归祖国的意义：</a:t>
            </a:r>
            <a:r>
              <a:rPr lang="zh-CN" altLang="en-US" sz="2400">
                <a:solidFill>
                  <a:srgbClr val="FF0000"/>
                </a:solidFill>
                <a:sym typeface="+mn-ea"/>
              </a:rPr>
              <a:t>中国人民洗雪了百年国耻，在完成祖国统一大业的道路上迈出了重要一步。</a:t>
            </a:r>
          </a:p>
          <a:p>
            <a:pPr algn="l">
              <a:lnSpc>
                <a:spcPct val="100000"/>
              </a:lnSpc>
              <a:spcAft>
                <a:spcPts val="800"/>
              </a:spcAft>
              <a:buClrTx/>
              <a:buSzTx/>
            </a:pPr>
            <a:r>
              <a:rPr lang="zh-CN" altLang="en-US" sz="2400"/>
              <a:t>10、中国恢复联合国合法席位的意义：</a:t>
            </a:r>
            <a:r>
              <a:rPr lang="zh-CN" altLang="en-US" sz="2400">
                <a:solidFill>
                  <a:srgbClr val="FF0000"/>
                </a:solidFill>
              </a:rPr>
              <a:t>中国外交重大胜利，中国国际地位和国际影响力进一步提高和扩大；中国积极参与国际事务，作为联合国安理会常任理事国之一，发挥重要作用。</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278765" y="130810"/>
            <a:ext cx="11846560" cy="7798435"/>
          </a:xfrm>
        </p:spPr>
        <p:txBody>
          <a:bodyPr>
            <a:noAutofit/>
          </a:bodyPr>
          <a:lstStyle/>
          <a:p>
            <a:pPr>
              <a:lnSpc>
                <a:spcPct val="100000"/>
              </a:lnSpc>
            </a:pPr>
            <a:r>
              <a:rPr lang="en-US" altLang="zh-CN" sz="2800" dirty="0"/>
              <a:t>1</a:t>
            </a:r>
            <a:r>
              <a:rPr lang="zh-CN" altLang="en-US" sz="2800" dirty="0"/>
              <a:t>、经济特区：</a:t>
            </a:r>
            <a:r>
              <a:rPr lang="en-US" altLang="zh-CN" sz="2800" dirty="0"/>
              <a:t>1980</a:t>
            </a:r>
            <a:r>
              <a:rPr lang="zh-CN" altLang="en-US" sz="2800" dirty="0"/>
              <a:t>年深圳、厦门、汕头、珠海</a:t>
            </a:r>
          </a:p>
          <a:p>
            <a:pPr>
              <a:lnSpc>
                <a:spcPct val="100000"/>
              </a:lnSpc>
            </a:pPr>
            <a:r>
              <a:rPr lang="en-US" altLang="zh-CN" sz="2800" dirty="0"/>
              <a:t>2</a:t>
            </a:r>
            <a:r>
              <a:rPr lang="zh-CN" altLang="en-US" sz="2800" dirty="0"/>
              <a:t>、沿海开放城市：</a:t>
            </a:r>
            <a:r>
              <a:rPr lang="en-US" altLang="zh-CN" sz="2800" dirty="0"/>
              <a:t>1984</a:t>
            </a:r>
            <a:r>
              <a:rPr lang="zh-CN" altLang="en-US" sz="2800" dirty="0"/>
              <a:t>年，广州等</a:t>
            </a:r>
            <a:r>
              <a:rPr lang="en-US" altLang="zh-CN" sz="2800" dirty="0"/>
              <a:t>14</a:t>
            </a:r>
            <a:r>
              <a:rPr lang="zh-CN" altLang="en-US" sz="2800" dirty="0"/>
              <a:t>个</a:t>
            </a:r>
          </a:p>
          <a:p>
            <a:pPr>
              <a:lnSpc>
                <a:spcPct val="100000"/>
              </a:lnSpc>
            </a:pPr>
            <a:r>
              <a:rPr lang="en-US" altLang="zh-CN" sz="2800" dirty="0"/>
              <a:t>3</a:t>
            </a:r>
            <a:r>
              <a:rPr lang="zh-CN" altLang="en-US" sz="2800" dirty="0"/>
              <a:t>、</a:t>
            </a:r>
            <a:r>
              <a:rPr lang="zh-CN" altLang="en-US" sz="2800" dirty="0">
                <a:sym typeface="+mn-ea"/>
              </a:rPr>
              <a:t>沿海经济开放区：</a:t>
            </a:r>
            <a:r>
              <a:rPr lang="en-US" altLang="zh-CN" sz="2800" dirty="0">
                <a:sym typeface="+mn-ea"/>
              </a:rPr>
              <a:t>1985</a:t>
            </a:r>
            <a:r>
              <a:rPr lang="zh-CN" altLang="en-US" sz="2800" dirty="0">
                <a:sym typeface="+mn-ea"/>
              </a:rPr>
              <a:t>年，长江三角洲、珠江三角洲、闽南三角洲</a:t>
            </a:r>
          </a:p>
          <a:p>
            <a:pPr>
              <a:lnSpc>
                <a:spcPct val="100000"/>
              </a:lnSpc>
            </a:pPr>
            <a:r>
              <a:rPr lang="en-US" altLang="zh-CN" sz="2800" dirty="0">
                <a:sym typeface="+mn-ea"/>
              </a:rPr>
              <a:t>4</a:t>
            </a:r>
            <a:r>
              <a:rPr lang="zh-CN" altLang="en-US" sz="2800" dirty="0">
                <a:sym typeface="+mn-ea"/>
              </a:rPr>
              <a:t>、</a:t>
            </a:r>
            <a:r>
              <a:rPr lang="en-US" altLang="zh-CN" sz="2800" dirty="0">
                <a:sym typeface="+mn-ea"/>
              </a:rPr>
              <a:t>1988</a:t>
            </a:r>
            <a:r>
              <a:rPr lang="zh-CN" altLang="en-US" sz="2800" dirty="0">
                <a:sym typeface="+mn-ea"/>
              </a:rPr>
              <a:t>年，海南经济特区</a:t>
            </a:r>
          </a:p>
          <a:p>
            <a:pPr>
              <a:lnSpc>
                <a:spcPct val="100000"/>
              </a:lnSpc>
            </a:pPr>
            <a:r>
              <a:rPr lang="en-US" altLang="zh-CN" sz="2800" dirty="0">
                <a:sym typeface="+mn-ea"/>
              </a:rPr>
              <a:t>5</a:t>
            </a:r>
            <a:r>
              <a:rPr lang="zh-CN" altLang="en-US" sz="2800" dirty="0">
                <a:sym typeface="+mn-ea"/>
              </a:rPr>
              <a:t>、</a:t>
            </a:r>
            <a:r>
              <a:rPr lang="en-US" altLang="zh-CN" sz="2800" dirty="0">
                <a:sym typeface="+mn-ea"/>
              </a:rPr>
              <a:t>1990</a:t>
            </a:r>
            <a:r>
              <a:rPr lang="zh-CN" altLang="en-US" sz="2800" dirty="0">
                <a:sym typeface="+mn-ea"/>
              </a:rPr>
              <a:t>年，上海浦东开发区</a:t>
            </a:r>
            <a:endParaRPr lang="zh-CN" altLang="en-US" sz="2800" dirty="0"/>
          </a:p>
          <a:p>
            <a:pPr>
              <a:lnSpc>
                <a:spcPct val="100000"/>
              </a:lnSpc>
            </a:pPr>
            <a:r>
              <a:rPr lang="en-US" altLang="zh-CN" sz="2800" dirty="0"/>
              <a:t>6</a:t>
            </a:r>
            <a:r>
              <a:rPr lang="zh-CN" altLang="en-US" sz="2800" dirty="0"/>
              <a:t>、对外开放格局：经济特区</a:t>
            </a:r>
            <a:r>
              <a:rPr lang="en-US" altLang="zh-CN" sz="2800" dirty="0"/>
              <a:t>-</a:t>
            </a:r>
            <a:r>
              <a:rPr lang="zh-CN" altLang="en-US" sz="2800" dirty="0"/>
              <a:t>沿海开放城市</a:t>
            </a:r>
            <a:r>
              <a:rPr lang="en-US" altLang="zh-CN" sz="2800" dirty="0"/>
              <a:t>-</a:t>
            </a:r>
            <a:r>
              <a:rPr lang="zh-CN" altLang="en-US" sz="2800" dirty="0"/>
              <a:t>沿海经济开放区</a:t>
            </a:r>
            <a:r>
              <a:rPr lang="en-US" altLang="zh-CN" sz="2800" dirty="0"/>
              <a:t>-</a:t>
            </a:r>
            <a:r>
              <a:rPr lang="zh-CN" altLang="en-US" sz="2800" dirty="0"/>
              <a:t>内地的全方位、多层次、</a:t>
            </a:r>
            <a:r>
              <a:rPr lang="zh-CN" altLang="en-US" sz="2800" dirty="0">
                <a:solidFill>
                  <a:srgbClr val="FF0000"/>
                </a:solidFill>
              </a:rPr>
              <a:t>宽领域</a:t>
            </a:r>
            <a:r>
              <a:rPr lang="zh-CN" altLang="en-US" sz="2800" dirty="0"/>
              <a:t>。</a:t>
            </a:r>
          </a:p>
          <a:p>
            <a:pPr>
              <a:lnSpc>
                <a:spcPct val="100000"/>
              </a:lnSpc>
            </a:pPr>
            <a:r>
              <a:rPr lang="en-US" altLang="zh-CN" sz="2800" dirty="0"/>
              <a:t>7</a:t>
            </a:r>
            <a:r>
              <a:rPr lang="zh-CN" altLang="en-US" sz="2800" dirty="0"/>
              <a:t>、</a:t>
            </a:r>
            <a:r>
              <a:rPr lang="en-US" altLang="zh-CN" sz="2800" dirty="0"/>
              <a:t>2001</a:t>
            </a:r>
            <a:r>
              <a:rPr lang="zh-CN" altLang="en-US" sz="2800" dirty="0"/>
              <a:t>年，中国加入世贸组织。</a:t>
            </a:r>
          </a:p>
          <a:p>
            <a:pPr>
              <a:lnSpc>
                <a:spcPct val="100000"/>
              </a:lnSpc>
            </a:pPr>
            <a:r>
              <a:rPr lang="en-US" altLang="zh-CN" sz="2800" dirty="0"/>
              <a:t>8</a:t>
            </a:r>
            <a:r>
              <a:rPr lang="zh-CN" altLang="en-US" sz="2800" dirty="0"/>
              <a:t>、意义：为我国参与经济全球化开辟了新途径，为国民经济和社会发展开拓了新空间。</a:t>
            </a:r>
          </a:p>
          <a:p>
            <a:pPr>
              <a:lnSpc>
                <a:spcPct val="100000"/>
              </a:lnSpc>
            </a:pPr>
            <a:r>
              <a:rPr lang="en-US" altLang="zh-CN" sz="2800" dirty="0"/>
              <a:t>9</a:t>
            </a:r>
            <a:r>
              <a:rPr lang="zh-CN" altLang="en-US" sz="2800" dirty="0"/>
              <a:t>、</a:t>
            </a:r>
            <a:r>
              <a:rPr lang="en-US" altLang="zh-CN" sz="2800" dirty="0"/>
              <a:t>1992</a:t>
            </a:r>
            <a:r>
              <a:rPr lang="zh-CN" altLang="en-US" sz="2800" dirty="0"/>
              <a:t>年，邓小平南方谈话，进一步解放人民的思想，推动改革开放和社会主义现代化建设进入</a:t>
            </a:r>
            <a:r>
              <a:rPr lang="zh-CN" altLang="en-US" sz="2800" dirty="0">
                <a:solidFill>
                  <a:srgbClr val="FF0000"/>
                </a:solidFill>
              </a:rPr>
              <a:t>新阶段</a:t>
            </a:r>
            <a:r>
              <a:rPr lang="zh-CN" altLang="en-US" sz="2800" dirty="0"/>
              <a:t>。</a:t>
            </a: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290195" y="325120"/>
            <a:ext cx="11290935" cy="6196330"/>
          </a:xfrm>
        </p:spPr>
        <p:txBody>
          <a:bodyPr>
            <a:normAutofit fontScale="87500" lnSpcReduction="20000"/>
          </a:bodyPr>
          <a:lstStyle/>
          <a:p>
            <a:r>
              <a:rPr lang="zh-CN" altLang="en-US" sz="2800" dirty="0"/>
              <a:t>城市经济体制改革：</a:t>
            </a:r>
            <a:r>
              <a:rPr lang="en-US" altLang="zh-CN" sz="2800" dirty="0">
                <a:solidFill>
                  <a:srgbClr val="FF0000"/>
                </a:solidFill>
              </a:rPr>
              <a:t>1984</a:t>
            </a:r>
            <a:r>
              <a:rPr lang="zh-CN" altLang="en-US" sz="2800" dirty="0">
                <a:solidFill>
                  <a:srgbClr val="FF0000"/>
                </a:solidFill>
              </a:rPr>
              <a:t>年，中心环节：增强企业活力。</a:t>
            </a:r>
          </a:p>
          <a:p>
            <a:r>
              <a:rPr lang="zh-CN" altLang="en-US" sz="2800" dirty="0">
                <a:sym typeface="+mn-ea"/>
              </a:rPr>
              <a:t>城市经济体制改革</a:t>
            </a:r>
            <a:r>
              <a:rPr lang="zh-CN" altLang="en-US" sz="2800" dirty="0"/>
              <a:t>的意义：</a:t>
            </a:r>
            <a:r>
              <a:rPr lang="zh-CN" altLang="en-US" sz="2800" dirty="0">
                <a:solidFill>
                  <a:srgbClr val="FF0000"/>
                </a:solidFill>
              </a:rPr>
              <a:t>企业有了经营自主权；大大调动了企业、职工的积极性，增强了企业的活力。</a:t>
            </a:r>
          </a:p>
          <a:p>
            <a:r>
              <a:rPr lang="zh-CN" altLang="en-US" sz="2800" dirty="0"/>
              <a:t>经济特区：</a:t>
            </a:r>
            <a:r>
              <a:rPr lang="en-US" altLang="zh-CN" sz="2800" dirty="0">
                <a:solidFill>
                  <a:srgbClr val="FF0000"/>
                </a:solidFill>
              </a:rPr>
              <a:t>1980</a:t>
            </a:r>
            <a:r>
              <a:rPr lang="zh-CN" altLang="en-US" sz="2800" dirty="0">
                <a:solidFill>
                  <a:srgbClr val="FF0000"/>
                </a:solidFill>
              </a:rPr>
              <a:t>年，深圳（窗口）、珠海、汕头、厦门。</a:t>
            </a:r>
          </a:p>
          <a:p>
            <a:r>
              <a:rPr lang="zh-CN" altLang="en-US" sz="2800" dirty="0"/>
              <a:t>经济特区的作用：</a:t>
            </a:r>
            <a:r>
              <a:rPr lang="zh-CN" altLang="en-US" sz="2800" dirty="0">
                <a:solidFill>
                  <a:srgbClr val="FF0000"/>
                </a:solidFill>
              </a:rPr>
              <a:t>引进外资、先进技术和管理经验，推动国内的进一步改革，扩大对外经济交流，发展社会主义现代化事业起到重要作用。</a:t>
            </a:r>
          </a:p>
          <a:p>
            <a:r>
              <a:rPr lang="zh-CN" altLang="en-US" sz="2800" dirty="0">
                <a:latin typeface="Calibri" panose="020F0502020204030204" charset="0"/>
                <a:sym typeface="+mn-ea"/>
              </a:rPr>
              <a:t>抗美援朝的意义：①</a:t>
            </a:r>
            <a:r>
              <a:rPr lang="zh-CN" altLang="en-US" sz="2800" dirty="0">
                <a:sym typeface="+mn-ea"/>
              </a:rPr>
              <a:t>抵御了帝国主义侵略扩张，捍卫了新中国安全，保卫了中国人民和平生活；</a:t>
            </a:r>
            <a:r>
              <a:rPr lang="zh-CN" altLang="en-US" sz="2800" dirty="0">
                <a:latin typeface="Calibri" panose="020F0502020204030204" charset="0"/>
                <a:sym typeface="+mn-ea"/>
              </a:rPr>
              <a:t>②</a:t>
            </a:r>
            <a:r>
              <a:rPr lang="zh-CN" altLang="en-US" sz="2800" dirty="0">
                <a:sym typeface="+mn-ea"/>
              </a:rPr>
              <a:t>大大提高了我国的国际地位；</a:t>
            </a:r>
            <a:r>
              <a:rPr lang="zh-CN" altLang="en-US" sz="2800" dirty="0">
                <a:latin typeface="Calibri" panose="020F0502020204030204" charset="0"/>
                <a:sym typeface="+mn-ea"/>
              </a:rPr>
              <a:t>③</a:t>
            </a:r>
            <a:r>
              <a:rPr lang="zh-CN" altLang="en-US" sz="2800" dirty="0">
                <a:sym typeface="+mn-ea"/>
              </a:rPr>
              <a:t>是中国人民站起来后屹立于世界东方的宣言书，是中华民族走向伟大复兴的重要里程碑；</a:t>
            </a:r>
            <a:r>
              <a:rPr lang="zh-CN" altLang="en-US" sz="2800" dirty="0">
                <a:latin typeface="Calibri" panose="020F0502020204030204" charset="0"/>
                <a:sym typeface="+mn-ea"/>
              </a:rPr>
              <a:t>④打破了美军不可战胜的神话；⑤</a:t>
            </a:r>
            <a:r>
              <a:rPr lang="zh-CN" altLang="en-US" sz="2800" dirty="0">
                <a:sym typeface="+mn-ea"/>
              </a:rPr>
              <a:t>稳定了朝鲜半岛局势，维护了亚洲和世界和平。</a:t>
            </a:r>
            <a:endParaRPr lang="zh-CN" altLang="en-US" sz="2800" dirty="0"/>
          </a:p>
          <a:p>
            <a:r>
              <a:rPr lang="zh-CN" altLang="en-US" sz="2800" dirty="0">
                <a:sym typeface="+mn-ea"/>
              </a:rPr>
              <a:t>抗美援朝精神：爱国主义、革命英雄主义</a:t>
            </a:r>
            <a:endParaRPr lang="zh-CN" altLang="en-US" sz="2800" dirty="0"/>
          </a:p>
          <a:p>
            <a:endParaRPr lang="zh-CN" altLang="en-US" sz="2800" dirty="0">
              <a:solidFill>
                <a:srgbClr val="FF0000"/>
              </a:solidFill>
            </a:endParaRPr>
          </a:p>
          <a:p>
            <a:endParaRPr lang="zh-CN" altLang="en-US" sz="2800" dirty="0"/>
          </a:p>
          <a:p>
            <a:endParaRPr lang="zh-CN" altLang="en-US" sz="2800" dirty="0"/>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137795" y="94615"/>
            <a:ext cx="12054205" cy="6645275"/>
          </a:xfrm>
        </p:spPr>
        <p:txBody>
          <a:bodyPr>
            <a:noAutofit/>
          </a:bodyPr>
          <a:lstStyle/>
          <a:p>
            <a:pPr>
              <a:lnSpc>
                <a:spcPct val="100000"/>
              </a:lnSpc>
            </a:pPr>
            <a:r>
              <a:rPr lang="en-US" altLang="zh-CN" sz="2400" dirty="0">
                <a:solidFill>
                  <a:schemeClr val="tx1"/>
                </a:solidFill>
              </a:rPr>
              <a:t>1</a:t>
            </a:r>
            <a:r>
              <a:rPr lang="zh-CN" altLang="en-US" sz="2400" dirty="0">
                <a:solidFill>
                  <a:schemeClr val="tx1"/>
                </a:solidFill>
              </a:rPr>
              <a:t>、过渡时期（新民主主义国家</a:t>
            </a:r>
            <a:r>
              <a:rPr lang="en-US" altLang="zh-CN" sz="2400" dirty="0">
                <a:solidFill>
                  <a:schemeClr val="tx1"/>
                </a:solidFill>
              </a:rPr>
              <a:t>——</a:t>
            </a:r>
            <a:r>
              <a:rPr lang="zh-CN" altLang="en-US" sz="2400" dirty="0">
                <a:solidFill>
                  <a:schemeClr val="tx1"/>
                </a:solidFill>
              </a:rPr>
              <a:t>社会主义国家）时间：</a:t>
            </a:r>
            <a:r>
              <a:rPr lang="en-US" altLang="zh-CN" sz="2400" dirty="0">
                <a:solidFill>
                  <a:srgbClr val="FF0000"/>
                </a:solidFill>
                <a:sym typeface="+mn-ea"/>
              </a:rPr>
              <a:t>1949-1956</a:t>
            </a:r>
            <a:r>
              <a:rPr lang="zh-CN" altLang="en-US" sz="2400" dirty="0">
                <a:solidFill>
                  <a:srgbClr val="FF0000"/>
                </a:solidFill>
                <a:sym typeface="+mn-ea"/>
              </a:rPr>
              <a:t>年</a:t>
            </a:r>
            <a:endParaRPr lang="zh-CN" altLang="en-US" sz="2400" dirty="0">
              <a:solidFill>
                <a:schemeClr val="tx1"/>
              </a:solidFill>
            </a:endParaRPr>
          </a:p>
          <a:p>
            <a:pPr>
              <a:lnSpc>
                <a:spcPct val="100000"/>
              </a:lnSpc>
            </a:pPr>
            <a:r>
              <a:rPr lang="en-US" altLang="zh-CN" sz="2400" dirty="0">
                <a:solidFill>
                  <a:schemeClr val="tx1"/>
                </a:solidFill>
              </a:rPr>
              <a:t>2</a:t>
            </a:r>
            <a:r>
              <a:rPr lang="zh-CN" altLang="en-US" sz="2400" dirty="0">
                <a:solidFill>
                  <a:schemeClr val="tx1"/>
                </a:solidFill>
              </a:rPr>
              <a:t>、社会主义制度的建立（社会主义初级阶段）标志：</a:t>
            </a:r>
            <a:r>
              <a:rPr lang="en-US" altLang="zh-CN" sz="2400" dirty="0">
                <a:solidFill>
                  <a:srgbClr val="FF0000"/>
                </a:solidFill>
                <a:sym typeface="+mn-ea"/>
              </a:rPr>
              <a:t>1956</a:t>
            </a:r>
            <a:r>
              <a:rPr lang="zh-CN" altLang="en-US" sz="2400" dirty="0">
                <a:solidFill>
                  <a:srgbClr val="FF0000"/>
                </a:solidFill>
                <a:sym typeface="+mn-ea"/>
              </a:rPr>
              <a:t>年三大改造完成</a:t>
            </a:r>
            <a:endParaRPr lang="zh-CN" altLang="en-US" sz="2400" dirty="0">
              <a:solidFill>
                <a:schemeClr val="tx1"/>
              </a:solidFill>
            </a:endParaRPr>
          </a:p>
          <a:p>
            <a:pPr>
              <a:lnSpc>
                <a:spcPct val="100000"/>
              </a:lnSpc>
            </a:pPr>
            <a:r>
              <a:rPr lang="en-US" altLang="zh-CN" sz="2400" dirty="0">
                <a:solidFill>
                  <a:schemeClr val="tx1"/>
                </a:solidFill>
              </a:rPr>
              <a:t>3</a:t>
            </a:r>
            <a:r>
              <a:rPr lang="zh-CN" altLang="en-US" sz="2400" dirty="0">
                <a:solidFill>
                  <a:schemeClr val="tx1"/>
                </a:solidFill>
              </a:rPr>
              <a:t>、全面建设社会主义十年时间：</a:t>
            </a:r>
            <a:r>
              <a:rPr lang="en-US" altLang="zh-CN" sz="2400" dirty="0">
                <a:solidFill>
                  <a:srgbClr val="FF0000"/>
                </a:solidFill>
                <a:sym typeface="+mn-ea"/>
              </a:rPr>
              <a:t>1956-1966</a:t>
            </a:r>
            <a:r>
              <a:rPr lang="zh-CN" altLang="en-US" sz="2400" dirty="0">
                <a:solidFill>
                  <a:srgbClr val="FF0000"/>
                </a:solidFill>
                <a:sym typeface="+mn-ea"/>
              </a:rPr>
              <a:t>年</a:t>
            </a:r>
            <a:endParaRPr lang="zh-CN" altLang="en-US" sz="2400" dirty="0">
              <a:solidFill>
                <a:schemeClr val="tx1"/>
              </a:solidFill>
            </a:endParaRPr>
          </a:p>
          <a:p>
            <a:pPr>
              <a:lnSpc>
                <a:spcPct val="100000"/>
              </a:lnSpc>
            </a:pPr>
            <a:r>
              <a:rPr lang="en-US" altLang="zh-CN" sz="2400" dirty="0">
                <a:solidFill>
                  <a:schemeClr val="tx1"/>
                </a:solidFill>
              </a:rPr>
              <a:t>4</a:t>
            </a:r>
            <a:r>
              <a:rPr lang="zh-CN" altLang="en-US" sz="2400" dirty="0">
                <a:solidFill>
                  <a:schemeClr val="tx1"/>
                </a:solidFill>
              </a:rPr>
              <a:t>、</a:t>
            </a:r>
            <a:r>
              <a:rPr lang="zh-CN" altLang="en-US" sz="2400" dirty="0">
                <a:solidFill>
                  <a:schemeClr val="tx1"/>
                </a:solidFill>
                <a:sym typeface="+mn-ea"/>
              </a:rPr>
              <a:t>农村经济体制改革：</a:t>
            </a:r>
            <a:r>
              <a:rPr lang="zh-CN" altLang="en-US" sz="2400" dirty="0">
                <a:solidFill>
                  <a:srgbClr val="FF0000"/>
                </a:solidFill>
                <a:sym typeface="+mn-ea"/>
              </a:rPr>
              <a:t>家庭联产承包责任制、包干到户、自负盈亏</a:t>
            </a:r>
            <a:endParaRPr lang="zh-CN" altLang="en-US" sz="2400" dirty="0">
              <a:solidFill>
                <a:srgbClr val="FF0000"/>
              </a:solidFill>
            </a:endParaRPr>
          </a:p>
          <a:p>
            <a:pPr>
              <a:lnSpc>
                <a:spcPct val="100000"/>
              </a:lnSpc>
            </a:pPr>
            <a:r>
              <a:rPr lang="en-US" altLang="zh-CN" sz="2400" dirty="0">
                <a:solidFill>
                  <a:schemeClr val="tx1"/>
                </a:solidFill>
                <a:sym typeface="+mn-ea"/>
              </a:rPr>
              <a:t>5</a:t>
            </a:r>
            <a:r>
              <a:rPr lang="zh-CN" altLang="en-US" sz="2400" dirty="0">
                <a:solidFill>
                  <a:schemeClr val="tx1"/>
                </a:solidFill>
                <a:sym typeface="+mn-ea"/>
              </a:rPr>
              <a:t>、两弹一星：</a:t>
            </a:r>
            <a:r>
              <a:rPr lang="zh-CN" altLang="en-US" sz="2400" dirty="0">
                <a:solidFill>
                  <a:srgbClr val="FF0000"/>
                </a:solidFill>
                <a:sym typeface="+mn-ea"/>
              </a:rPr>
              <a:t>核弹（原子弹、氢弹）导弹和人造地球卫星</a:t>
            </a:r>
            <a:endParaRPr lang="zh-CN" altLang="en-US" sz="2400" dirty="0">
              <a:solidFill>
                <a:schemeClr val="tx1"/>
              </a:solidFill>
              <a:sym typeface="+mn-ea"/>
            </a:endParaRPr>
          </a:p>
          <a:p>
            <a:pPr>
              <a:lnSpc>
                <a:spcPct val="100000"/>
              </a:lnSpc>
            </a:pPr>
            <a:r>
              <a:rPr lang="en-US" altLang="zh-CN" sz="2400" dirty="0">
                <a:solidFill>
                  <a:schemeClr val="tx1"/>
                </a:solidFill>
                <a:sym typeface="+mn-ea"/>
              </a:rPr>
              <a:t>6</a:t>
            </a:r>
            <a:r>
              <a:rPr lang="zh-CN" altLang="en-US" sz="2400" dirty="0">
                <a:solidFill>
                  <a:schemeClr val="tx1"/>
                </a:solidFill>
                <a:sym typeface="+mn-ea"/>
              </a:rPr>
              <a:t>、探索建设社会主义道路的良好开端：</a:t>
            </a:r>
            <a:r>
              <a:rPr lang="zh-CN" altLang="en-US" sz="2400" dirty="0">
                <a:solidFill>
                  <a:srgbClr val="FF0000"/>
                </a:solidFill>
                <a:sym typeface="+mn-ea"/>
              </a:rPr>
              <a:t>中共八大</a:t>
            </a:r>
          </a:p>
          <a:p>
            <a:pPr>
              <a:lnSpc>
                <a:spcPct val="100000"/>
              </a:lnSpc>
            </a:pPr>
            <a:r>
              <a:rPr lang="en-US" altLang="zh-CN" sz="2400" dirty="0">
                <a:solidFill>
                  <a:schemeClr val="tx1"/>
                </a:solidFill>
                <a:sym typeface="+mn-ea"/>
              </a:rPr>
              <a:t>7</a:t>
            </a:r>
            <a:r>
              <a:rPr lang="zh-CN" altLang="en-US" sz="2400" dirty="0">
                <a:solidFill>
                  <a:schemeClr val="tx1"/>
                </a:solidFill>
                <a:sym typeface="+mn-ea"/>
              </a:rPr>
              <a:t>、开始改变工业落后的面貌，向社会主义工业化迈进：</a:t>
            </a:r>
            <a:r>
              <a:rPr lang="zh-CN" altLang="en-US" sz="2400" dirty="0">
                <a:solidFill>
                  <a:srgbClr val="FF0000"/>
                </a:solidFill>
                <a:sym typeface="+mn-ea"/>
              </a:rPr>
              <a:t>一五计划。</a:t>
            </a:r>
            <a:endParaRPr lang="zh-CN" altLang="en-US" sz="2400" dirty="0">
              <a:solidFill>
                <a:schemeClr val="tx1"/>
              </a:solidFill>
              <a:sym typeface="+mn-ea"/>
            </a:endParaRPr>
          </a:p>
          <a:p>
            <a:pPr>
              <a:lnSpc>
                <a:spcPct val="100000"/>
              </a:lnSpc>
            </a:pPr>
            <a:r>
              <a:rPr lang="en-US" altLang="zh-CN" sz="2400" dirty="0">
                <a:solidFill>
                  <a:schemeClr val="tx1"/>
                </a:solidFill>
                <a:sym typeface="+mn-ea"/>
              </a:rPr>
              <a:t>8</a:t>
            </a:r>
            <a:r>
              <a:rPr lang="zh-CN" altLang="en-US" sz="2400" dirty="0">
                <a:solidFill>
                  <a:schemeClr val="tx1"/>
                </a:solidFill>
                <a:sym typeface="+mn-ea"/>
              </a:rPr>
              <a:t>、三大改造：农业和手工业：</a:t>
            </a:r>
            <a:r>
              <a:rPr lang="zh-CN" altLang="en-US" sz="2400" dirty="0">
                <a:solidFill>
                  <a:srgbClr val="FF0000"/>
                </a:solidFill>
                <a:sym typeface="+mn-ea"/>
              </a:rPr>
              <a:t>生产合作社；</a:t>
            </a:r>
            <a:r>
              <a:rPr lang="zh-CN" altLang="en-US" sz="2400" dirty="0">
                <a:solidFill>
                  <a:schemeClr val="tx1"/>
                </a:solidFill>
                <a:sym typeface="+mn-ea"/>
              </a:rPr>
              <a:t>资本主义工商业：</a:t>
            </a:r>
            <a:r>
              <a:rPr lang="zh-CN" altLang="en-US" sz="2400" dirty="0">
                <a:solidFill>
                  <a:srgbClr val="FF0000"/>
                </a:solidFill>
                <a:sym typeface="+mn-ea"/>
              </a:rPr>
              <a:t>赎买政策、公私合营</a:t>
            </a:r>
          </a:p>
          <a:p>
            <a:pPr>
              <a:lnSpc>
                <a:spcPct val="100000"/>
              </a:lnSpc>
            </a:pPr>
            <a:r>
              <a:rPr lang="en-US" altLang="zh-CN" sz="2400" dirty="0">
                <a:solidFill>
                  <a:schemeClr val="tx1"/>
                </a:solidFill>
                <a:sym typeface="+mn-ea"/>
              </a:rPr>
              <a:t>9</a:t>
            </a:r>
            <a:r>
              <a:rPr lang="zh-CN" altLang="en-US" sz="2400" dirty="0">
                <a:solidFill>
                  <a:schemeClr val="tx1"/>
                </a:solidFill>
                <a:sym typeface="+mn-ea"/>
              </a:rPr>
              <a:t>、巩固新生政权三件大事：</a:t>
            </a:r>
            <a:r>
              <a:rPr lang="zh-CN" altLang="en-US" sz="2400" dirty="0">
                <a:solidFill>
                  <a:srgbClr val="FF0000"/>
                </a:solidFill>
                <a:sym typeface="+mn-ea"/>
              </a:rPr>
              <a:t>西藏和平解放、土地改革、抗美援朝</a:t>
            </a:r>
          </a:p>
          <a:p>
            <a:pPr>
              <a:lnSpc>
                <a:spcPct val="100000"/>
              </a:lnSpc>
            </a:pPr>
            <a:r>
              <a:rPr lang="en-US" altLang="zh-CN" sz="2400" dirty="0">
                <a:solidFill>
                  <a:schemeClr val="tx1"/>
                </a:solidFill>
                <a:sym typeface="+mn-ea"/>
              </a:rPr>
              <a:t>10</a:t>
            </a:r>
            <a:r>
              <a:rPr lang="zh-CN" altLang="en-US" sz="2400" dirty="0">
                <a:solidFill>
                  <a:schemeClr val="tx1"/>
                </a:solidFill>
                <a:sym typeface="+mn-ea"/>
              </a:rPr>
              <a:t>、充当临时宪法作用的是：</a:t>
            </a:r>
            <a:r>
              <a:rPr lang="zh-CN" altLang="en-US" sz="2400" dirty="0">
                <a:solidFill>
                  <a:srgbClr val="FF0000"/>
                </a:solidFill>
                <a:sym typeface="+mn-ea"/>
              </a:rPr>
              <a:t>《共同纲领》</a:t>
            </a:r>
          </a:p>
          <a:p>
            <a:pPr>
              <a:lnSpc>
                <a:spcPct val="100000"/>
              </a:lnSpc>
            </a:pPr>
            <a:r>
              <a:rPr lang="en-US" altLang="zh-CN" sz="2400" dirty="0">
                <a:solidFill>
                  <a:schemeClr val="tx1"/>
                </a:solidFill>
                <a:sym typeface="+mn-ea"/>
              </a:rPr>
              <a:t>11</a:t>
            </a:r>
            <a:r>
              <a:rPr lang="zh-CN" altLang="en-US" sz="2400" dirty="0">
                <a:solidFill>
                  <a:schemeClr val="tx1"/>
                </a:solidFill>
                <a:sym typeface="+mn-ea"/>
              </a:rPr>
              <a:t>、一五计划时间和特点：</a:t>
            </a:r>
            <a:r>
              <a:rPr lang="en-US" altLang="zh-CN" sz="2400" dirty="0">
                <a:solidFill>
                  <a:srgbClr val="FF0000"/>
                </a:solidFill>
                <a:sym typeface="+mn-ea"/>
              </a:rPr>
              <a:t>1953-1957，优先</a:t>
            </a:r>
            <a:r>
              <a:rPr lang="zh-CN" altLang="en-US" sz="2400" dirty="0">
                <a:solidFill>
                  <a:srgbClr val="FF0000"/>
                </a:solidFill>
                <a:sym typeface="+mn-ea"/>
              </a:rPr>
              <a:t>发展重工业</a:t>
            </a:r>
          </a:p>
          <a:p>
            <a:pPr>
              <a:lnSpc>
                <a:spcPct val="100000"/>
              </a:lnSpc>
            </a:pPr>
            <a:r>
              <a:rPr lang="en-US" altLang="zh-CN" sz="2400" dirty="0">
                <a:solidFill>
                  <a:schemeClr val="tx1"/>
                </a:solidFill>
                <a:sym typeface="+mn-ea"/>
              </a:rPr>
              <a:t>12</a:t>
            </a:r>
            <a:r>
              <a:rPr lang="zh-CN" altLang="en-US" sz="2400" dirty="0">
                <a:solidFill>
                  <a:schemeClr val="tx1"/>
                </a:solidFill>
                <a:sym typeface="+mn-ea"/>
              </a:rPr>
              <a:t>、</a:t>
            </a:r>
            <a:r>
              <a:rPr lang="en-US" altLang="zh-CN" sz="2400" dirty="0">
                <a:solidFill>
                  <a:schemeClr val="tx1"/>
                </a:solidFill>
                <a:sym typeface="+mn-ea"/>
              </a:rPr>
              <a:t>1961</a:t>
            </a:r>
            <a:r>
              <a:rPr lang="zh-CN" altLang="en-US" sz="2400" dirty="0">
                <a:solidFill>
                  <a:schemeClr val="tx1"/>
                </a:solidFill>
                <a:sym typeface="+mn-ea"/>
              </a:rPr>
              <a:t>年，八字方针是？</a:t>
            </a:r>
            <a:r>
              <a:rPr lang="zh-CN" altLang="en-US" sz="2400" dirty="0">
                <a:solidFill>
                  <a:srgbClr val="FF0000"/>
                </a:solidFill>
                <a:sym typeface="+mn-ea"/>
              </a:rPr>
              <a:t>调整、巩固、充实、提高。</a:t>
            </a:r>
          </a:p>
          <a:p>
            <a:pPr>
              <a:lnSpc>
                <a:spcPct val="100000"/>
              </a:lnSpc>
            </a:pPr>
            <a:r>
              <a:rPr lang="en-US" altLang="zh-CN" sz="2400" dirty="0">
                <a:solidFill>
                  <a:schemeClr val="tx1"/>
                </a:solidFill>
                <a:sym typeface="+mn-ea"/>
              </a:rPr>
              <a:t>13</a:t>
            </a:r>
            <a:r>
              <a:rPr lang="zh-CN" altLang="en-US" sz="2400" dirty="0">
                <a:solidFill>
                  <a:schemeClr val="tx1"/>
                </a:solidFill>
                <a:sym typeface="+mn-ea"/>
              </a:rPr>
              <a:t>、城市经济体制改革的中心环节：</a:t>
            </a:r>
            <a:r>
              <a:rPr lang="zh-CN" altLang="en-US" sz="2400" dirty="0">
                <a:solidFill>
                  <a:srgbClr val="FF0000"/>
                </a:solidFill>
                <a:sym typeface="+mn-ea"/>
              </a:rPr>
              <a:t>增强企业活力</a:t>
            </a: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137795" y="94615"/>
            <a:ext cx="11914505" cy="6645275"/>
          </a:xfrm>
        </p:spPr>
        <p:txBody>
          <a:bodyPr>
            <a:noAutofit/>
          </a:bodyPr>
          <a:lstStyle/>
          <a:p>
            <a:pPr>
              <a:lnSpc>
                <a:spcPct val="100000"/>
              </a:lnSpc>
            </a:pPr>
            <a:r>
              <a:rPr lang="en-US" altLang="zh-CN" sz="2400" dirty="0"/>
              <a:t>1</a:t>
            </a:r>
            <a:r>
              <a:rPr lang="zh-CN" altLang="en-US" sz="2400" dirty="0"/>
              <a:t>、</a:t>
            </a:r>
            <a:r>
              <a:rPr lang="en-US" altLang="zh-CN" sz="2400" dirty="0">
                <a:solidFill>
                  <a:srgbClr val="FF0000"/>
                </a:solidFill>
              </a:rPr>
              <a:t>1949-1956</a:t>
            </a:r>
            <a:r>
              <a:rPr lang="zh-CN" altLang="en-US" sz="2400" dirty="0">
                <a:solidFill>
                  <a:srgbClr val="FF0000"/>
                </a:solidFill>
              </a:rPr>
              <a:t>年：过渡时期（新民主主义国家</a:t>
            </a:r>
            <a:r>
              <a:rPr lang="en-US" altLang="zh-CN" sz="2400" dirty="0">
                <a:solidFill>
                  <a:srgbClr val="FF0000"/>
                </a:solidFill>
              </a:rPr>
              <a:t>——</a:t>
            </a:r>
            <a:r>
              <a:rPr lang="zh-CN" altLang="en-US" sz="2400" dirty="0">
                <a:solidFill>
                  <a:srgbClr val="FF0000"/>
                </a:solidFill>
              </a:rPr>
              <a:t>社会主义国家）</a:t>
            </a:r>
          </a:p>
          <a:p>
            <a:pPr>
              <a:lnSpc>
                <a:spcPct val="100000"/>
              </a:lnSpc>
            </a:pPr>
            <a:r>
              <a:rPr lang="en-US" altLang="zh-CN" sz="2400" dirty="0"/>
              <a:t>2</a:t>
            </a:r>
            <a:r>
              <a:rPr lang="zh-CN" altLang="en-US" sz="2400" dirty="0"/>
              <a:t>、</a:t>
            </a:r>
            <a:r>
              <a:rPr lang="zh-CN" altLang="en-US" sz="2400" dirty="0">
                <a:solidFill>
                  <a:srgbClr val="FF0000"/>
                </a:solidFill>
              </a:rPr>
              <a:t>社会主义制度的建立（社会主义初级阶段）：</a:t>
            </a:r>
            <a:r>
              <a:rPr lang="en-US" altLang="zh-CN" sz="2400" dirty="0">
                <a:solidFill>
                  <a:srgbClr val="FF0000"/>
                </a:solidFill>
              </a:rPr>
              <a:t>1956</a:t>
            </a:r>
            <a:r>
              <a:rPr lang="zh-CN" altLang="en-US" sz="2400" dirty="0">
                <a:solidFill>
                  <a:srgbClr val="FF0000"/>
                </a:solidFill>
              </a:rPr>
              <a:t>年三大改造完成</a:t>
            </a:r>
          </a:p>
          <a:p>
            <a:pPr>
              <a:lnSpc>
                <a:spcPct val="100000"/>
              </a:lnSpc>
            </a:pPr>
            <a:r>
              <a:rPr lang="en-US" altLang="zh-CN" sz="2400" dirty="0"/>
              <a:t>3</a:t>
            </a:r>
            <a:r>
              <a:rPr lang="zh-CN" altLang="en-US" sz="2400" dirty="0"/>
              <a:t>、</a:t>
            </a:r>
            <a:r>
              <a:rPr lang="zh-CN" altLang="en-US" sz="2400" dirty="0">
                <a:solidFill>
                  <a:srgbClr val="FF0000"/>
                </a:solidFill>
              </a:rPr>
              <a:t>社会主义建设的探索：</a:t>
            </a:r>
            <a:r>
              <a:rPr lang="en-US" altLang="zh-CN" sz="2400" dirty="0">
                <a:solidFill>
                  <a:srgbClr val="FF0000"/>
                </a:solidFill>
              </a:rPr>
              <a:t>1956-1976</a:t>
            </a:r>
            <a:r>
              <a:rPr lang="zh-CN" altLang="en-US" sz="2400" dirty="0">
                <a:solidFill>
                  <a:srgbClr val="FF0000"/>
                </a:solidFill>
              </a:rPr>
              <a:t>年（</a:t>
            </a:r>
            <a:r>
              <a:rPr lang="en-US" altLang="zh-CN" sz="2400" dirty="0">
                <a:solidFill>
                  <a:srgbClr val="FF0000"/>
                </a:solidFill>
              </a:rPr>
              <a:t>1956-1966</a:t>
            </a:r>
            <a:r>
              <a:rPr lang="zh-CN" altLang="en-US" sz="2400" dirty="0">
                <a:solidFill>
                  <a:srgbClr val="FF0000"/>
                </a:solidFill>
              </a:rPr>
              <a:t>年全面建设社会主义十年）</a:t>
            </a:r>
          </a:p>
          <a:p>
            <a:pPr>
              <a:lnSpc>
                <a:spcPct val="100000"/>
              </a:lnSpc>
            </a:pPr>
            <a:r>
              <a:rPr lang="en-US" altLang="zh-CN" sz="2400" dirty="0"/>
              <a:t>4</a:t>
            </a:r>
            <a:r>
              <a:rPr lang="zh-CN" altLang="en-US" sz="2400" dirty="0"/>
              <a:t>、</a:t>
            </a:r>
            <a:r>
              <a:rPr lang="en-US" altLang="zh-CN" sz="2400" dirty="0">
                <a:sym typeface="+mn-ea"/>
              </a:rPr>
              <a:t>1956-1966</a:t>
            </a:r>
            <a:r>
              <a:rPr lang="zh-CN" altLang="en-US" sz="2400" dirty="0">
                <a:sym typeface="+mn-ea"/>
              </a:rPr>
              <a:t>年全面建设社会主义十年成就：</a:t>
            </a:r>
            <a:r>
              <a:rPr lang="zh-CN" altLang="en-US" sz="2400" dirty="0">
                <a:solidFill>
                  <a:srgbClr val="FF0000"/>
                </a:solidFill>
                <a:sym typeface="+mn-ea"/>
              </a:rPr>
              <a:t>大庆、胜利油田；兰新、兰青、包兰铁路、人工合成结晶牛胰岛素；</a:t>
            </a:r>
            <a:r>
              <a:rPr lang="en-US" altLang="zh-CN" sz="2400" dirty="0">
                <a:solidFill>
                  <a:srgbClr val="FF0000"/>
                </a:solidFill>
                <a:sym typeface="+mn-ea"/>
              </a:rPr>
              <a:t>1964</a:t>
            </a:r>
            <a:r>
              <a:rPr lang="zh-CN" altLang="en-US" sz="2400" dirty="0">
                <a:solidFill>
                  <a:srgbClr val="FF0000"/>
                </a:solidFill>
                <a:sym typeface="+mn-ea"/>
              </a:rPr>
              <a:t>，原子弹试验成功</a:t>
            </a:r>
          </a:p>
          <a:p>
            <a:pPr>
              <a:lnSpc>
                <a:spcPct val="100000"/>
              </a:lnSpc>
            </a:pPr>
            <a:r>
              <a:rPr lang="en-US" altLang="zh-CN" sz="2400" dirty="0"/>
              <a:t>5</a:t>
            </a:r>
            <a:r>
              <a:rPr lang="zh-CN" altLang="en-US" sz="2400" dirty="0"/>
              <a:t>、</a:t>
            </a:r>
            <a:r>
              <a:rPr lang="en-US" altLang="zh-CN" sz="2400" dirty="0"/>
              <a:t>1966-1976</a:t>
            </a:r>
            <a:r>
              <a:rPr lang="zh-CN" altLang="en-US" sz="2400" dirty="0"/>
              <a:t>年文革建设成就：</a:t>
            </a:r>
            <a:r>
              <a:rPr lang="en-US" altLang="zh-CN" sz="2400" dirty="0">
                <a:solidFill>
                  <a:srgbClr val="FF0000"/>
                </a:solidFill>
              </a:rPr>
              <a:t>1966</a:t>
            </a:r>
            <a:r>
              <a:rPr lang="zh-CN" altLang="en-US" sz="2400" dirty="0">
                <a:solidFill>
                  <a:srgbClr val="FF0000"/>
                </a:solidFill>
              </a:rPr>
              <a:t>，</a:t>
            </a:r>
            <a:r>
              <a:rPr lang="zh-CN" altLang="en-US" sz="2400" dirty="0">
                <a:solidFill>
                  <a:srgbClr val="FF0000"/>
                </a:solidFill>
                <a:sym typeface="+mn-ea"/>
              </a:rPr>
              <a:t>导弹实验成功；</a:t>
            </a:r>
            <a:r>
              <a:rPr lang="en-US" altLang="zh-CN" sz="2400" dirty="0">
                <a:solidFill>
                  <a:srgbClr val="FF0000"/>
                </a:solidFill>
                <a:sym typeface="+mn-ea"/>
              </a:rPr>
              <a:t>1967</a:t>
            </a:r>
            <a:r>
              <a:rPr lang="zh-CN" altLang="en-US" sz="2400" dirty="0">
                <a:solidFill>
                  <a:srgbClr val="FF0000"/>
                </a:solidFill>
                <a:sym typeface="+mn-ea"/>
              </a:rPr>
              <a:t>，氢弹实验成功；</a:t>
            </a:r>
            <a:r>
              <a:rPr lang="en-US" altLang="zh-CN" sz="2400" dirty="0">
                <a:solidFill>
                  <a:srgbClr val="FF0000"/>
                </a:solidFill>
                <a:sym typeface="+mn-ea"/>
              </a:rPr>
              <a:t>1970</a:t>
            </a:r>
            <a:r>
              <a:rPr lang="zh-CN" altLang="en-US" sz="2400" dirty="0">
                <a:solidFill>
                  <a:srgbClr val="FF0000"/>
                </a:solidFill>
                <a:sym typeface="+mn-ea"/>
              </a:rPr>
              <a:t>，发射人造地球卫星</a:t>
            </a:r>
            <a:r>
              <a:rPr lang="en-US" altLang="zh-CN" sz="2400" dirty="0">
                <a:solidFill>
                  <a:srgbClr val="FF0000"/>
                </a:solidFill>
                <a:sym typeface="+mn-ea"/>
              </a:rPr>
              <a:t>——</a:t>
            </a:r>
            <a:r>
              <a:rPr lang="zh-CN" altLang="en-US" sz="2400" dirty="0">
                <a:solidFill>
                  <a:srgbClr val="FF0000"/>
                </a:solidFill>
                <a:sym typeface="+mn-ea"/>
              </a:rPr>
              <a:t>东方红一号；</a:t>
            </a:r>
            <a:r>
              <a:rPr lang="en-US" altLang="zh-CN" sz="2400" dirty="0">
                <a:solidFill>
                  <a:srgbClr val="FF0000"/>
                </a:solidFill>
                <a:sym typeface="+mn-ea"/>
              </a:rPr>
              <a:t>1973</a:t>
            </a:r>
            <a:r>
              <a:rPr lang="zh-CN" altLang="en-US" sz="2400" dirty="0">
                <a:solidFill>
                  <a:srgbClr val="FF0000"/>
                </a:solidFill>
                <a:sym typeface="+mn-ea"/>
              </a:rPr>
              <a:t>，袁隆平，籼型杂交水稻。</a:t>
            </a:r>
            <a:endParaRPr lang="zh-CN" altLang="en-US" sz="2400" dirty="0">
              <a:sym typeface="+mn-ea"/>
            </a:endParaRPr>
          </a:p>
          <a:p>
            <a:pPr>
              <a:lnSpc>
                <a:spcPct val="100000"/>
              </a:lnSpc>
            </a:pPr>
            <a:r>
              <a:rPr lang="en-US" altLang="zh-CN" sz="2400" dirty="0">
                <a:sym typeface="+mn-ea"/>
              </a:rPr>
              <a:t>6</a:t>
            </a:r>
            <a:r>
              <a:rPr lang="zh-CN" altLang="en-US" sz="2400" dirty="0">
                <a:sym typeface="+mn-ea"/>
              </a:rPr>
              <a:t>、两弹一星：</a:t>
            </a:r>
            <a:r>
              <a:rPr lang="zh-CN" altLang="en-US" sz="2400" dirty="0">
                <a:solidFill>
                  <a:srgbClr val="FF0000"/>
                </a:solidFill>
                <a:sym typeface="+mn-ea"/>
              </a:rPr>
              <a:t>核弹（原子弹、氢弹）导弹和人造地球卫星</a:t>
            </a:r>
          </a:p>
          <a:p>
            <a:pPr>
              <a:lnSpc>
                <a:spcPct val="100000"/>
              </a:lnSpc>
            </a:pPr>
            <a:r>
              <a:rPr lang="en-US" altLang="zh-CN" sz="2400" dirty="0">
                <a:sym typeface="+mn-ea"/>
              </a:rPr>
              <a:t>7</a:t>
            </a:r>
            <a:r>
              <a:rPr lang="zh-CN" altLang="en-US" sz="2400" dirty="0">
                <a:sym typeface="+mn-ea"/>
              </a:rPr>
              <a:t>、中共八大：</a:t>
            </a:r>
            <a:r>
              <a:rPr lang="en-US" altLang="zh-CN" sz="2400" dirty="0">
                <a:solidFill>
                  <a:srgbClr val="FF0000"/>
                </a:solidFill>
                <a:sym typeface="+mn-ea"/>
              </a:rPr>
              <a:t>1956</a:t>
            </a:r>
            <a:r>
              <a:rPr lang="zh-CN" altLang="en-US" sz="2400" dirty="0">
                <a:solidFill>
                  <a:srgbClr val="FF0000"/>
                </a:solidFill>
                <a:sym typeface="+mn-ea"/>
              </a:rPr>
              <a:t>年，分析主要矛盾，任务：落后农业国</a:t>
            </a:r>
            <a:r>
              <a:rPr lang="en-US" altLang="zh-CN" sz="2400" dirty="0">
                <a:solidFill>
                  <a:srgbClr val="FF0000"/>
                </a:solidFill>
                <a:sym typeface="+mn-ea"/>
              </a:rPr>
              <a:t>——</a:t>
            </a:r>
            <a:r>
              <a:rPr lang="zh-CN" altLang="en-US" sz="2400" dirty="0">
                <a:solidFill>
                  <a:srgbClr val="FF0000"/>
                </a:solidFill>
                <a:sym typeface="+mn-ea"/>
              </a:rPr>
              <a:t>先进工业国；探索建设社会主义道路的良好开端。</a:t>
            </a:r>
          </a:p>
          <a:p>
            <a:pPr>
              <a:lnSpc>
                <a:spcPct val="100000"/>
              </a:lnSpc>
            </a:pPr>
            <a:r>
              <a:rPr lang="en-US" altLang="zh-CN" sz="2400" dirty="0">
                <a:sym typeface="+mn-ea"/>
              </a:rPr>
              <a:t>8</a:t>
            </a:r>
            <a:r>
              <a:rPr lang="zh-CN" altLang="en-US" sz="2400" dirty="0">
                <a:sym typeface="+mn-ea"/>
              </a:rPr>
              <a:t>、社会主义建设成就的影响：</a:t>
            </a:r>
            <a:r>
              <a:rPr lang="zh-CN" altLang="en-US" sz="2400" dirty="0">
                <a:solidFill>
                  <a:srgbClr val="FF0000"/>
                </a:solidFill>
                <a:sym typeface="+mn-ea"/>
              </a:rPr>
              <a:t>初步形成了独立的、比较完整的工业体系和国民经济体系，为现代化建设打下了坚实的物质基础。</a:t>
            </a:r>
          </a:p>
          <a:p>
            <a:pPr>
              <a:lnSpc>
                <a:spcPct val="100000"/>
              </a:lnSpc>
            </a:pPr>
            <a:r>
              <a:rPr lang="en-US" altLang="zh-CN" sz="2400" dirty="0">
                <a:sym typeface="+mn-ea"/>
              </a:rPr>
              <a:t>9</a:t>
            </a:r>
            <a:r>
              <a:rPr lang="zh-CN" altLang="en-US" sz="2400" dirty="0">
                <a:sym typeface="+mn-ea"/>
              </a:rPr>
              <a:t>、开始改变工业落后的面貌，向社会主义工业化迈进：</a:t>
            </a:r>
            <a:r>
              <a:rPr lang="zh-CN" altLang="en-US" sz="2400" dirty="0">
                <a:solidFill>
                  <a:srgbClr val="FF0000"/>
                </a:solidFill>
                <a:sym typeface="+mn-ea"/>
              </a:rPr>
              <a:t>一五计划。</a:t>
            </a:r>
          </a:p>
          <a:p>
            <a:pPr>
              <a:lnSpc>
                <a:spcPct val="100000"/>
              </a:lnSpc>
            </a:pPr>
            <a:r>
              <a:rPr lang="en-US" altLang="zh-CN" sz="2400" dirty="0">
                <a:sym typeface="+mn-ea"/>
              </a:rPr>
              <a:t>10</a:t>
            </a:r>
            <a:r>
              <a:rPr lang="zh-CN" altLang="en-US" sz="2400" dirty="0">
                <a:sym typeface="+mn-ea"/>
              </a:rPr>
              <a:t>、三大改造的实质和意义：</a:t>
            </a:r>
            <a:r>
              <a:rPr lang="zh-CN" altLang="en-US" sz="2400" dirty="0">
                <a:solidFill>
                  <a:srgbClr val="FF0000"/>
                </a:solidFill>
                <a:sym typeface="+mn-ea"/>
              </a:rPr>
              <a:t>实现生产资料私有制向社会主义公有制转变；标志着社会主义基本制度在我国建立，进入社会主义初级阶段。</a:t>
            </a: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nvPr>
        </p:nvSpPr>
        <p:spPr/>
        <p:txBody>
          <a:bodyPr>
            <a:normAutofit/>
          </a:bodyPr>
          <a:lstStyle/>
          <a:p>
            <a:r>
              <a:rPr lang="zh-CN" altLang="en-US" dirty="0"/>
              <a:t>鸦片战争的影响：</a:t>
            </a:r>
            <a:r>
              <a:rPr lang="en-US" altLang="zh-CN" dirty="0"/>
              <a:t>1840-1842</a:t>
            </a:r>
            <a:r>
              <a:rPr lang="zh-CN" altLang="en-US" dirty="0"/>
              <a:t>，中国丧失了完整独立的主权，</a:t>
            </a:r>
            <a:r>
              <a:rPr lang="zh-CN" altLang="en-US" dirty="0">
                <a:highlight>
                  <a:srgbClr val="FFFF00"/>
                </a:highlight>
              </a:rPr>
              <a:t>开始沦为</a:t>
            </a:r>
            <a:r>
              <a:rPr lang="zh-CN" altLang="en-US" dirty="0"/>
              <a:t>半殖民地半封建社会。是中国近代史的开端。自然经济遭到破坏。刺激一些官员开始了解国际形势。</a:t>
            </a:r>
          </a:p>
          <a:p>
            <a:r>
              <a:rPr lang="zh-CN" altLang="en-US" dirty="0"/>
              <a:t>第二次鸦片战争影响：</a:t>
            </a:r>
            <a:r>
              <a:rPr lang="en-US" altLang="zh-CN" dirty="0"/>
              <a:t>1856-1860</a:t>
            </a:r>
            <a:r>
              <a:rPr lang="zh-CN" altLang="en-US" dirty="0"/>
              <a:t>，半殖民地化程度</a:t>
            </a:r>
            <a:r>
              <a:rPr lang="zh-CN" altLang="en-US" dirty="0">
                <a:highlight>
                  <a:srgbClr val="FFFF00"/>
                </a:highlight>
              </a:rPr>
              <a:t>进一步加深</a:t>
            </a:r>
            <a:r>
              <a:rPr lang="zh-CN" altLang="en-US" dirty="0"/>
              <a:t>，西方侵略势力由沿海深入长江中下游地区，俄国占领北方大片领土。</a:t>
            </a:r>
          </a:p>
          <a:p>
            <a:r>
              <a:rPr lang="zh-CN" altLang="en-US" dirty="0"/>
              <a:t>甲午中日战争：</a:t>
            </a:r>
            <a:r>
              <a:rPr lang="en-US" altLang="zh-CN" dirty="0"/>
              <a:t>1894-1895</a:t>
            </a:r>
            <a:r>
              <a:rPr lang="zh-CN" altLang="en-US" dirty="0"/>
              <a:t>，侵略势力进一步深入中国腹地，</a:t>
            </a:r>
            <a:r>
              <a:rPr lang="zh-CN" altLang="en-US" dirty="0">
                <a:highlight>
                  <a:srgbClr val="FFFF00"/>
                </a:highlight>
              </a:rPr>
              <a:t>大大加深</a:t>
            </a:r>
            <a:r>
              <a:rPr lang="zh-CN" altLang="en-US" dirty="0"/>
              <a:t>了中国半殖民地化程度，刺激列强嫌弃瓜分中国狂潮，进一步加剧民族危机。及其中华民族觉醒，推动中国人民展开救亡图存斗争（百日维新、实业救国）</a:t>
            </a:r>
          </a:p>
          <a:p>
            <a:r>
              <a:rPr lang="zh-CN" altLang="en-US" dirty="0"/>
              <a:t>八国联军侵华：清政府沦为帝国主义列强统治中国的工具；中国</a:t>
            </a:r>
            <a:r>
              <a:rPr lang="zh-CN" altLang="en-US" dirty="0">
                <a:highlight>
                  <a:srgbClr val="FFFF00"/>
                </a:highlight>
              </a:rPr>
              <a:t>完全陷入</a:t>
            </a:r>
            <a:r>
              <a:rPr lang="zh-CN" altLang="en-US" dirty="0"/>
              <a:t>半殖民地半封建社会。</a:t>
            </a:r>
          </a:p>
          <a:p>
            <a:r>
              <a:rPr lang="en-US" altLang="zh-CN" b="1" dirty="0">
                <a:sym typeface="+mn-ea"/>
              </a:rPr>
              <a:t>1</a:t>
            </a:r>
            <a:r>
              <a:rPr lang="zh-CN" altLang="en-US" b="1" dirty="0">
                <a:sym typeface="+mn-ea"/>
              </a:rPr>
              <a:t>、中共诞生的意义：是中国历史上开天辟地的大事变，自从有了中国共产党，中国革命面貌就焕然一新。</a:t>
            </a:r>
            <a:endParaRPr lang="zh-CN" altLang="en-US" b="1" dirty="0"/>
          </a:p>
          <a:p>
            <a:r>
              <a:rPr lang="en-US" altLang="zh-CN" b="1" dirty="0">
                <a:sym typeface="+mn-ea"/>
              </a:rPr>
              <a:t>2</a:t>
            </a:r>
            <a:r>
              <a:rPr lang="zh-CN" altLang="en-US" b="1" dirty="0">
                <a:sym typeface="+mn-ea"/>
              </a:rPr>
              <a:t>、</a:t>
            </a:r>
            <a:r>
              <a:rPr lang="zh-CN" altLang="en-US" b="1" dirty="0">
                <a:solidFill>
                  <a:srgbClr val="FF0000"/>
                </a:solidFill>
                <a:sym typeface="+mn-ea"/>
              </a:rPr>
              <a:t>南昌起义</a:t>
            </a:r>
            <a:r>
              <a:rPr lang="zh-CN" altLang="en-US" b="1" dirty="0">
                <a:sym typeface="+mn-ea"/>
              </a:rPr>
              <a:t>的意义：</a:t>
            </a:r>
            <a:r>
              <a:rPr lang="zh-CN" altLang="en-US" b="1" dirty="0">
                <a:highlight>
                  <a:srgbClr val="FFFF00"/>
                </a:highlight>
                <a:sym typeface="+mn-ea"/>
              </a:rPr>
              <a:t>打响了武装反抗国民党反动派的第一枪</a:t>
            </a:r>
            <a:r>
              <a:rPr lang="zh-CN" altLang="en-US" b="1" dirty="0">
                <a:sym typeface="+mn-ea"/>
              </a:rPr>
              <a:t>，标志着中共独立领导革命战争、创建人民军队和武装夺取政权的开端。</a:t>
            </a:r>
            <a:endParaRPr lang="zh-CN" altLang="en-US" b="1" dirty="0"/>
          </a:p>
          <a:p>
            <a:endParaRPr lang="zh-CN" altLang="en-US" dirty="0"/>
          </a:p>
          <a:p>
            <a:endParaRPr lang="zh-CN" altLang="en-US" dirty="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0990" y="316865"/>
            <a:ext cx="11276330" cy="5932805"/>
          </a:xfrm>
        </p:spPr>
        <p:txBody>
          <a:bodyPr>
            <a:normAutofit lnSpcReduction="10000"/>
          </a:bodyPr>
          <a:lstStyle/>
          <a:p>
            <a:r>
              <a:rPr lang="zh-CN" altLang="en-US" sz="2800" b="1" dirty="0"/>
              <a:t>九一八事变：</a:t>
            </a:r>
            <a:r>
              <a:rPr lang="en-US" altLang="zh-CN" sz="2800" b="1" dirty="0">
                <a:solidFill>
                  <a:srgbClr val="FF0000"/>
                </a:solidFill>
              </a:rPr>
              <a:t>1931</a:t>
            </a:r>
            <a:r>
              <a:rPr lang="zh-CN" altLang="en-US" sz="2800" b="1" dirty="0">
                <a:solidFill>
                  <a:srgbClr val="FF0000"/>
                </a:solidFill>
              </a:rPr>
              <a:t>年</a:t>
            </a:r>
            <a:r>
              <a:rPr lang="en-US" altLang="zh-CN" sz="2800" b="1" dirty="0">
                <a:solidFill>
                  <a:srgbClr val="FF0000"/>
                </a:solidFill>
              </a:rPr>
              <a:t>9</a:t>
            </a:r>
            <a:r>
              <a:rPr lang="zh-CN" altLang="en-US" sz="2800" b="1" dirty="0">
                <a:solidFill>
                  <a:srgbClr val="FF0000"/>
                </a:solidFill>
              </a:rPr>
              <a:t>月</a:t>
            </a:r>
            <a:r>
              <a:rPr lang="en-US" altLang="zh-CN" sz="2800" b="1" dirty="0">
                <a:solidFill>
                  <a:srgbClr val="FF0000"/>
                </a:solidFill>
              </a:rPr>
              <a:t>18</a:t>
            </a:r>
            <a:r>
              <a:rPr lang="zh-CN" altLang="en-US" sz="2800" b="1" dirty="0">
                <a:solidFill>
                  <a:srgbClr val="FF0000"/>
                </a:solidFill>
              </a:rPr>
              <a:t>日，成为中国人民抗日战争的起点，中国人民开始了艰苦的抗战。揭开了世界反法西斯战争的序幕</a:t>
            </a:r>
            <a:r>
              <a:rPr lang="zh-CN" altLang="en-US" sz="2800" b="1" dirty="0"/>
              <a:t>。</a:t>
            </a:r>
          </a:p>
          <a:p>
            <a:r>
              <a:rPr lang="zh-CN" altLang="en-US" sz="2800" b="1" dirty="0"/>
              <a:t>长征胜利的意义：</a:t>
            </a:r>
            <a:r>
              <a:rPr lang="zh-CN" altLang="en-US" sz="2800" b="1" dirty="0">
                <a:solidFill>
                  <a:srgbClr val="FF0000"/>
                </a:solidFill>
              </a:rPr>
              <a:t>粉碎了国民党反动派消灭红军的企图，保存了党和红军的基干力量，使中国革命转危为安，红军长征播下革命种子，铸就长征精神（独立自主、实事求是），打开了中国革命的新局面。</a:t>
            </a:r>
          </a:p>
          <a:p>
            <a:r>
              <a:rPr lang="zh-CN" altLang="en-US" sz="2800" b="1" dirty="0">
                <a:sym typeface="+mn-ea"/>
              </a:rPr>
              <a:t>遵义会议：</a:t>
            </a:r>
            <a:r>
              <a:rPr lang="en-US" altLang="zh-CN" sz="2800" b="1" dirty="0">
                <a:solidFill>
                  <a:srgbClr val="FF0000"/>
                </a:solidFill>
                <a:sym typeface="+mn-ea"/>
              </a:rPr>
              <a:t>1935</a:t>
            </a:r>
            <a:r>
              <a:rPr lang="zh-CN" altLang="en-US" sz="2800" b="1" dirty="0">
                <a:solidFill>
                  <a:srgbClr val="FF0000"/>
                </a:solidFill>
                <a:sym typeface="+mn-ea"/>
              </a:rPr>
              <a:t>年</a:t>
            </a:r>
            <a:r>
              <a:rPr lang="en-US" altLang="zh-CN" sz="2800" b="1" dirty="0">
                <a:solidFill>
                  <a:srgbClr val="FF0000"/>
                </a:solidFill>
                <a:sym typeface="+mn-ea"/>
              </a:rPr>
              <a:t>1</a:t>
            </a:r>
            <a:r>
              <a:rPr lang="zh-CN" altLang="en-US" sz="2800" b="1" dirty="0">
                <a:solidFill>
                  <a:srgbClr val="FF0000"/>
                </a:solidFill>
                <a:sym typeface="+mn-ea"/>
              </a:rPr>
              <a:t>月，开始确立以毛泽东为主要代表的马克思主义正确路线在中共中央的领导地位；在极其危急的情况下，挽救了党，挽救了红军，挽救了中国革命，是中共历史上一个生死攸关得转折点，是中共从幼年走向成熟的标志</a:t>
            </a:r>
            <a:r>
              <a:rPr lang="zh-CN" altLang="en-US" sz="2800" b="1" dirty="0">
                <a:sym typeface="+mn-ea"/>
              </a:rPr>
              <a:t>。</a:t>
            </a:r>
            <a:endParaRPr lang="zh-CN" altLang="en-US" sz="2800" b="1" dirty="0"/>
          </a:p>
          <a:p>
            <a:r>
              <a:rPr lang="zh-CN" altLang="en-US" sz="2800" b="1" dirty="0">
                <a:sym typeface="+mn-ea"/>
              </a:rPr>
              <a:t>中国革命道路：</a:t>
            </a:r>
            <a:r>
              <a:rPr lang="zh-CN" altLang="en-US" sz="2800" b="1" dirty="0">
                <a:solidFill>
                  <a:srgbClr val="FF0000"/>
                </a:solidFill>
                <a:sym typeface="+mn-ea"/>
              </a:rPr>
              <a:t>农村包围城市，武装夺取政权，工农武装割据</a:t>
            </a:r>
            <a:endParaRPr lang="zh-CN" altLang="en-US" sz="2800" b="1" dirty="0">
              <a:solidFill>
                <a:srgbClr val="FF0000"/>
              </a:solidFill>
            </a:endParaRPr>
          </a:p>
          <a:p>
            <a:endParaRPr lang="zh-CN" altLang="en-US" sz="2800" b="1" dirty="0"/>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0195" y="338455"/>
            <a:ext cx="11287125" cy="5911215"/>
          </a:xfrm>
        </p:spPr>
        <p:txBody>
          <a:bodyPr/>
          <a:lstStyle/>
          <a:p>
            <a:r>
              <a:rPr lang="zh-CN" altLang="en-US" sz="2800" b="1" u="sng" dirty="0"/>
              <a:t>西安事变和平解决的意义：</a:t>
            </a:r>
            <a:r>
              <a:rPr lang="zh-CN" altLang="en-US" sz="2800" b="1" dirty="0">
                <a:highlight>
                  <a:srgbClr val="FFFF00"/>
                </a:highlight>
              </a:rPr>
              <a:t>揭开了国共两党由内战到联合抗日的序幕，成为扭转时局的关键。十年内战（</a:t>
            </a:r>
            <a:r>
              <a:rPr lang="en-US" altLang="zh-CN" sz="2800" b="1" dirty="0">
                <a:highlight>
                  <a:srgbClr val="FFFF00"/>
                </a:highlight>
              </a:rPr>
              <a:t>1927-1937</a:t>
            </a:r>
            <a:r>
              <a:rPr lang="zh-CN" altLang="en-US" sz="2800" b="1" dirty="0">
                <a:highlight>
                  <a:srgbClr val="FFFF00"/>
                </a:highlight>
              </a:rPr>
              <a:t>年）基本停止，抗日民族统一战线</a:t>
            </a:r>
            <a:r>
              <a:rPr lang="zh-CN" altLang="en-US" sz="2800" b="1" dirty="0">
                <a:solidFill>
                  <a:srgbClr val="FF0000"/>
                </a:solidFill>
                <a:highlight>
                  <a:srgbClr val="FFFF00"/>
                </a:highlight>
              </a:rPr>
              <a:t>初步</a:t>
            </a:r>
            <a:r>
              <a:rPr lang="zh-CN" altLang="en-US" sz="2800" b="1" dirty="0">
                <a:highlight>
                  <a:srgbClr val="FFFF00"/>
                </a:highlight>
              </a:rPr>
              <a:t>形成。</a:t>
            </a:r>
          </a:p>
          <a:p>
            <a:r>
              <a:rPr lang="zh-CN" altLang="en-US" sz="2800" b="1" u="sng" dirty="0"/>
              <a:t>抗日战争胜利的意义：</a:t>
            </a:r>
            <a:r>
              <a:rPr lang="zh-CN" altLang="en-US" sz="2800" b="1" dirty="0">
                <a:solidFill>
                  <a:srgbClr val="FF0000"/>
                </a:solidFill>
                <a:highlight>
                  <a:srgbClr val="FFFF00"/>
                </a:highlight>
                <a:latin typeface="Calibri" panose="020F0502020204030204" charset="0"/>
              </a:rPr>
              <a:t>①</a:t>
            </a:r>
            <a:r>
              <a:rPr lang="zh-CN" altLang="en-US" sz="2800" b="1" dirty="0">
                <a:solidFill>
                  <a:srgbClr val="FF0000"/>
                </a:solidFill>
                <a:highlight>
                  <a:srgbClr val="FFFF00"/>
                </a:highlight>
              </a:rPr>
              <a:t>是中国近代以来反抗外敌入侵第一次取得完全胜利的民族解放战争；</a:t>
            </a:r>
            <a:r>
              <a:rPr lang="zh-CN" altLang="en-US" sz="2800" b="1" dirty="0">
                <a:solidFill>
                  <a:srgbClr val="FF0000"/>
                </a:solidFill>
                <a:highlight>
                  <a:srgbClr val="FFFF00"/>
                </a:highlight>
                <a:latin typeface="Calibri" panose="020F0502020204030204" charset="0"/>
                <a:sym typeface="+mn-ea"/>
              </a:rPr>
              <a:t>②</a:t>
            </a:r>
            <a:r>
              <a:rPr lang="zh-CN" altLang="en-US" sz="2800" b="1" dirty="0">
                <a:solidFill>
                  <a:srgbClr val="FF0000"/>
                </a:solidFill>
                <a:highlight>
                  <a:srgbClr val="FFFF00"/>
                </a:highlight>
              </a:rPr>
              <a:t>促进了中华民族的觉醒，为中国共产党带领中国人民实现彻底的民族独立和人民解放奠定基础；</a:t>
            </a:r>
            <a:r>
              <a:rPr lang="zh-CN" altLang="en-US" sz="2800" b="1" dirty="0">
                <a:solidFill>
                  <a:srgbClr val="FF0000"/>
                </a:solidFill>
                <a:highlight>
                  <a:srgbClr val="FFFF00"/>
                </a:highlight>
                <a:latin typeface="Calibri" panose="020F0502020204030204" charset="0"/>
                <a:sym typeface="+mn-ea"/>
              </a:rPr>
              <a:t>③</a:t>
            </a:r>
            <a:r>
              <a:rPr lang="zh-CN" altLang="en-US" sz="2800" b="1" dirty="0">
                <a:solidFill>
                  <a:srgbClr val="FF0000"/>
                </a:solidFill>
                <a:highlight>
                  <a:srgbClr val="FFFF00"/>
                </a:highlight>
              </a:rPr>
              <a:t>中国国际地位得到提高；</a:t>
            </a:r>
            <a:r>
              <a:rPr lang="zh-CN" altLang="en-US" sz="2800" b="1" dirty="0">
                <a:solidFill>
                  <a:srgbClr val="FF0000"/>
                </a:solidFill>
                <a:highlight>
                  <a:srgbClr val="FFFF00"/>
                </a:highlight>
                <a:latin typeface="Calibri" panose="020F0502020204030204" charset="0"/>
                <a:sym typeface="+mn-ea"/>
              </a:rPr>
              <a:t>④</a:t>
            </a:r>
            <a:r>
              <a:rPr lang="zh-CN" altLang="en-US" sz="2800" b="1" dirty="0">
                <a:solidFill>
                  <a:srgbClr val="FF0000"/>
                </a:solidFill>
                <a:highlight>
                  <a:srgbClr val="FFFF00"/>
                </a:highlight>
              </a:rPr>
              <a:t>中国战场是世界反法西斯战争的东方主战场，对世界反法西斯战争的胜利、维护世界和平作出了巨大贡献。</a:t>
            </a: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08400" y="70"/>
            <a:ext cx="10969200" cy="705600"/>
          </a:xfrm>
        </p:spPr>
        <p:txBody>
          <a:bodyPr/>
          <a:lstStyle/>
          <a:p>
            <a:r>
              <a:rPr lang="zh-CN" altLang="en-US" sz="2400"/>
              <a:t>第二次工业革命</a:t>
            </a:r>
            <a:r>
              <a:rPr lang="en-US" altLang="zh-CN" sz="2400"/>
              <a:t>   </a:t>
            </a:r>
            <a:r>
              <a:rPr lang="en-US" altLang="zh-CN" sz="2400">
                <a:sym typeface="+mn-ea"/>
              </a:rPr>
              <a:t>19C60</a:t>
            </a:r>
            <a:r>
              <a:rPr lang="zh-CN" altLang="en-US" sz="2400">
                <a:sym typeface="+mn-ea"/>
              </a:rPr>
              <a:t>、</a:t>
            </a:r>
            <a:r>
              <a:rPr lang="en-US" altLang="zh-CN" sz="2400">
                <a:sym typeface="+mn-ea"/>
              </a:rPr>
              <a:t>70S-20C</a:t>
            </a:r>
            <a:r>
              <a:rPr lang="zh-CN" altLang="en-US" sz="2400">
                <a:sym typeface="+mn-ea"/>
              </a:rPr>
              <a:t>初</a:t>
            </a:r>
            <a:endParaRPr lang="en-US" altLang="zh-CN" sz="2400"/>
          </a:p>
        </p:txBody>
      </p:sp>
      <p:sp>
        <p:nvSpPr>
          <p:cNvPr id="4" name="内容占位符 3"/>
          <p:cNvSpPr>
            <a:spLocks noGrp="1"/>
          </p:cNvSpPr>
          <p:nvPr>
            <p:ph idx="1"/>
            <p:custDataLst>
              <p:tags r:id="rId2"/>
            </p:custDataLst>
          </p:nvPr>
        </p:nvSpPr>
        <p:spPr>
          <a:xfrm>
            <a:off x="219075" y="523240"/>
            <a:ext cx="11746865" cy="6225540"/>
          </a:xfrm>
        </p:spPr>
        <p:txBody>
          <a:bodyPr>
            <a:noAutofit/>
          </a:bodyPr>
          <a:lstStyle/>
          <a:p>
            <a:pPr>
              <a:lnSpc>
                <a:spcPct val="100000"/>
              </a:lnSpc>
              <a:spcAft>
                <a:spcPts val="400"/>
              </a:spcAft>
            </a:pPr>
            <a:r>
              <a:rPr lang="zh-CN" altLang="en-US" sz="2000" b="1" dirty="0">
                <a:solidFill>
                  <a:srgbClr val="FF0000"/>
                </a:solidFill>
                <a:sym typeface="+mn-ea"/>
              </a:rPr>
              <a:t>特点：</a:t>
            </a:r>
            <a:r>
              <a:rPr lang="zh-CN" altLang="en-US" sz="2000" b="1" dirty="0">
                <a:solidFill>
                  <a:srgbClr val="FF0000"/>
                </a:solidFill>
                <a:highlight>
                  <a:srgbClr val="FFFF00"/>
                </a:highlight>
                <a:sym typeface="+mn-ea"/>
              </a:rPr>
              <a:t>科学研究与工业生产紧密结合</a:t>
            </a:r>
            <a:r>
              <a:rPr lang="zh-CN" altLang="en-US" sz="2000" b="1" dirty="0">
                <a:solidFill>
                  <a:srgbClr val="FF0000"/>
                </a:solidFill>
                <a:sym typeface="+mn-ea"/>
              </a:rPr>
              <a:t>；在主要资本主义国家同时展开（以美德为主）；有的国家两次工业革命交替进行；以重工业为主。</a:t>
            </a:r>
          </a:p>
          <a:p>
            <a:pPr>
              <a:lnSpc>
                <a:spcPct val="100000"/>
              </a:lnSpc>
              <a:spcAft>
                <a:spcPts val="400"/>
              </a:spcAft>
            </a:pPr>
            <a:r>
              <a:rPr lang="en-US" altLang="en-US" sz="2000" b="1" dirty="0">
                <a:solidFill>
                  <a:srgbClr val="FF0000"/>
                </a:solidFill>
                <a:highlight>
                  <a:srgbClr val="FFFF00"/>
                </a:highlight>
              </a:rPr>
              <a:t>①</a:t>
            </a:r>
            <a:r>
              <a:rPr lang="zh-CN" altLang="en-US" sz="2000" b="1" dirty="0">
                <a:solidFill>
                  <a:srgbClr val="FF0000"/>
                </a:solidFill>
                <a:highlight>
                  <a:srgbClr val="FFFF00"/>
                </a:highlight>
              </a:rPr>
              <a:t>改善了人们的生活，促进了生产力的发展，人类进入</a:t>
            </a:r>
            <a:r>
              <a:rPr lang="en-US" altLang="zh-CN" sz="2000" b="1" dirty="0">
                <a:solidFill>
                  <a:srgbClr val="FF0000"/>
                </a:solidFill>
                <a:highlight>
                  <a:srgbClr val="FFFF00"/>
                </a:highlight>
              </a:rPr>
              <a:t>“</a:t>
            </a:r>
            <a:r>
              <a:rPr lang="zh-CN" altLang="en-US" sz="2000" b="1" dirty="0">
                <a:solidFill>
                  <a:srgbClr val="FF0000"/>
                </a:solidFill>
                <a:highlight>
                  <a:srgbClr val="FFFF00"/>
                </a:highlight>
              </a:rPr>
              <a:t>电气时代</a:t>
            </a:r>
            <a:r>
              <a:rPr lang="en-US" altLang="zh-CN" sz="2000" b="1" dirty="0">
                <a:solidFill>
                  <a:srgbClr val="FF0000"/>
                </a:solidFill>
                <a:highlight>
                  <a:srgbClr val="FFFF00"/>
                </a:highlight>
              </a:rPr>
              <a:t>”</a:t>
            </a:r>
            <a:r>
              <a:rPr lang="zh-CN" altLang="en-US" sz="2000" b="1" dirty="0">
                <a:solidFill>
                  <a:srgbClr val="FF0000"/>
                </a:solidFill>
                <a:highlight>
                  <a:srgbClr val="FFFF00"/>
                </a:highlight>
              </a:rPr>
              <a:t>。</a:t>
            </a:r>
            <a:r>
              <a:rPr lang="en-US" altLang="en-US" sz="2000" b="1" dirty="0">
                <a:solidFill>
                  <a:srgbClr val="FF0000"/>
                </a:solidFill>
                <a:highlight>
                  <a:srgbClr val="FFFF00"/>
                </a:highlight>
              </a:rPr>
              <a:t>②</a:t>
            </a:r>
            <a:r>
              <a:rPr lang="zh-CN" altLang="en-US" sz="2000" b="1" dirty="0">
                <a:solidFill>
                  <a:srgbClr val="FF0000"/>
                </a:solidFill>
                <a:highlight>
                  <a:srgbClr val="FFFF00"/>
                </a:highlight>
              </a:rPr>
              <a:t>使主要资本主义国家取得了</a:t>
            </a:r>
            <a:r>
              <a:rPr lang="en-US" altLang="zh-CN" sz="2000" b="1" dirty="0">
                <a:solidFill>
                  <a:srgbClr val="FF0000"/>
                </a:solidFill>
                <a:highlight>
                  <a:srgbClr val="FFFF00"/>
                </a:highlight>
              </a:rPr>
              <a:t> </a:t>
            </a:r>
            <a:r>
              <a:rPr lang="zh-CN" altLang="en-US" sz="2000" b="1" dirty="0">
                <a:solidFill>
                  <a:srgbClr val="FF0000"/>
                </a:solidFill>
                <a:highlight>
                  <a:srgbClr val="FFFF00"/>
                </a:highlight>
              </a:rPr>
              <a:t>跨越式发展，成为工业化强国。</a:t>
            </a:r>
            <a:r>
              <a:rPr lang="en-US" altLang="en-US" sz="2000" b="1" dirty="0">
                <a:solidFill>
                  <a:srgbClr val="FF0000"/>
                </a:solidFill>
                <a:highlight>
                  <a:srgbClr val="FFFF00"/>
                </a:highlight>
              </a:rPr>
              <a:t>③</a:t>
            </a:r>
            <a:r>
              <a:rPr lang="zh-CN" altLang="en-US" sz="2000" b="1" dirty="0">
                <a:solidFill>
                  <a:srgbClr val="FF0000"/>
                </a:solidFill>
                <a:highlight>
                  <a:srgbClr val="FFFF00"/>
                </a:highlight>
              </a:rPr>
              <a:t>主要资本主义国家出现了垄断组织，资本主义由自由资本主义向垄断资本主义即帝国主义阶段过渡。</a:t>
            </a:r>
            <a:r>
              <a:rPr lang="en-US" altLang="en-US" sz="2000" b="1" dirty="0">
                <a:solidFill>
                  <a:srgbClr val="FF0000"/>
                </a:solidFill>
                <a:highlight>
                  <a:srgbClr val="FFFF00"/>
                </a:highlight>
              </a:rPr>
              <a:t>④</a:t>
            </a:r>
            <a:r>
              <a:rPr lang="zh-CN" altLang="en-US" sz="2000" b="1" dirty="0">
                <a:solidFill>
                  <a:srgbClr val="FF0000"/>
                </a:solidFill>
                <a:highlight>
                  <a:srgbClr val="FFFF00"/>
                </a:highlight>
              </a:rPr>
              <a:t>资本主义对外扩张増强，掀起瓜分世界的狂潮。资本主义世界市场最终形成。</a:t>
            </a:r>
            <a:r>
              <a:rPr lang="en-US" altLang="en-US" sz="2000" b="1" dirty="0">
                <a:solidFill>
                  <a:srgbClr val="FF0000"/>
                </a:solidFill>
                <a:highlight>
                  <a:srgbClr val="FFFF00"/>
                </a:highlight>
              </a:rPr>
              <a:t>⑤</a:t>
            </a:r>
            <a:r>
              <a:rPr lang="zh-CN" altLang="en-US" sz="2000" b="1" dirty="0">
                <a:solidFill>
                  <a:srgbClr val="FF0000"/>
                </a:solidFill>
                <a:highlight>
                  <a:srgbClr val="FFFF00"/>
                </a:highlight>
              </a:rPr>
              <a:t>消极：环境污染、贫富分化、扩大战争带来的灾难</a:t>
            </a:r>
            <a:r>
              <a:rPr lang="zh-CN" altLang="en-US" sz="2000" b="1" dirty="0">
                <a:solidFill>
                  <a:srgbClr val="FF0000"/>
                </a:solidFill>
              </a:rPr>
              <a:t>。</a:t>
            </a:r>
          </a:p>
          <a:p>
            <a:pPr>
              <a:lnSpc>
                <a:spcPct val="100000"/>
              </a:lnSpc>
              <a:spcAft>
                <a:spcPts val="400"/>
              </a:spcAft>
            </a:pPr>
            <a:r>
              <a:rPr lang="zh-CN" altLang="en-US" sz="2000" b="1" dirty="0">
                <a:solidFill>
                  <a:schemeClr val="tx1"/>
                </a:solidFill>
                <a:sym typeface="+mn-ea"/>
              </a:rPr>
              <a:t>英国</a:t>
            </a:r>
            <a:r>
              <a:rPr lang="en-US" altLang="zh-CN" sz="2000" b="1" dirty="0">
                <a:solidFill>
                  <a:schemeClr val="tx1"/>
                </a:solidFill>
                <a:sym typeface="+mn-ea"/>
              </a:rPr>
              <a:t> </a:t>
            </a:r>
            <a:r>
              <a:rPr lang="zh-CN" altLang="en-US" sz="2000" b="1" dirty="0">
                <a:solidFill>
                  <a:schemeClr val="tx1"/>
                </a:solidFill>
                <a:sym typeface="+mn-ea"/>
              </a:rPr>
              <a:t>法拉第</a:t>
            </a:r>
            <a:r>
              <a:rPr lang="en-US" altLang="zh-CN" sz="2000" b="1" dirty="0">
                <a:solidFill>
                  <a:schemeClr val="tx1"/>
                </a:solidFill>
                <a:sym typeface="+mn-ea"/>
              </a:rPr>
              <a:t>——</a:t>
            </a:r>
            <a:r>
              <a:rPr lang="zh-CN" altLang="en-US" sz="2000" b="1" dirty="0">
                <a:solidFill>
                  <a:schemeClr val="tx1"/>
                </a:solidFill>
                <a:sym typeface="+mn-ea"/>
              </a:rPr>
              <a:t>电磁感应现象</a:t>
            </a:r>
            <a:r>
              <a:rPr lang="en-US" altLang="zh-CN" sz="2000" b="1" dirty="0">
                <a:solidFill>
                  <a:schemeClr val="tx1"/>
                </a:solidFill>
                <a:sym typeface="+mn-ea"/>
              </a:rPr>
              <a:t>        </a:t>
            </a:r>
            <a:r>
              <a:rPr lang="zh-CN" altLang="en-US" sz="2000" b="1" dirty="0">
                <a:solidFill>
                  <a:schemeClr val="tx1"/>
                </a:solidFill>
                <a:sym typeface="+mn-ea"/>
              </a:rPr>
              <a:t>美国</a:t>
            </a:r>
            <a:r>
              <a:rPr lang="en-US" altLang="zh-CN" sz="2000" b="1" dirty="0">
                <a:solidFill>
                  <a:schemeClr val="tx1"/>
                </a:solidFill>
                <a:sym typeface="+mn-ea"/>
              </a:rPr>
              <a:t> </a:t>
            </a:r>
            <a:r>
              <a:rPr lang="zh-CN" altLang="en-US" sz="2000" b="1" dirty="0">
                <a:solidFill>
                  <a:schemeClr val="tx1"/>
                </a:solidFill>
                <a:sym typeface="+mn-ea"/>
              </a:rPr>
              <a:t>爱迪生</a:t>
            </a:r>
            <a:r>
              <a:rPr lang="en-US" altLang="zh-CN" sz="2000" b="1" dirty="0">
                <a:solidFill>
                  <a:schemeClr val="tx1"/>
                </a:solidFill>
                <a:sym typeface="+mn-ea"/>
              </a:rPr>
              <a:t>——</a:t>
            </a:r>
            <a:r>
              <a:rPr lang="zh-CN" altLang="en-US" sz="2000" b="1" dirty="0">
                <a:solidFill>
                  <a:schemeClr val="tx1"/>
                </a:solidFill>
                <a:sym typeface="+mn-ea"/>
              </a:rPr>
              <a:t>电灯</a:t>
            </a:r>
            <a:endParaRPr lang="zh-CN" altLang="en-US" sz="2000" b="1" dirty="0">
              <a:solidFill>
                <a:schemeClr val="tx1"/>
              </a:solidFill>
            </a:endParaRPr>
          </a:p>
          <a:p>
            <a:pPr>
              <a:lnSpc>
                <a:spcPct val="100000"/>
              </a:lnSpc>
              <a:spcAft>
                <a:spcPts val="400"/>
              </a:spcAft>
            </a:pPr>
            <a:r>
              <a:rPr lang="zh-CN" altLang="en-US" sz="2000" b="1" dirty="0">
                <a:solidFill>
                  <a:schemeClr val="tx1"/>
                </a:solidFill>
                <a:sym typeface="+mn-ea"/>
              </a:rPr>
              <a:t>德国</a:t>
            </a:r>
            <a:r>
              <a:rPr lang="en-US" altLang="zh-CN" sz="2000" b="1" dirty="0">
                <a:solidFill>
                  <a:schemeClr val="tx1"/>
                </a:solidFill>
                <a:sym typeface="+mn-ea"/>
              </a:rPr>
              <a:t> </a:t>
            </a:r>
            <a:r>
              <a:rPr lang="zh-CN" altLang="en-US" sz="2000" b="1" dirty="0">
                <a:solidFill>
                  <a:schemeClr val="tx1"/>
                </a:solidFill>
                <a:sym typeface="+mn-ea"/>
              </a:rPr>
              <a:t>奥托</a:t>
            </a:r>
            <a:r>
              <a:rPr lang="en-US" altLang="zh-CN" sz="2000" b="1" dirty="0">
                <a:solidFill>
                  <a:schemeClr val="tx1"/>
                </a:solidFill>
                <a:sym typeface="+mn-ea"/>
              </a:rPr>
              <a:t>——</a:t>
            </a:r>
            <a:r>
              <a:rPr lang="zh-CN" altLang="en-US" sz="2000" b="1" dirty="0">
                <a:solidFill>
                  <a:schemeClr val="tx1"/>
                </a:solidFill>
                <a:sym typeface="+mn-ea"/>
              </a:rPr>
              <a:t>煤气内燃机</a:t>
            </a:r>
            <a:r>
              <a:rPr lang="en-US" altLang="zh-CN" sz="2000" b="1" dirty="0">
                <a:solidFill>
                  <a:schemeClr val="tx1"/>
                </a:solidFill>
                <a:sym typeface="+mn-ea"/>
              </a:rPr>
              <a:t>  </a:t>
            </a:r>
            <a:r>
              <a:rPr lang="zh-CN" altLang="en-US" sz="2000" b="1" dirty="0">
                <a:solidFill>
                  <a:schemeClr val="tx1"/>
                </a:solidFill>
                <a:sym typeface="+mn-ea"/>
              </a:rPr>
              <a:t>戴姆勒</a:t>
            </a:r>
            <a:r>
              <a:rPr lang="en-US" altLang="zh-CN" sz="2000" b="1" dirty="0">
                <a:solidFill>
                  <a:schemeClr val="tx1"/>
                </a:solidFill>
                <a:sym typeface="+mn-ea"/>
              </a:rPr>
              <a:t>——</a:t>
            </a:r>
            <a:r>
              <a:rPr lang="zh-CN" altLang="en-US" sz="2000" b="1" dirty="0">
                <a:solidFill>
                  <a:schemeClr val="tx1"/>
                </a:solidFill>
                <a:sym typeface="+mn-ea"/>
              </a:rPr>
              <a:t>汽油内燃机</a:t>
            </a:r>
            <a:r>
              <a:rPr lang="en-US" altLang="zh-CN" sz="2000" b="1" dirty="0">
                <a:solidFill>
                  <a:schemeClr val="tx1"/>
                </a:solidFill>
                <a:sym typeface="+mn-ea"/>
              </a:rPr>
              <a:t>  </a:t>
            </a:r>
            <a:r>
              <a:rPr lang="zh-CN" altLang="en-US" sz="2000" b="1" dirty="0">
                <a:solidFill>
                  <a:schemeClr val="tx1"/>
                </a:solidFill>
                <a:sym typeface="+mn-ea"/>
              </a:rPr>
              <a:t>狄塞尔</a:t>
            </a:r>
            <a:r>
              <a:rPr lang="en-US" altLang="zh-CN" sz="2000" b="1" dirty="0">
                <a:solidFill>
                  <a:schemeClr val="tx1"/>
                </a:solidFill>
                <a:sym typeface="+mn-ea"/>
              </a:rPr>
              <a:t>——</a:t>
            </a:r>
            <a:r>
              <a:rPr lang="zh-CN" altLang="en-US" sz="2000" b="1" dirty="0">
                <a:solidFill>
                  <a:schemeClr val="tx1"/>
                </a:solidFill>
                <a:sym typeface="+mn-ea"/>
              </a:rPr>
              <a:t>柴油内燃机</a:t>
            </a:r>
            <a:r>
              <a:rPr lang="en-US" altLang="zh-CN" sz="2000" b="1" dirty="0">
                <a:solidFill>
                  <a:schemeClr val="tx1"/>
                </a:solidFill>
                <a:sym typeface="+mn-ea"/>
              </a:rPr>
              <a:t>  </a:t>
            </a:r>
            <a:endParaRPr lang="en-US" altLang="zh-CN" sz="2000" b="1" dirty="0">
              <a:solidFill>
                <a:schemeClr val="tx1"/>
              </a:solidFill>
            </a:endParaRPr>
          </a:p>
          <a:p>
            <a:pPr>
              <a:lnSpc>
                <a:spcPct val="100000"/>
              </a:lnSpc>
              <a:spcAft>
                <a:spcPts val="400"/>
              </a:spcAft>
            </a:pPr>
            <a:r>
              <a:rPr lang="zh-CN" altLang="en-US" sz="2000" b="1" dirty="0">
                <a:solidFill>
                  <a:schemeClr val="tx1"/>
                </a:solidFill>
                <a:sym typeface="+mn-ea"/>
              </a:rPr>
              <a:t>德国</a:t>
            </a:r>
            <a:r>
              <a:rPr lang="en-US" altLang="zh-CN" sz="2000" b="1" dirty="0">
                <a:solidFill>
                  <a:schemeClr val="tx1"/>
                </a:solidFill>
                <a:sym typeface="+mn-ea"/>
              </a:rPr>
              <a:t> </a:t>
            </a:r>
            <a:r>
              <a:rPr lang="zh-CN" altLang="en-US" sz="2000" b="1" dirty="0">
                <a:solidFill>
                  <a:schemeClr val="tx1"/>
                </a:solidFill>
                <a:sym typeface="+mn-ea"/>
              </a:rPr>
              <a:t>本茨</a:t>
            </a:r>
            <a:r>
              <a:rPr lang="en-US" altLang="zh-CN" sz="2000" b="1" dirty="0">
                <a:solidFill>
                  <a:schemeClr val="tx1"/>
                </a:solidFill>
                <a:sym typeface="+mn-ea"/>
              </a:rPr>
              <a:t>——</a:t>
            </a:r>
            <a:r>
              <a:rPr lang="zh-CN" altLang="en-US" sz="2000" b="1" dirty="0">
                <a:solidFill>
                  <a:schemeClr val="tx1"/>
                </a:solidFill>
                <a:sym typeface="+mn-ea"/>
              </a:rPr>
              <a:t>汽车</a:t>
            </a:r>
            <a:r>
              <a:rPr lang="en-US" altLang="zh-CN" sz="2000" b="1" dirty="0">
                <a:solidFill>
                  <a:schemeClr val="tx1"/>
                </a:solidFill>
                <a:sym typeface="+mn-ea"/>
              </a:rPr>
              <a:t>          </a:t>
            </a:r>
            <a:r>
              <a:rPr lang="zh-CN" altLang="en-US" sz="2000" b="1" dirty="0">
                <a:solidFill>
                  <a:schemeClr val="tx1"/>
                </a:solidFill>
                <a:sym typeface="+mn-ea"/>
              </a:rPr>
              <a:t>美国</a:t>
            </a:r>
            <a:r>
              <a:rPr lang="en-US" altLang="zh-CN" sz="2000" b="1" dirty="0">
                <a:solidFill>
                  <a:schemeClr val="tx1"/>
                </a:solidFill>
                <a:sym typeface="+mn-ea"/>
              </a:rPr>
              <a:t>  </a:t>
            </a:r>
            <a:r>
              <a:rPr lang="zh-CN" altLang="en-US" sz="2000" b="1" dirty="0">
                <a:solidFill>
                  <a:schemeClr val="tx1"/>
                </a:solidFill>
                <a:sym typeface="+mn-ea"/>
              </a:rPr>
              <a:t>福特</a:t>
            </a:r>
            <a:r>
              <a:rPr lang="en-US" altLang="zh-CN" sz="2000" b="1" dirty="0">
                <a:solidFill>
                  <a:schemeClr val="tx1"/>
                </a:solidFill>
                <a:sym typeface="+mn-ea"/>
              </a:rPr>
              <a:t>——</a:t>
            </a:r>
            <a:r>
              <a:rPr lang="zh-CN" altLang="en-US" sz="2000" b="1" dirty="0">
                <a:solidFill>
                  <a:schemeClr val="tx1"/>
                </a:solidFill>
                <a:sym typeface="+mn-ea"/>
              </a:rPr>
              <a:t>流水线生产汽车</a:t>
            </a:r>
            <a:endParaRPr lang="zh-CN" altLang="en-US" sz="2000" b="1" dirty="0">
              <a:solidFill>
                <a:schemeClr val="tx1"/>
              </a:solidFill>
            </a:endParaRPr>
          </a:p>
          <a:p>
            <a:pPr>
              <a:lnSpc>
                <a:spcPct val="100000"/>
              </a:lnSpc>
              <a:spcAft>
                <a:spcPts val="400"/>
              </a:spcAft>
            </a:pPr>
            <a:r>
              <a:rPr lang="zh-CN" altLang="en-US" sz="2000" b="1" dirty="0">
                <a:solidFill>
                  <a:schemeClr val="tx1"/>
                </a:solidFill>
                <a:sym typeface="+mn-ea"/>
              </a:rPr>
              <a:t>瑞典</a:t>
            </a:r>
            <a:r>
              <a:rPr lang="en-US" altLang="zh-CN" sz="2000" b="1" dirty="0">
                <a:solidFill>
                  <a:schemeClr val="tx1"/>
                </a:solidFill>
                <a:sym typeface="+mn-ea"/>
              </a:rPr>
              <a:t>  </a:t>
            </a:r>
            <a:r>
              <a:rPr lang="zh-CN" altLang="en-US" sz="2000" b="1" dirty="0">
                <a:solidFill>
                  <a:schemeClr val="tx1"/>
                </a:solidFill>
                <a:sym typeface="+mn-ea"/>
              </a:rPr>
              <a:t>诺贝尔</a:t>
            </a:r>
            <a:r>
              <a:rPr lang="en-US" altLang="zh-CN" sz="2000" b="1" dirty="0">
                <a:solidFill>
                  <a:schemeClr val="tx1"/>
                </a:solidFill>
                <a:sym typeface="+mn-ea"/>
              </a:rPr>
              <a:t>——</a:t>
            </a:r>
            <a:r>
              <a:rPr lang="zh-CN" altLang="en-US" sz="2000" b="1" dirty="0">
                <a:solidFill>
                  <a:schemeClr val="tx1"/>
                </a:solidFill>
                <a:sym typeface="+mn-ea"/>
              </a:rPr>
              <a:t>炸药</a:t>
            </a:r>
            <a:r>
              <a:rPr lang="en-US" altLang="zh-CN" sz="2000" b="1" dirty="0">
                <a:solidFill>
                  <a:schemeClr val="tx1"/>
                </a:solidFill>
                <a:sym typeface="+mn-ea"/>
              </a:rPr>
              <a:t>      </a:t>
            </a:r>
            <a:r>
              <a:rPr lang="zh-CN" altLang="en-US" sz="2000" b="1" dirty="0">
                <a:solidFill>
                  <a:schemeClr val="tx1"/>
                </a:solidFill>
                <a:sym typeface="+mn-ea"/>
              </a:rPr>
              <a:t>美国</a:t>
            </a:r>
            <a:r>
              <a:rPr lang="en-US" altLang="zh-CN" sz="2000" b="1" dirty="0">
                <a:solidFill>
                  <a:schemeClr val="tx1"/>
                </a:solidFill>
                <a:sym typeface="+mn-ea"/>
              </a:rPr>
              <a:t> </a:t>
            </a:r>
            <a:r>
              <a:rPr lang="zh-CN" altLang="en-US" sz="2000" b="1" dirty="0">
                <a:solidFill>
                  <a:schemeClr val="tx1"/>
                </a:solidFill>
                <a:sym typeface="+mn-ea"/>
              </a:rPr>
              <a:t>海厄特</a:t>
            </a:r>
            <a:r>
              <a:rPr lang="en-US" altLang="zh-CN" sz="2000" b="1" dirty="0">
                <a:solidFill>
                  <a:schemeClr val="tx1"/>
                </a:solidFill>
                <a:sym typeface="+mn-ea"/>
              </a:rPr>
              <a:t>——</a:t>
            </a:r>
            <a:r>
              <a:rPr lang="zh-CN" altLang="en-US" sz="2000" b="1" dirty="0">
                <a:solidFill>
                  <a:schemeClr val="tx1"/>
                </a:solidFill>
                <a:sym typeface="+mn-ea"/>
              </a:rPr>
              <a:t>赛璐珞技术、塑料</a:t>
            </a:r>
            <a:r>
              <a:rPr lang="en-US" altLang="zh-CN" sz="2000" b="1" dirty="0">
                <a:solidFill>
                  <a:schemeClr val="tx1"/>
                </a:solidFill>
                <a:sym typeface="+mn-ea"/>
              </a:rPr>
              <a:t>   </a:t>
            </a:r>
          </a:p>
          <a:p>
            <a:pPr>
              <a:lnSpc>
                <a:spcPct val="100000"/>
              </a:lnSpc>
              <a:spcAft>
                <a:spcPts val="400"/>
              </a:spcAft>
            </a:pPr>
            <a:r>
              <a:rPr lang="zh-CN" altLang="en-US" sz="2000" b="1" dirty="0">
                <a:solidFill>
                  <a:schemeClr val="tx1"/>
                </a:solidFill>
                <a:sym typeface="+mn-ea"/>
              </a:rPr>
              <a:t>法国</a:t>
            </a:r>
            <a:r>
              <a:rPr lang="en-US" altLang="zh-CN" sz="2000" b="1" dirty="0">
                <a:solidFill>
                  <a:schemeClr val="tx1"/>
                </a:solidFill>
                <a:sym typeface="+mn-ea"/>
              </a:rPr>
              <a:t>  </a:t>
            </a:r>
            <a:r>
              <a:rPr lang="zh-CN" altLang="en-US" sz="2000" b="1" dirty="0">
                <a:solidFill>
                  <a:schemeClr val="tx1"/>
                </a:solidFill>
                <a:sym typeface="+mn-ea"/>
              </a:rPr>
              <a:t>夏尔多内</a:t>
            </a:r>
            <a:r>
              <a:rPr lang="en-US" altLang="zh-CN" sz="2000" b="1" dirty="0">
                <a:solidFill>
                  <a:schemeClr val="tx1"/>
                </a:solidFill>
                <a:sym typeface="+mn-ea"/>
              </a:rPr>
              <a:t>——</a:t>
            </a:r>
            <a:r>
              <a:rPr lang="zh-CN" altLang="en-US" sz="2000" b="1" dirty="0">
                <a:solidFill>
                  <a:schemeClr val="tx1"/>
                </a:solidFill>
                <a:sym typeface="+mn-ea"/>
              </a:rPr>
              <a:t>人造纤维（纺织品）</a:t>
            </a:r>
          </a:p>
          <a:p>
            <a:pPr>
              <a:lnSpc>
                <a:spcPct val="100000"/>
              </a:lnSpc>
              <a:spcAft>
                <a:spcPts val="400"/>
              </a:spcAft>
            </a:pPr>
            <a:r>
              <a:rPr lang="zh-CN" altLang="en-US" sz="2000" dirty="0">
                <a:sym typeface="+mn-ea"/>
              </a:rPr>
              <a:t>英国</a:t>
            </a:r>
            <a:r>
              <a:rPr lang="en-US" altLang="zh-CN" sz="2000" dirty="0">
                <a:sym typeface="+mn-ea"/>
              </a:rPr>
              <a:t>   </a:t>
            </a:r>
            <a:r>
              <a:rPr lang="zh-CN" altLang="en-US" sz="2000" dirty="0">
                <a:sym typeface="+mn-ea"/>
              </a:rPr>
              <a:t>牛顿</a:t>
            </a:r>
            <a:r>
              <a:rPr lang="en-US" altLang="zh-CN" sz="2000" dirty="0">
                <a:sym typeface="+mn-ea"/>
              </a:rPr>
              <a:t>   </a:t>
            </a:r>
            <a:r>
              <a:rPr lang="zh-CN" altLang="en-US" sz="2000" dirty="0">
                <a:sym typeface="+mn-ea"/>
              </a:rPr>
              <a:t>近代自然科学奠基人</a:t>
            </a:r>
            <a:r>
              <a:rPr lang="en-US" altLang="zh-CN" sz="2000" dirty="0">
                <a:sym typeface="+mn-ea"/>
              </a:rPr>
              <a:t> </a:t>
            </a:r>
            <a:r>
              <a:rPr lang="zh-CN" altLang="en-US" sz="2000" dirty="0">
                <a:sym typeface="+mn-ea"/>
              </a:rPr>
              <a:t>三大成就：万有引力定律、光学分析、微积分学</a:t>
            </a:r>
            <a:endParaRPr lang="zh-CN" altLang="en-US" sz="2000" dirty="0"/>
          </a:p>
          <a:p>
            <a:pPr marL="0" indent="0">
              <a:lnSpc>
                <a:spcPct val="100000"/>
              </a:lnSpc>
              <a:spcAft>
                <a:spcPts val="400"/>
              </a:spcAft>
              <a:buNone/>
            </a:pPr>
            <a:r>
              <a:rPr lang="zh-CN" altLang="en-US" sz="2000" dirty="0">
                <a:sym typeface="+mn-ea"/>
              </a:rPr>
              <a:t>《自然哲学的数学原理》</a:t>
            </a:r>
            <a:r>
              <a:rPr lang="en-US" altLang="zh-CN" sz="2000" dirty="0">
                <a:sym typeface="+mn-ea"/>
              </a:rPr>
              <a:t> </a:t>
            </a:r>
            <a:r>
              <a:rPr lang="zh-CN" altLang="en-US" sz="2000" dirty="0">
                <a:sym typeface="+mn-ea"/>
              </a:rPr>
              <a:t>物理学成为一门独立的学科</a:t>
            </a:r>
            <a:r>
              <a:rPr lang="en-US" altLang="zh-CN" sz="2000" dirty="0">
                <a:sym typeface="+mn-ea"/>
              </a:rPr>
              <a:t> </a:t>
            </a:r>
          </a:p>
          <a:p>
            <a:pPr marL="0" indent="0">
              <a:lnSpc>
                <a:spcPct val="100000"/>
              </a:lnSpc>
              <a:spcAft>
                <a:spcPts val="400"/>
              </a:spcAft>
              <a:buNone/>
            </a:pPr>
            <a:r>
              <a:rPr lang="en-US" altLang="zh-CN" sz="2000" dirty="0">
                <a:sym typeface="+mn-ea"/>
              </a:rPr>
              <a:t>1859</a:t>
            </a:r>
            <a:r>
              <a:rPr lang="zh-CN" altLang="en-US" sz="2000" dirty="0">
                <a:sym typeface="+mn-ea"/>
              </a:rPr>
              <a:t>年</a:t>
            </a:r>
            <a:r>
              <a:rPr lang="en-US" altLang="zh-CN" sz="2000" dirty="0">
                <a:sym typeface="+mn-ea"/>
              </a:rPr>
              <a:t>  </a:t>
            </a:r>
            <a:r>
              <a:rPr lang="zh-CN" altLang="en-US" sz="2000" dirty="0">
                <a:sym typeface="+mn-ea"/>
              </a:rPr>
              <a:t>英国</a:t>
            </a:r>
            <a:r>
              <a:rPr lang="en-US" altLang="zh-CN" sz="2000" dirty="0">
                <a:sym typeface="+mn-ea"/>
              </a:rPr>
              <a:t>  </a:t>
            </a:r>
            <a:r>
              <a:rPr lang="zh-CN" altLang="en-US" sz="2000" dirty="0">
                <a:sym typeface="+mn-ea"/>
              </a:rPr>
              <a:t>达尔文出版《物种起源》</a:t>
            </a:r>
          </a:p>
          <a:p>
            <a:pPr marL="0" indent="0">
              <a:lnSpc>
                <a:spcPct val="100000"/>
              </a:lnSpc>
              <a:spcAft>
                <a:spcPts val="400"/>
              </a:spcAft>
              <a:buNone/>
            </a:pPr>
            <a:r>
              <a:rPr lang="en-US" altLang="zh-CN" sz="2000" dirty="0">
                <a:sym typeface="+mn-ea"/>
              </a:rPr>
              <a:t>19C </a:t>
            </a:r>
            <a:r>
              <a:rPr lang="zh-CN" altLang="en-US" sz="2000" dirty="0">
                <a:sym typeface="+mn-ea"/>
              </a:rPr>
              <a:t>法国</a:t>
            </a:r>
            <a:r>
              <a:rPr lang="en-US" altLang="zh-CN" sz="2000" dirty="0">
                <a:sym typeface="+mn-ea"/>
              </a:rPr>
              <a:t>  </a:t>
            </a:r>
            <a:r>
              <a:rPr lang="zh-CN" altLang="en-US" sz="2000" dirty="0">
                <a:sym typeface="+mn-ea"/>
              </a:rPr>
              <a:t>巴尔扎克</a:t>
            </a:r>
            <a:r>
              <a:rPr lang="en-US" altLang="zh-CN" sz="2000" dirty="0">
                <a:sym typeface="+mn-ea"/>
              </a:rPr>
              <a:t>    “</a:t>
            </a:r>
            <a:r>
              <a:rPr lang="zh-CN" altLang="en-US" sz="2000" dirty="0">
                <a:sym typeface="+mn-ea"/>
              </a:rPr>
              <a:t>人间喜剧</a:t>
            </a:r>
            <a:r>
              <a:rPr lang="en-US" altLang="zh-CN" sz="2000" dirty="0">
                <a:sym typeface="+mn-ea"/>
              </a:rPr>
              <a:t>”</a:t>
            </a:r>
            <a:r>
              <a:rPr lang="zh-CN" altLang="en-US" sz="2000" dirty="0">
                <a:sym typeface="+mn-ea"/>
              </a:rPr>
              <a:t>小说集</a:t>
            </a:r>
            <a:r>
              <a:rPr lang="en-US" altLang="zh-CN" sz="2000" dirty="0">
                <a:sym typeface="+mn-ea"/>
              </a:rPr>
              <a:t> </a:t>
            </a:r>
            <a:r>
              <a:rPr lang="zh-CN" altLang="en-US" sz="2000" dirty="0">
                <a:sym typeface="+mn-ea"/>
              </a:rPr>
              <a:t>《欧也妮葛朗台》《高老头》</a:t>
            </a:r>
            <a:endParaRPr lang="zh-CN" altLang="en-US" sz="2000" dirty="0"/>
          </a:p>
          <a:p>
            <a:pPr>
              <a:lnSpc>
                <a:spcPct val="100000"/>
              </a:lnSpc>
              <a:spcAft>
                <a:spcPts val="400"/>
              </a:spcAft>
            </a:pPr>
            <a:r>
              <a:rPr lang="zh-CN" altLang="en-US" sz="2000" dirty="0">
                <a:sym typeface="+mn-ea"/>
              </a:rPr>
              <a:t>俄国</a:t>
            </a:r>
            <a:r>
              <a:rPr lang="en-US" altLang="zh-CN" sz="2000" dirty="0">
                <a:sym typeface="+mn-ea"/>
              </a:rPr>
              <a:t>  </a:t>
            </a:r>
            <a:r>
              <a:rPr lang="zh-CN" altLang="en-US" sz="2000" dirty="0">
                <a:sym typeface="+mn-ea"/>
              </a:rPr>
              <a:t>列夫托尔斯泰</a:t>
            </a:r>
            <a:r>
              <a:rPr lang="en-US" altLang="zh-CN" sz="2000" dirty="0">
                <a:sym typeface="+mn-ea"/>
              </a:rPr>
              <a:t> </a:t>
            </a:r>
            <a:r>
              <a:rPr lang="zh-CN" altLang="en-US" sz="2000" dirty="0">
                <a:sym typeface="+mn-ea"/>
              </a:rPr>
              <a:t>《战争与和平》《安娜卡列尼娜》《复活》</a:t>
            </a:r>
            <a:r>
              <a:rPr lang="en-US" altLang="zh-CN" sz="2000" dirty="0">
                <a:sym typeface="+mn-ea"/>
              </a:rPr>
              <a:t> </a:t>
            </a:r>
            <a:r>
              <a:rPr lang="zh-CN" altLang="en-US" sz="2000" dirty="0">
                <a:sym typeface="+mn-ea"/>
              </a:rPr>
              <a:t>俄国革命的镜子</a:t>
            </a:r>
            <a:endParaRPr lang="zh-CN" altLang="en-US" sz="2000" dirty="0"/>
          </a:p>
          <a:p>
            <a:pPr>
              <a:lnSpc>
                <a:spcPct val="100000"/>
              </a:lnSpc>
              <a:spcAft>
                <a:spcPts val="400"/>
              </a:spcAft>
            </a:pPr>
            <a:r>
              <a:rPr lang="zh-CN" altLang="en-US" sz="2000" dirty="0">
                <a:sym typeface="+mn-ea"/>
              </a:rPr>
              <a:t>德国</a:t>
            </a:r>
            <a:r>
              <a:rPr lang="en-US" altLang="zh-CN" sz="2000" dirty="0">
                <a:sym typeface="+mn-ea"/>
              </a:rPr>
              <a:t>  </a:t>
            </a:r>
            <a:r>
              <a:rPr lang="zh-CN" altLang="en-US" sz="2000" dirty="0">
                <a:sym typeface="+mn-ea"/>
              </a:rPr>
              <a:t>贝多芬</a:t>
            </a:r>
            <a:r>
              <a:rPr lang="en-US" altLang="zh-CN" sz="2000" dirty="0">
                <a:sym typeface="+mn-ea"/>
              </a:rPr>
              <a:t>  </a:t>
            </a:r>
            <a:r>
              <a:rPr lang="zh-CN" altLang="en-US" sz="2000" dirty="0">
                <a:sym typeface="+mn-ea"/>
              </a:rPr>
              <a:t>《英雄交响曲》</a:t>
            </a:r>
            <a:r>
              <a:rPr lang="en-US" altLang="zh-CN" sz="2000" dirty="0">
                <a:sym typeface="+mn-ea"/>
              </a:rPr>
              <a:t> </a:t>
            </a:r>
            <a:r>
              <a:rPr lang="zh-CN" altLang="en-US" sz="2000" dirty="0">
                <a:sym typeface="+mn-ea"/>
              </a:rPr>
              <a:t>贝多芬在思想上和艺术上的成熟（写给拿破仑）</a:t>
            </a:r>
            <a:endParaRPr lang="zh-CN" altLang="en-US" sz="2000" dirty="0"/>
          </a:p>
          <a:p>
            <a:pPr>
              <a:lnSpc>
                <a:spcPct val="100000"/>
              </a:lnSpc>
              <a:spcAft>
                <a:spcPts val="400"/>
              </a:spcAft>
            </a:pPr>
            <a:r>
              <a:rPr lang="zh-CN" altLang="en-US" sz="2000" dirty="0">
                <a:sym typeface="+mn-ea"/>
              </a:rPr>
              <a:t>荷兰</a:t>
            </a:r>
            <a:r>
              <a:rPr lang="en-US" altLang="zh-CN" sz="2000" dirty="0">
                <a:sym typeface="+mn-ea"/>
              </a:rPr>
              <a:t>  </a:t>
            </a:r>
            <a:r>
              <a:rPr lang="zh-CN" altLang="en-US" sz="2000" dirty="0">
                <a:sym typeface="+mn-ea"/>
              </a:rPr>
              <a:t>梵高</a:t>
            </a:r>
            <a:r>
              <a:rPr lang="en-US" altLang="zh-CN" sz="2000" dirty="0">
                <a:sym typeface="+mn-ea"/>
              </a:rPr>
              <a:t>  </a:t>
            </a:r>
            <a:r>
              <a:rPr lang="zh-CN" altLang="en-US" sz="2000" dirty="0">
                <a:sym typeface="+mn-ea"/>
              </a:rPr>
              <a:t>《夜间的咖啡馆》《向日葵》</a:t>
            </a:r>
            <a:endParaRPr lang="zh-CN" altLang="en-US" sz="2000" dirty="0"/>
          </a:p>
          <a:p>
            <a:pPr>
              <a:lnSpc>
                <a:spcPct val="100000"/>
              </a:lnSpc>
              <a:spcAft>
                <a:spcPts val="400"/>
              </a:spcAft>
            </a:pPr>
            <a:endParaRPr lang="zh-CN" altLang="en-US" sz="2000" b="1" dirty="0">
              <a:solidFill>
                <a:schemeClr val="tx1"/>
              </a:solidFill>
            </a:endParaRPr>
          </a:p>
          <a:p>
            <a:pPr>
              <a:spcAft>
                <a:spcPts val="400"/>
              </a:spcAft>
            </a:pPr>
            <a:endParaRPr lang="zh-CN" altLang="en-US" sz="2000" b="1" dirty="0">
              <a:solidFill>
                <a:srgbClr val="FF0000"/>
              </a:solidFill>
            </a:endParaRPr>
          </a:p>
          <a:p>
            <a:pPr>
              <a:spcAft>
                <a:spcPts val="400"/>
              </a:spcAft>
            </a:pPr>
            <a:endParaRPr lang="zh-CN" altLang="en-US" sz="2000" b="1" dirty="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3"/>
            <p:custDataLst>
              <p:tags r:id="rId1"/>
            </p:custDataLst>
          </p:nvPr>
        </p:nvSpPr>
        <p:spPr>
          <a:xfrm>
            <a:off x="264160" y="157480"/>
            <a:ext cx="11928475" cy="7038975"/>
          </a:xfrm>
        </p:spPr>
        <p:txBody>
          <a:bodyPr>
            <a:normAutofit lnSpcReduction="10000"/>
          </a:bodyPr>
          <a:lstStyle/>
          <a:p>
            <a:pPr>
              <a:lnSpc>
                <a:spcPct val="100000"/>
              </a:lnSpc>
            </a:pPr>
            <a:r>
              <a:rPr lang="zh-CN" altLang="en-US" sz="2400" b="1" dirty="0">
                <a:solidFill>
                  <a:srgbClr val="FF0000"/>
                </a:solidFill>
                <a:sym typeface="+mn-ea"/>
              </a:rPr>
              <a:t>开启俄国近代化的开端：</a:t>
            </a:r>
            <a:r>
              <a:rPr lang="zh-CN" altLang="en-US" sz="2400" b="1" dirty="0">
                <a:solidFill>
                  <a:schemeClr val="tx1"/>
                </a:solidFill>
                <a:sym typeface="+mn-ea"/>
              </a:rPr>
              <a:t>彼得一世改革（地主阶级性质的改革）。</a:t>
            </a:r>
            <a:endParaRPr lang="zh-CN" altLang="en-US" sz="2400" b="1" dirty="0">
              <a:solidFill>
                <a:srgbClr val="FF0000"/>
              </a:solidFill>
              <a:sym typeface="+mn-ea"/>
            </a:endParaRPr>
          </a:p>
          <a:p>
            <a:pPr>
              <a:lnSpc>
                <a:spcPct val="100000"/>
              </a:lnSpc>
            </a:pPr>
            <a:r>
              <a:rPr lang="zh-CN" altLang="en-US" sz="2400" b="1" dirty="0">
                <a:solidFill>
                  <a:srgbClr val="FF0000"/>
                </a:solidFill>
                <a:sym typeface="+mn-ea"/>
              </a:rPr>
              <a:t>农奴制改革（亚历山大二世）</a:t>
            </a:r>
            <a:r>
              <a:rPr lang="en-US" altLang="zh-CN" sz="2400" b="1" dirty="0">
                <a:solidFill>
                  <a:srgbClr val="FF0000"/>
                </a:solidFill>
                <a:sym typeface="+mn-ea"/>
              </a:rPr>
              <a:t> </a:t>
            </a:r>
            <a:r>
              <a:rPr lang="en-US" altLang="zh-CN" sz="2400" b="1" dirty="0">
                <a:solidFill>
                  <a:schemeClr val="tx1"/>
                </a:solidFill>
                <a:sym typeface="+mn-ea"/>
              </a:rPr>
              <a:t> 1861</a:t>
            </a:r>
            <a:r>
              <a:rPr lang="zh-CN" altLang="en-US" sz="2400" b="1" dirty="0">
                <a:solidFill>
                  <a:schemeClr val="tx1"/>
                </a:solidFill>
                <a:sym typeface="+mn-ea"/>
              </a:rPr>
              <a:t>年</a:t>
            </a:r>
            <a:r>
              <a:rPr lang="en-US" altLang="zh-CN" sz="2400" b="1" dirty="0">
                <a:solidFill>
                  <a:schemeClr val="tx1"/>
                </a:solidFill>
                <a:sym typeface="+mn-ea"/>
              </a:rPr>
              <a:t>  </a:t>
            </a:r>
            <a:endParaRPr lang="en-US" altLang="zh-CN" sz="2400" b="1" dirty="0">
              <a:solidFill>
                <a:schemeClr val="tx1"/>
              </a:solidFill>
            </a:endParaRPr>
          </a:p>
          <a:p>
            <a:pPr>
              <a:lnSpc>
                <a:spcPct val="100000"/>
              </a:lnSpc>
            </a:pPr>
            <a:r>
              <a:rPr lang="zh-CN" altLang="en-US" sz="2400" b="1" dirty="0">
                <a:solidFill>
                  <a:schemeClr val="tx1"/>
                </a:solidFill>
                <a:sym typeface="+mn-ea"/>
              </a:rPr>
              <a:t>目的：维护地主阶级的利益</a:t>
            </a:r>
            <a:r>
              <a:rPr lang="en-US" altLang="zh-CN" sz="2400" b="1" dirty="0">
                <a:solidFill>
                  <a:schemeClr val="tx1"/>
                </a:solidFill>
                <a:sym typeface="+mn-ea"/>
              </a:rPr>
              <a:t>        </a:t>
            </a:r>
            <a:r>
              <a:rPr lang="zh-CN" altLang="en-US" sz="2400" b="1" dirty="0">
                <a:solidFill>
                  <a:schemeClr val="tx1"/>
                </a:solidFill>
                <a:sym typeface="+mn-ea"/>
              </a:rPr>
              <a:t>性质：自上而下资产阶级改革</a:t>
            </a:r>
            <a:r>
              <a:rPr lang="en-US" altLang="zh-CN" sz="2400" b="1" dirty="0">
                <a:solidFill>
                  <a:schemeClr val="tx1"/>
                </a:solidFill>
                <a:sym typeface="+mn-ea"/>
              </a:rPr>
              <a:t> </a:t>
            </a:r>
            <a:endParaRPr lang="en-US" altLang="zh-CN" sz="2400" b="1" dirty="0">
              <a:solidFill>
                <a:schemeClr val="tx1"/>
              </a:solidFill>
            </a:endParaRPr>
          </a:p>
          <a:p>
            <a:pPr>
              <a:lnSpc>
                <a:spcPct val="100000"/>
              </a:lnSpc>
            </a:pPr>
            <a:r>
              <a:rPr lang="en-US" altLang="zh-CN" sz="2400" b="1" dirty="0">
                <a:solidFill>
                  <a:schemeClr val="tx1"/>
                </a:solidFill>
                <a:sym typeface="+mn-ea"/>
              </a:rPr>
              <a:t> </a:t>
            </a:r>
            <a:r>
              <a:rPr lang="zh-CN" altLang="en-US" sz="2400" b="1" dirty="0">
                <a:solidFill>
                  <a:schemeClr val="tx1"/>
                </a:solidFill>
                <a:sym typeface="+mn-ea"/>
              </a:rPr>
              <a:t>影响：历史上的转折点；促使社会的各个方面出现了新气象；推动俄国走上发展资本主义的道路。农奴制残余影响俄国经济与社会发展。</a:t>
            </a:r>
          </a:p>
          <a:p>
            <a:pPr>
              <a:lnSpc>
                <a:spcPct val="100000"/>
              </a:lnSpc>
            </a:pPr>
            <a:r>
              <a:rPr lang="zh-CN" altLang="en-US" sz="2400" b="1" dirty="0">
                <a:solidFill>
                  <a:srgbClr val="FF0000"/>
                </a:solidFill>
                <a:highlight>
                  <a:srgbClr val="FFFF00"/>
                </a:highlight>
                <a:sym typeface="+mn-ea"/>
              </a:rPr>
              <a:t>美国南北战争：</a:t>
            </a:r>
            <a:r>
              <a:rPr lang="en-US" altLang="zh-CN" sz="2400" b="1" dirty="0">
                <a:solidFill>
                  <a:schemeClr val="tx1"/>
                </a:solidFill>
                <a:highlight>
                  <a:srgbClr val="FFFF00"/>
                </a:highlight>
                <a:sym typeface="+mn-ea"/>
              </a:rPr>
              <a:t>1861-1865</a:t>
            </a:r>
            <a:r>
              <a:rPr lang="zh-CN" altLang="en-US" sz="2400" b="1" dirty="0">
                <a:solidFill>
                  <a:schemeClr val="tx1"/>
                </a:solidFill>
                <a:highlight>
                  <a:srgbClr val="FFFF00"/>
                </a:highlight>
                <a:sym typeface="+mn-ea"/>
              </a:rPr>
              <a:t>年</a:t>
            </a:r>
            <a:r>
              <a:rPr lang="en-US" altLang="zh-CN" sz="2400" b="1" dirty="0">
                <a:solidFill>
                  <a:schemeClr val="tx1"/>
                </a:solidFill>
                <a:highlight>
                  <a:srgbClr val="FFFF00"/>
                </a:highlight>
                <a:sym typeface="+mn-ea"/>
              </a:rPr>
              <a:t>    </a:t>
            </a:r>
            <a:r>
              <a:rPr lang="zh-CN" altLang="en-US" sz="2400" b="1" dirty="0">
                <a:solidFill>
                  <a:schemeClr val="tx1"/>
                </a:solidFill>
                <a:highlight>
                  <a:srgbClr val="FFFF00"/>
                </a:highlight>
                <a:sym typeface="+mn-ea"/>
              </a:rPr>
              <a:t>领导人：林肯</a:t>
            </a:r>
            <a:r>
              <a:rPr lang="en-US" altLang="zh-CN" sz="2400" b="1" dirty="0">
                <a:solidFill>
                  <a:schemeClr val="tx1"/>
                </a:solidFill>
                <a:highlight>
                  <a:srgbClr val="FFFF00"/>
                </a:highlight>
                <a:sym typeface="+mn-ea"/>
              </a:rPr>
              <a:t>  </a:t>
            </a:r>
          </a:p>
          <a:p>
            <a:pPr>
              <a:lnSpc>
                <a:spcPct val="100000"/>
              </a:lnSpc>
            </a:pPr>
            <a:r>
              <a:rPr lang="zh-CN" altLang="en-US" sz="2400" b="1" dirty="0">
                <a:solidFill>
                  <a:srgbClr val="FF0000"/>
                </a:solidFill>
                <a:highlight>
                  <a:srgbClr val="FFFF00"/>
                </a:highlight>
                <a:sym typeface="+mn-ea"/>
              </a:rPr>
              <a:t>内战转折点</a:t>
            </a:r>
            <a:r>
              <a:rPr lang="zh-CN" altLang="en-US" sz="2400" b="1" dirty="0">
                <a:solidFill>
                  <a:schemeClr val="tx1"/>
                </a:solidFill>
                <a:highlight>
                  <a:srgbClr val="FFFF00"/>
                </a:highlight>
                <a:sym typeface="+mn-ea"/>
              </a:rPr>
              <a:t>：《宅地法》《解放黑人奴隶宣言》</a:t>
            </a:r>
          </a:p>
          <a:p>
            <a:pPr>
              <a:lnSpc>
                <a:spcPct val="100000"/>
              </a:lnSpc>
            </a:pPr>
            <a:r>
              <a:rPr lang="zh-CN" altLang="en-US" sz="2400" b="1" dirty="0">
                <a:solidFill>
                  <a:srgbClr val="FF0000"/>
                </a:solidFill>
                <a:sym typeface="+mn-ea"/>
              </a:rPr>
              <a:t>《宅》《解》的意义</a:t>
            </a:r>
            <a:r>
              <a:rPr lang="zh-CN" altLang="en-US" sz="2400" b="1" dirty="0">
                <a:solidFill>
                  <a:schemeClr val="tx1"/>
                </a:solidFill>
                <a:sym typeface="+mn-ea"/>
              </a:rPr>
              <a:t>：调动农民和黑奴参战积极性，扭转了北方军队在战场上的被动局面，是美国内战转折点。</a:t>
            </a:r>
          </a:p>
          <a:p>
            <a:pPr>
              <a:lnSpc>
                <a:spcPct val="100000"/>
              </a:lnSpc>
            </a:pPr>
            <a:r>
              <a:rPr lang="zh-CN" altLang="en-US" sz="2400" b="1" dirty="0">
                <a:solidFill>
                  <a:srgbClr val="FF0000"/>
                </a:solidFill>
                <a:sym typeface="+mn-ea"/>
              </a:rPr>
              <a:t>影响：</a:t>
            </a:r>
            <a:r>
              <a:rPr lang="zh-CN" altLang="en-US" sz="2400" b="1" dirty="0">
                <a:solidFill>
                  <a:schemeClr val="tx1"/>
                </a:solidFill>
                <a:sym typeface="+mn-ea"/>
              </a:rPr>
              <a:t>美国历史上第二次资产阶级革命，维护了国家统一，废除奴隶制，清除了美国资本主义发展的最大障碍，为经济迅速发展创造了条件</a:t>
            </a:r>
            <a:r>
              <a:rPr lang="en-US" altLang="zh-CN" sz="2400" b="1" dirty="0">
                <a:solidFill>
                  <a:schemeClr val="tx1"/>
                </a:solidFill>
                <a:sym typeface="+mn-ea"/>
              </a:rPr>
              <a:t> </a:t>
            </a:r>
            <a:r>
              <a:rPr lang="zh-CN" altLang="en-US" sz="2400" b="1" dirty="0">
                <a:solidFill>
                  <a:schemeClr val="tx1"/>
                </a:solidFill>
                <a:sym typeface="+mn-ea"/>
              </a:rPr>
              <a:t>。</a:t>
            </a:r>
          </a:p>
          <a:p>
            <a:pPr>
              <a:lnSpc>
                <a:spcPct val="100000"/>
              </a:lnSpc>
            </a:pPr>
            <a:r>
              <a:rPr lang="zh-CN" altLang="en-US" sz="2400" b="1" dirty="0">
                <a:solidFill>
                  <a:srgbClr val="FF0000"/>
                </a:solidFill>
                <a:sym typeface="+mn-ea"/>
              </a:rPr>
              <a:t>日本明治维新：</a:t>
            </a:r>
            <a:r>
              <a:rPr lang="en-US" altLang="zh-CN" sz="2400" b="1" dirty="0">
                <a:solidFill>
                  <a:schemeClr val="tx1"/>
                </a:solidFill>
                <a:sym typeface="+mn-ea"/>
              </a:rPr>
              <a:t>1868</a:t>
            </a:r>
            <a:r>
              <a:rPr lang="zh-CN" altLang="en-US" sz="2400" b="1" dirty="0">
                <a:solidFill>
                  <a:schemeClr val="tx1"/>
                </a:solidFill>
                <a:sym typeface="+mn-ea"/>
              </a:rPr>
              <a:t>年</a:t>
            </a:r>
            <a:r>
              <a:rPr lang="en-US" altLang="zh-CN" sz="2400" b="1" dirty="0">
                <a:solidFill>
                  <a:schemeClr val="tx1"/>
                </a:solidFill>
                <a:sym typeface="+mn-ea"/>
              </a:rPr>
              <a:t>   </a:t>
            </a:r>
            <a:r>
              <a:rPr lang="zh-CN" altLang="en-US" sz="2400" b="1" dirty="0">
                <a:solidFill>
                  <a:schemeClr val="tx1"/>
                </a:solidFill>
                <a:sym typeface="+mn-ea"/>
              </a:rPr>
              <a:t>性质：资产阶级改革</a:t>
            </a:r>
          </a:p>
          <a:p>
            <a:pPr>
              <a:lnSpc>
                <a:spcPct val="100000"/>
              </a:lnSpc>
            </a:pPr>
            <a:r>
              <a:rPr lang="zh-CN" altLang="en-US" sz="2400" b="1" dirty="0">
                <a:solidFill>
                  <a:srgbClr val="FF0000"/>
                </a:solidFill>
                <a:sym typeface="+mn-ea"/>
              </a:rPr>
              <a:t>内容：</a:t>
            </a:r>
            <a:r>
              <a:rPr lang="zh-CN" altLang="en-US" sz="2400" b="1" dirty="0">
                <a:solidFill>
                  <a:schemeClr val="tx1"/>
                </a:solidFill>
                <a:sym typeface="+mn-ea"/>
              </a:rPr>
              <a:t>（政）废藩置县；（经）以殖产兴业为口号，发展近代经济；（社会生活）文明开化。</a:t>
            </a:r>
          </a:p>
          <a:p>
            <a:pPr>
              <a:lnSpc>
                <a:spcPct val="100000"/>
              </a:lnSpc>
            </a:pPr>
            <a:r>
              <a:rPr lang="zh-CN" altLang="en-US" sz="2400" b="1" dirty="0">
                <a:solidFill>
                  <a:schemeClr val="tx1"/>
                </a:solidFill>
                <a:sym typeface="+mn-ea"/>
              </a:rPr>
              <a:t>评价：摆脱民族危机，使日本走上发展资本主义道路，实现富国强兵，开始跻身资本主义强国之列。保留旧制度残余，军国主义色彩浓厚，走上对外侵略道路。</a:t>
            </a:r>
            <a:endParaRPr lang="zh-CN" altLang="en-US" sz="2400" b="1" dirty="0">
              <a:solidFill>
                <a:schemeClr val="tx1"/>
              </a:solidFill>
            </a:endParaRPr>
          </a:p>
          <a:p>
            <a:pPr>
              <a:lnSpc>
                <a:spcPct val="100000"/>
              </a:lnSpc>
            </a:pPr>
            <a:endParaRPr lang="zh-CN" altLang="en-US" sz="2400" b="1"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3430" y="70"/>
            <a:ext cx="10969200" cy="705600"/>
          </a:xfrm>
        </p:spPr>
        <p:txBody>
          <a:bodyPr/>
          <a:lstStyle/>
          <a:p>
            <a:r>
              <a:rPr lang="zh-CN" altLang="en-US" dirty="0"/>
              <a:t>民族民主运动</a:t>
            </a:r>
          </a:p>
        </p:txBody>
      </p:sp>
      <p:sp>
        <p:nvSpPr>
          <p:cNvPr id="3" name="内容占位符 2"/>
          <p:cNvSpPr>
            <a:spLocks noGrp="1"/>
          </p:cNvSpPr>
          <p:nvPr>
            <p:ph idx="1"/>
          </p:nvPr>
        </p:nvSpPr>
        <p:spPr>
          <a:xfrm>
            <a:off x="213360" y="705485"/>
            <a:ext cx="11797030" cy="6152515"/>
          </a:xfrm>
        </p:spPr>
        <p:txBody>
          <a:bodyPr>
            <a:normAutofit/>
          </a:bodyPr>
          <a:lstStyle/>
          <a:p>
            <a:pPr>
              <a:lnSpc>
                <a:spcPct val="100000"/>
              </a:lnSpc>
            </a:pPr>
            <a:r>
              <a:rPr lang="zh-CN" altLang="en-US" b="1" dirty="0">
                <a:solidFill>
                  <a:srgbClr val="FF0000"/>
                </a:solidFill>
              </a:rPr>
              <a:t>第一次工业革命：</a:t>
            </a:r>
          </a:p>
          <a:p>
            <a:pPr>
              <a:lnSpc>
                <a:spcPct val="100000"/>
              </a:lnSpc>
            </a:pPr>
            <a:r>
              <a:rPr lang="zh-CN" altLang="en-US" b="1" dirty="0"/>
              <a:t>印度民族大起义：反抗英国，章西女王（封建王公）、失败，印度民族意识的觉醒。</a:t>
            </a:r>
          </a:p>
          <a:p>
            <a:pPr>
              <a:lnSpc>
                <a:spcPct val="100000"/>
              </a:lnSpc>
            </a:pPr>
            <a:r>
              <a:rPr lang="zh-CN" altLang="en-US" b="1" dirty="0"/>
              <a:t>拉丁美洲独立运动：玻利瓦尔、圣马丁（南美解放者、民族资产阶级）。玻利瓦尔解放了哥伦比亚、委内瑞拉和厄瓜多尔；圣马丁解放了阿根廷、智利、秘鲁。</a:t>
            </a:r>
          </a:p>
          <a:p>
            <a:pPr>
              <a:lnSpc>
                <a:spcPct val="100000"/>
              </a:lnSpc>
            </a:pPr>
            <a:r>
              <a:rPr lang="zh-CN" altLang="en-US" b="1" dirty="0"/>
              <a:t>中国太平天国运动：</a:t>
            </a:r>
            <a:r>
              <a:rPr lang="en-US" altLang="zh-CN" b="1" dirty="0"/>
              <a:t>1851-1864</a:t>
            </a:r>
            <a:r>
              <a:rPr lang="zh-CN" altLang="en-US" b="1" dirty="0"/>
              <a:t>年，洪秀全（最大规模的农民起义），失败。</a:t>
            </a:r>
          </a:p>
          <a:p>
            <a:pPr>
              <a:lnSpc>
                <a:spcPct val="100000"/>
              </a:lnSpc>
            </a:pPr>
            <a:r>
              <a:rPr lang="zh-CN" altLang="en-US" b="1" dirty="0">
                <a:solidFill>
                  <a:srgbClr val="FF0000"/>
                </a:solidFill>
              </a:rPr>
              <a:t>第一次世界大战：</a:t>
            </a:r>
          </a:p>
          <a:p>
            <a:pPr>
              <a:lnSpc>
                <a:spcPct val="100000"/>
              </a:lnSpc>
            </a:pPr>
            <a:r>
              <a:rPr lang="zh-CN" altLang="en-US" b="1" dirty="0"/>
              <a:t>印度非暴力不合作运动：反英，甘地（民族资产阶级）。</a:t>
            </a:r>
          </a:p>
          <a:p>
            <a:pPr>
              <a:lnSpc>
                <a:spcPct val="100000"/>
              </a:lnSpc>
            </a:pPr>
            <a:r>
              <a:rPr lang="zh-CN" altLang="en-US" b="1" dirty="0"/>
              <a:t>埃及华夫脱运动：反英，扎格鲁尔（民族资产阶级）、有条件承认埃及独立。</a:t>
            </a:r>
          </a:p>
          <a:p>
            <a:pPr>
              <a:lnSpc>
                <a:spcPct val="100000"/>
              </a:lnSpc>
            </a:pPr>
            <a:r>
              <a:rPr lang="zh-CN" altLang="en-US" b="1" dirty="0"/>
              <a:t>墨西哥卡德纳斯改革：卡德纳斯（</a:t>
            </a:r>
            <a:r>
              <a:rPr lang="zh-CN" altLang="en-US" b="1" dirty="0">
                <a:sym typeface="+mn-ea"/>
              </a:rPr>
              <a:t>民族资产阶级），巩固墨西哥资产阶级革命成果。</a:t>
            </a:r>
          </a:p>
          <a:p>
            <a:pPr>
              <a:lnSpc>
                <a:spcPct val="100000"/>
              </a:lnSpc>
            </a:pPr>
            <a:r>
              <a:rPr lang="zh-CN" altLang="en-US" b="1" dirty="0">
                <a:solidFill>
                  <a:srgbClr val="FF0000"/>
                </a:solidFill>
              </a:rPr>
              <a:t>第二次世界大战：</a:t>
            </a:r>
          </a:p>
          <a:p>
            <a:pPr>
              <a:lnSpc>
                <a:spcPct val="100000"/>
              </a:lnSpc>
            </a:pPr>
            <a:r>
              <a:rPr lang="zh-CN" altLang="en-US" b="1" dirty="0"/>
              <a:t>亚洲：</a:t>
            </a:r>
            <a:r>
              <a:rPr lang="en-US" altLang="zh-CN" b="1" dirty="0"/>
              <a:t>1955</a:t>
            </a:r>
            <a:r>
              <a:rPr lang="zh-CN" altLang="en-US" b="1" dirty="0"/>
              <a:t>、印尼、万隆会议（周恩来提出求同存异方针）、参与国为亚非国家。第一次没有西方殖民主义国家参加的亚非会议。标志着发展中国家作为一只新兴独立政治力量登上国家舞台。</a:t>
            </a:r>
          </a:p>
          <a:p>
            <a:pPr>
              <a:lnSpc>
                <a:spcPct val="100000"/>
              </a:lnSpc>
            </a:pPr>
            <a:r>
              <a:rPr lang="zh-CN" altLang="en-US" b="1" dirty="0"/>
              <a:t>非洲：</a:t>
            </a:r>
            <a:r>
              <a:rPr lang="en-US" altLang="zh-CN" b="1" dirty="0"/>
              <a:t>1960</a:t>
            </a:r>
            <a:r>
              <a:rPr lang="zh-CN" altLang="en-US" b="1" dirty="0"/>
              <a:t>年，非洲年，</a:t>
            </a:r>
            <a:r>
              <a:rPr lang="en-US" altLang="zh-CN" b="1" dirty="0"/>
              <a:t>17</a:t>
            </a:r>
            <a:r>
              <a:rPr lang="zh-CN" altLang="en-US" b="1" dirty="0"/>
              <a:t>个非洲国家独立。</a:t>
            </a:r>
            <a:r>
              <a:rPr lang="en-US" altLang="zh-CN" b="1" dirty="0"/>
              <a:t>1990</a:t>
            </a:r>
            <a:r>
              <a:rPr lang="zh-CN" altLang="en-US" b="1" dirty="0"/>
              <a:t>年，纳米比亚独立，标志着所有非洲国家摆脱殖民主义的枷锁。</a:t>
            </a:r>
          </a:p>
          <a:p>
            <a:pPr>
              <a:lnSpc>
                <a:spcPct val="100000"/>
              </a:lnSpc>
            </a:pPr>
            <a:r>
              <a:rPr lang="zh-CN" altLang="en-US" b="1" dirty="0"/>
              <a:t>拉美：反美，巴拿马运河，</a:t>
            </a:r>
            <a:r>
              <a:rPr lang="en-US" altLang="zh-CN" b="1" dirty="0"/>
              <a:t>1999</a:t>
            </a:r>
            <a:r>
              <a:rPr lang="zh-CN" altLang="en-US" b="1" dirty="0"/>
              <a:t>年收回运河主权。</a:t>
            </a:r>
          </a:p>
          <a:p>
            <a:pPr>
              <a:lnSpc>
                <a:spcPct val="100000"/>
              </a:lnSpc>
            </a:pPr>
            <a:r>
              <a:rPr lang="zh-CN" altLang="en-US" b="1" dirty="0"/>
              <a:t> </a:t>
            </a:r>
            <a:r>
              <a:rPr lang="en-US" altLang="zh-CN" b="1" dirty="0"/>
              <a:t>        </a:t>
            </a:r>
            <a:r>
              <a:rPr lang="zh-CN" altLang="en-US" b="1" dirty="0"/>
              <a:t>反美，古巴，卡斯特罗，走上了社会主义道路。</a:t>
            </a:r>
          </a:p>
          <a:p>
            <a:pPr>
              <a:lnSpc>
                <a:spcPct val="100000"/>
              </a:lnSpc>
            </a:pPr>
            <a:endParaRPr lang="zh-CN" altLang="en-US"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14630" y="120650"/>
            <a:ext cx="11817985" cy="6892290"/>
          </a:xfrm>
        </p:spPr>
        <p:txBody>
          <a:bodyPr>
            <a:noAutofit/>
          </a:bodyPr>
          <a:lstStyle/>
          <a:p>
            <a:pPr>
              <a:spcAft>
                <a:spcPts val="0"/>
              </a:spcAft>
            </a:pPr>
            <a:r>
              <a:rPr lang="en-US" altLang="zh-CN" sz="2100" b="1">
                <a:sym typeface="+mn-ea"/>
              </a:rPr>
              <a:t>1</a:t>
            </a:r>
            <a:r>
              <a:rPr lang="zh-CN" altLang="en-US" sz="2100" b="1">
                <a:sym typeface="+mn-ea"/>
              </a:rPr>
              <a:t>、巴黎和会：</a:t>
            </a:r>
            <a:r>
              <a:rPr lang="zh-CN" altLang="en-US" sz="2100" b="1">
                <a:solidFill>
                  <a:srgbClr val="FF0000"/>
                </a:solidFill>
                <a:sym typeface="+mn-ea"/>
              </a:rPr>
              <a:t>1919年</a:t>
            </a:r>
            <a:r>
              <a:rPr lang="en-US" altLang="zh-CN" sz="2100" b="1">
                <a:sym typeface="+mn-ea"/>
              </a:rPr>
              <a:t> </a:t>
            </a:r>
            <a:r>
              <a:rPr lang="zh-CN" altLang="en-US" sz="2100" b="1">
                <a:sym typeface="+mn-ea"/>
              </a:rPr>
              <a:t>主导国：</a:t>
            </a:r>
            <a:r>
              <a:rPr lang="zh-CN" altLang="en-US" sz="2100" b="1">
                <a:solidFill>
                  <a:srgbClr val="FF0000"/>
                </a:solidFill>
                <a:sym typeface="+mn-ea"/>
              </a:rPr>
              <a:t>英、法、美   《凡尔赛条约》 国际联盟（美国提出，英法操纵世界的工具，战败国、俄、美没加入）</a:t>
            </a:r>
          </a:p>
          <a:p>
            <a:pPr>
              <a:spcAft>
                <a:spcPts val="0"/>
              </a:spcAft>
            </a:pPr>
            <a:r>
              <a:rPr lang="en-US" altLang="zh-CN" sz="2100" b="1">
                <a:sym typeface="+mn-ea"/>
              </a:rPr>
              <a:t>2</a:t>
            </a:r>
            <a:r>
              <a:rPr lang="zh-CN" altLang="en-US" sz="2100" b="1">
                <a:sym typeface="+mn-ea"/>
              </a:rPr>
              <a:t>、华盛顿会议：</a:t>
            </a:r>
            <a:r>
              <a:rPr lang="zh-CN" altLang="en-US" sz="2100" b="1">
                <a:solidFill>
                  <a:srgbClr val="FF0000"/>
                </a:solidFill>
                <a:sym typeface="+mn-ea"/>
              </a:rPr>
              <a:t>1922年，主导国：美国  《九国公约》   调整帝国主义在亚太地区的关系</a:t>
            </a:r>
          </a:p>
          <a:p>
            <a:pPr algn="l">
              <a:lnSpc>
                <a:spcPct val="100000"/>
              </a:lnSpc>
              <a:spcAft>
                <a:spcPts val="0"/>
              </a:spcAft>
              <a:buClrTx/>
              <a:buSzTx/>
            </a:pPr>
            <a:r>
              <a:rPr lang="en-US" altLang="zh-CN" sz="2100" b="1">
                <a:sym typeface="+mn-ea"/>
              </a:rPr>
              <a:t>3</a:t>
            </a:r>
            <a:r>
              <a:rPr lang="zh-CN" altLang="en-US" sz="2100" b="1">
                <a:sym typeface="+mn-ea"/>
              </a:rPr>
              <a:t>、一战时间：</a:t>
            </a:r>
            <a:r>
              <a:rPr lang="zh-CN" altLang="en-US" sz="2100" b="1">
                <a:solidFill>
                  <a:srgbClr val="FF0000"/>
                </a:solidFill>
                <a:sym typeface="+mn-ea"/>
              </a:rPr>
              <a:t>1914-1918年</a:t>
            </a:r>
          </a:p>
          <a:p>
            <a:pPr>
              <a:lnSpc>
                <a:spcPct val="100000"/>
              </a:lnSpc>
              <a:spcAft>
                <a:spcPts val="0"/>
              </a:spcAft>
            </a:pPr>
            <a:r>
              <a:rPr lang="en-US" altLang="zh-CN" sz="2100" b="1">
                <a:sym typeface="+mn-ea"/>
              </a:rPr>
              <a:t>4</a:t>
            </a:r>
            <a:r>
              <a:rPr lang="zh-CN" altLang="en-US" sz="2100" b="1">
                <a:sym typeface="+mn-ea"/>
              </a:rPr>
              <a:t>、三国同盟：</a:t>
            </a:r>
            <a:r>
              <a:rPr lang="zh-CN" altLang="en-US" sz="2100" b="1">
                <a:solidFill>
                  <a:srgbClr val="FF0000"/>
                </a:solidFill>
                <a:sym typeface="+mn-ea"/>
              </a:rPr>
              <a:t>德意奥匈（失败）</a:t>
            </a:r>
            <a:r>
              <a:rPr lang="en-US" altLang="zh-CN" sz="2100" b="1">
                <a:sym typeface="+mn-ea"/>
              </a:rPr>
              <a:t>   </a:t>
            </a:r>
            <a:r>
              <a:rPr lang="zh-CN" altLang="en-US" sz="2100" b="1">
                <a:sym typeface="+mn-ea"/>
              </a:rPr>
              <a:t>三国协约：</a:t>
            </a:r>
            <a:r>
              <a:rPr lang="zh-CN" altLang="en-US" sz="2100" b="1">
                <a:solidFill>
                  <a:srgbClr val="FF0000"/>
                </a:solidFill>
                <a:sym typeface="+mn-ea"/>
              </a:rPr>
              <a:t>英法俄（胜利）</a:t>
            </a:r>
          </a:p>
          <a:p>
            <a:pPr>
              <a:lnSpc>
                <a:spcPct val="100000"/>
              </a:lnSpc>
              <a:spcAft>
                <a:spcPts val="0"/>
              </a:spcAft>
            </a:pPr>
            <a:r>
              <a:rPr lang="en-US" altLang="zh-CN" sz="2100" b="1">
                <a:sym typeface="+mn-ea"/>
              </a:rPr>
              <a:t>5</a:t>
            </a:r>
            <a:r>
              <a:rPr lang="zh-CN" altLang="en-US" sz="2100" b="1">
                <a:sym typeface="+mn-ea"/>
              </a:rPr>
              <a:t>、一战根因：</a:t>
            </a:r>
            <a:r>
              <a:rPr lang="zh-CN" altLang="en-US" sz="2100" b="1">
                <a:solidFill>
                  <a:srgbClr val="FF0000"/>
                </a:solidFill>
                <a:sym typeface="+mn-ea"/>
              </a:rPr>
              <a:t>帝国主义国家政治经济发展不平衡     </a:t>
            </a:r>
            <a:r>
              <a:rPr lang="zh-CN" altLang="en-US" sz="2100" b="1">
                <a:sym typeface="+mn-ea"/>
              </a:rPr>
              <a:t>直接原因：</a:t>
            </a:r>
            <a:r>
              <a:rPr lang="zh-CN" altLang="en-US" sz="2100" b="1">
                <a:solidFill>
                  <a:srgbClr val="FF0000"/>
                </a:solidFill>
                <a:sym typeface="+mn-ea"/>
              </a:rPr>
              <a:t>萨拉热窝事件</a:t>
            </a:r>
          </a:p>
          <a:p>
            <a:pPr>
              <a:lnSpc>
                <a:spcPct val="100000"/>
              </a:lnSpc>
              <a:spcAft>
                <a:spcPts val="0"/>
              </a:spcAft>
            </a:pPr>
            <a:r>
              <a:rPr lang="en-US" altLang="zh-CN" sz="2100" b="1">
                <a:sym typeface="+mn-ea"/>
              </a:rPr>
              <a:t>6</a:t>
            </a:r>
            <a:r>
              <a:rPr lang="zh-CN" altLang="en-US" sz="2100" b="1">
                <a:sym typeface="+mn-ea"/>
              </a:rPr>
              <a:t>、一战转折：</a:t>
            </a:r>
            <a:r>
              <a:rPr lang="zh-CN" altLang="en-US" sz="2100" b="1">
                <a:solidFill>
                  <a:srgbClr val="FF0000"/>
                </a:solidFill>
                <a:sym typeface="+mn-ea"/>
              </a:rPr>
              <a:t>凡尔登战役。</a:t>
            </a:r>
            <a:endParaRPr lang="zh-CN" altLang="en-US" sz="2100" b="1">
              <a:sym typeface="+mn-ea"/>
            </a:endParaRPr>
          </a:p>
          <a:p>
            <a:pPr>
              <a:lnSpc>
                <a:spcPct val="100000"/>
              </a:lnSpc>
              <a:spcAft>
                <a:spcPts val="0"/>
              </a:spcAft>
            </a:pPr>
            <a:r>
              <a:rPr lang="en-US" altLang="zh-CN" sz="2100" b="1">
                <a:sym typeface="+mn-ea"/>
              </a:rPr>
              <a:t>7</a:t>
            </a:r>
            <a:r>
              <a:rPr lang="zh-CN" altLang="en-US" sz="2100" b="1">
                <a:sym typeface="+mn-ea"/>
              </a:rPr>
              <a:t>、一战的性质：</a:t>
            </a:r>
            <a:r>
              <a:rPr lang="zh-CN" altLang="en-US" sz="2100" b="1">
                <a:solidFill>
                  <a:srgbClr val="FF0000"/>
                </a:solidFill>
                <a:sym typeface="+mn-ea"/>
              </a:rPr>
              <a:t>帝国主义瓜分世界、争夺世界霸权的战争</a:t>
            </a:r>
          </a:p>
          <a:p>
            <a:pPr algn="l">
              <a:lnSpc>
                <a:spcPct val="100000"/>
              </a:lnSpc>
              <a:spcAft>
                <a:spcPts val="0"/>
              </a:spcAft>
              <a:buClrTx/>
              <a:buSzTx/>
            </a:pPr>
            <a:r>
              <a:rPr lang="en-US" altLang="zh-CN" sz="2100" b="1">
                <a:sym typeface="+mn-ea"/>
              </a:rPr>
              <a:t>8</a:t>
            </a:r>
            <a:r>
              <a:rPr lang="zh-CN" altLang="en-US" sz="2100" b="1">
                <a:sym typeface="+mn-ea"/>
              </a:rPr>
              <a:t>、一战的特点：</a:t>
            </a:r>
            <a:r>
              <a:rPr lang="zh-CN" altLang="en-US" sz="2100" b="1">
                <a:solidFill>
                  <a:srgbClr val="FF0000"/>
                </a:solidFill>
                <a:sym typeface="+mn-ea"/>
              </a:rPr>
              <a:t>时间长、范围广、破坏性大。</a:t>
            </a:r>
          </a:p>
          <a:p>
            <a:pPr>
              <a:lnSpc>
                <a:spcPct val="100000"/>
              </a:lnSpc>
              <a:spcAft>
                <a:spcPts val="0"/>
              </a:spcAft>
            </a:pPr>
            <a:r>
              <a:rPr lang="en-US" altLang="zh-CN" sz="2100" b="1">
                <a:sym typeface="+mn-ea"/>
              </a:rPr>
              <a:t>9</a:t>
            </a:r>
            <a:r>
              <a:rPr lang="zh-CN" altLang="en-US" sz="2100" b="1">
                <a:sym typeface="+mn-ea"/>
              </a:rPr>
              <a:t>、德国法西斯：</a:t>
            </a:r>
            <a:r>
              <a:rPr lang="zh-CN" altLang="en-US" sz="2100" b="1">
                <a:solidFill>
                  <a:srgbClr val="FF0000"/>
                </a:solidFill>
                <a:sym typeface="+mn-ea"/>
              </a:rPr>
              <a:t>1933年，希特勒建立法西斯政权，标志着二战欧洲战争策源地形成。</a:t>
            </a:r>
          </a:p>
          <a:p>
            <a:pPr algn="l">
              <a:lnSpc>
                <a:spcPct val="100000"/>
              </a:lnSpc>
              <a:spcAft>
                <a:spcPts val="0"/>
              </a:spcAft>
              <a:buClrTx/>
              <a:buSzTx/>
            </a:pPr>
            <a:r>
              <a:rPr lang="en-US" altLang="zh-CN" sz="2100" b="1">
                <a:sym typeface="+mn-ea"/>
              </a:rPr>
              <a:t>10</a:t>
            </a:r>
            <a:r>
              <a:rPr lang="zh-CN" altLang="en-US" sz="2100" b="1">
                <a:sym typeface="+mn-ea"/>
              </a:rPr>
              <a:t>、日本法西斯：</a:t>
            </a:r>
            <a:r>
              <a:rPr lang="zh-CN" altLang="en-US" sz="2100" b="1">
                <a:solidFill>
                  <a:srgbClr val="FF0000"/>
                </a:solidFill>
                <a:sym typeface="+mn-ea"/>
              </a:rPr>
              <a:t>1936年，广田弘毅上台组阁，标志着二战亚洲战争策源地形成。</a:t>
            </a:r>
          </a:p>
          <a:p>
            <a:pPr>
              <a:lnSpc>
                <a:spcPct val="100000"/>
              </a:lnSpc>
              <a:spcAft>
                <a:spcPts val="0"/>
              </a:spcAft>
            </a:pPr>
            <a:r>
              <a:rPr lang="en-US" altLang="zh-CN" sz="2100" b="1">
                <a:sym typeface="+mn-ea"/>
              </a:rPr>
              <a:t>11</a:t>
            </a:r>
            <a:r>
              <a:rPr lang="zh-CN" altLang="en-US" sz="2100" b="1">
                <a:sym typeface="+mn-ea"/>
              </a:rPr>
              <a:t>、经济大危机的特点：</a:t>
            </a:r>
            <a:r>
              <a:rPr lang="zh-CN" altLang="en-US" sz="2100" b="1">
                <a:solidFill>
                  <a:srgbClr val="FF0000"/>
                </a:solidFill>
                <a:sym typeface="+mn-ea"/>
              </a:rPr>
              <a:t>时间长、范围广、破坏性大。</a:t>
            </a:r>
          </a:p>
          <a:p>
            <a:pPr algn="l">
              <a:lnSpc>
                <a:spcPct val="100000"/>
              </a:lnSpc>
              <a:spcAft>
                <a:spcPts val="0"/>
              </a:spcAft>
              <a:buClrTx/>
              <a:buSzTx/>
            </a:pPr>
            <a:r>
              <a:rPr lang="en-US" altLang="zh-CN" sz="2100" b="1">
                <a:sym typeface="+mn-ea"/>
              </a:rPr>
              <a:t>12</a:t>
            </a:r>
            <a:r>
              <a:rPr lang="zh-CN" altLang="en-US" sz="2100" b="1">
                <a:sym typeface="+mn-ea"/>
              </a:rPr>
              <a:t>、经济大危机的根因：</a:t>
            </a:r>
            <a:r>
              <a:rPr lang="zh-CN" altLang="en-US" sz="2100" b="1">
                <a:solidFill>
                  <a:srgbClr val="FF0000"/>
                </a:solidFill>
                <a:sym typeface="+mn-ea"/>
              </a:rPr>
              <a:t>资本主义制度的基本矛盾。</a:t>
            </a:r>
          </a:p>
          <a:p>
            <a:pPr algn="l">
              <a:lnSpc>
                <a:spcPct val="100000"/>
              </a:lnSpc>
              <a:spcAft>
                <a:spcPts val="0"/>
              </a:spcAft>
              <a:buClrTx/>
              <a:buSzTx/>
            </a:pPr>
            <a:r>
              <a:rPr lang="en-US" altLang="zh-CN" sz="2100" b="1">
                <a:sym typeface="+mn-ea"/>
              </a:rPr>
              <a:t>13</a:t>
            </a:r>
            <a:r>
              <a:rPr lang="zh-CN" altLang="en-US" sz="2100" b="1">
                <a:sym typeface="+mn-ea"/>
              </a:rPr>
              <a:t>、经济大危机的影响：</a:t>
            </a:r>
            <a:r>
              <a:rPr lang="zh-CN" altLang="en-US" sz="2100" b="1">
                <a:solidFill>
                  <a:srgbClr val="FF0000"/>
                </a:solidFill>
                <a:sym typeface="+mn-ea"/>
              </a:rPr>
              <a:t>对资本主义国家经济发展造成重创，激化了国家矛盾；美国通过罗斯福新政走出困局；德、日建立法西斯政权，走上对外侵略的道路。</a:t>
            </a:r>
          </a:p>
          <a:p>
            <a:pPr>
              <a:lnSpc>
                <a:spcPct val="100000"/>
              </a:lnSpc>
              <a:spcAft>
                <a:spcPts val="0"/>
              </a:spcAft>
            </a:pPr>
            <a:r>
              <a:rPr lang="en-US" altLang="zh-CN" sz="2100" b="1">
                <a:sym typeface="+mn-ea"/>
              </a:rPr>
              <a:t>14</a:t>
            </a:r>
            <a:r>
              <a:rPr lang="zh-CN" altLang="en-US" sz="2100" b="1">
                <a:sym typeface="+mn-ea"/>
              </a:rPr>
              <a:t>、罗斯福新政的时间：</a:t>
            </a:r>
            <a:r>
              <a:rPr lang="zh-CN" altLang="en-US" sz="2100" b="1">
                <a:solidFill>
                  <a:srgbClr val="FF0000"/>
                </a:solidFill>
                <a:sym typeface="+mn-ea"/>
              </a:rPr>
              <a:t>1933 </a:t>
            </a:r>
            <a:r>
              <a:rPr lang="en-US" altLang="zh-CN" sz="2100" b="1">
                <a:sym typeface="+mn-ea"/>
              </a:rPr>
              <a:t>        </a:t>
            </a:r>
            <a:r>
              <a:rPr lang="zh-CN" altLang="en-US" sz="2100" b="1">
                <a:sym typeface="+mn-ea"/>
              </a:rPr>
              <a:t>直接目的：</a:t>
            </a:r>
            <a:r>
              <a:rPr lang="zh-CN" altLang="en-US" sz="2100" b="1">
                <a:solidFill>
                  <a:srgbClr val="FF0000"/>
                </a:solidFill>
                <a:sym typeface="+mn-ea"/>
              </a:rPr>
              <a:t>应对经济大危机</a:t>
            </a:r>
            <a:r>
              <a:rPr lang="en-US" altLang="zh-CN" sz="2100" b="1">
                <a:sym typeface="+mn-ea"/>
              </a:rPr>
              <a:t>  </a:t>
            </a:r>
          </a:p>
          <a:p>
            <a:pPr>
              <a:lnSpc>
                <a:spcPct val="100000"/>
              </a:lnSpc>
              <a:spcAft>
                <a:spcPts val="0"/>
              </a:spcAft>
            </a:pPr>
            <a:r>
              <a:rPr lang="zh-CN" altLang="en-US" sz="2100" b="1">
                <a:sym typeface="+mn-ea"/>
              </a:rPr>
              <a:t>根本目的：</a:t>
            </a:r>
            <a:r>
              <a:rPr lang="zh-CN" altLang="en-US" sz="2100" b="1">
                <a:solidFill>
                  <a:srgbClr val="FF0000"/>
                </a:solidFill>
                <a:sym typeface="+mn-ea"/>
              </a:rPr>
              <a:t>维护资本主义制度，巩固资产阶级统治</a:t>
            </a:r>
          </a:p>
          <a:p>
            <a:pPr>
              <a:lnSpc>
                <a:spcPct val="100000"/>
              </a:lnSpc>
              <a:spcAft>
                <a:spcPts val="0"/>
              </a:spcAft>
            </a:pPr>
            <a:r>
              <a:rPr lang="en-US" altLang="zh-CN" sz="2100" b="1">
                <a:sym typeface="+mn-ea"/>
              </a:rPr>
              <a:t>15</a:t>
            </a:r>
            <a:r>
              <a:rPr lang="zh-CN" altLang="en-US" sz="2100" b="1">
                <a:sym typeface="+mn-ea"/>
              </a:rPr>
              <a:t>、罗斯福新政的核心措施：</a:t>
            </a:r>
            <a:r>
              <a:rPr lang="zh-CN" altLang="en-US" sz="2100" b="1">
                <a:solidFill>
                  <a:srgbClr val="FF0000"/>
                </a:solidFill>
                <a:sym typeface="+mn-ea"/>
              </a:rPr>
              <a:t>加强对工业的计划指导，《全国工业复兴法》</a:t>
            </a:r>
          </a:p>
          <a:p>
            <a:pPr>
              <a:lnSpc>
                <a:spcPct val="100000"/>
              </a:lnSpc>
              <a:spcAft>
                <a:spcPts val="0"/>
              </a:spcAft>
            </a:pPr>
            <a:r>
              <a:rPr lang="zh-CN" altLang="en-US" sz="2100" b="1">
                <a:sym typeface="+mn-ea"/>
              </a:rPr>
              <a:t>1</a:t>
            </a:r>
            <a:r>
              <a:rPr lang="en-US" altLang="zh-CN" sz="2100" b="1">
                <a:sym typeface="+mn-ea"/>
              </a:rPr>
              <a:t>6</a:t>
            </a:r>
            <a:r>
              <a:rPr lang="zh-CN" altLang="en-US" sz="2100" b="1">
                <a:sym typeface="+mn-ea"/>
              </a:rPr>
              <a:t>、罗斯福新政的特点：</a:t>
            </a:r>
            <a:r>
              <a:rPr lang="zh-CN" altLang="en-US" sz="2100" b="1">
                <a:solidFill>
                  <a:srgbClr val="FF0000"/>
                </a:solidFill>
                <a:sym typeface="+mn-ea"/>
              </a:rPr>
              <a:t>加强国家对经济的干预和指导。</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03835" y="144780"/>
            <a:ext cx="11848465" cy="6387465"/>
          </a:xfrm>
        </p:spPr>
        <p:txBody>
          <a:bodyPr>
            <a:noAutofit/>
          </a:bodyPr>
          <a:lstStyle/>
          <a:p>
            <a:pPr algn="l">
              <a:lnSpc>
                <a:spcPct val="100000"/>
              </a:lnSpc>
              <a:spcAft>
                <a:spcPts val="0"/>
              </a:spcAft>
              <a:buClrTx/>
              <a:buSzTx/>
            </a:pPr>
            <a:r>
              <a:rPr lang="en-US" altLang="zh-CN" sz="2000" b="1">
                <a:sym typeface="+mn-ea"/>
              </a:rPr>
              <a:t>1</a:t>
            </a:r>
            <a:r>
              <a:rPr lang="zh-CN" altLang="en-US" sz="2000" b="1">
                <a:sym typeface="+mn-ea"/>
              </a:rPr>
              <a:t>、一战时间：</a:t>
            </a:r>
            <a:r>
              <a:rPr lang="zh-CN" altLang="en-US" sz="2000" b="1">
                <a:solidFill>
                  <a:srgbClr val="FF0000"/>
                </a:solidFill>
                <a:sym typeface="+mn-ea"/>
              </a:rPr>
              <a:t>1914-1918年</a:t>
            </a:r>
          </a:p>
          <a:p>
            <a:pPr algn="l">
              <a:lnSpc>
                <a:spcPct val="100000"/>
              </a:lnSpc>
              <a:spcAft>
                <a:spcPts val="0"/>
              </a:spcAft>
              <a:buClrTx/>
              <a:buSzTx/>
            </a:pPr>
            <a:r>
              <a:rPr lang="zh-CN" altLang="en-US" sz="2000" b="1">
                <a:sym typeface="+mn-ea"/>
              </a:rPr>
              <a:t>2、三国同盟：</a:t>
            </a:r>
            <a:r>
              <a:rPr lang="zh-CN" altLang="en-US" sz="2000" b="1">
                <a:solidFill>
                  <a:srgbClr val="FF0000"/>
                </a:solidFill>
                <a:sym typeface="+mn-ea"/>
              </a:rPr>
              <a:t>德意奥匈（失败）</a:t>
            </a:r>
            <a:r>
              <a:rPr lang="en-US" altLang="zh-CN" sz="2000" b="1">
                <a:sym typeface="+mn-ea"/>
              </a:rPr>
              <a:t>   </a:t>
            </a:r>
            <a:r>
              <a:rPr lang="zh-CN" altLang="en-US" sz="2000" b="1">
                <a:sym typeface="+mn-ea"/>
              </a:rPr>
              <a:t>三国协约：</a:t>
            </a:r>
            <a:r>
              <a:rPr lang="zh-CN" altLang="en-US" sz="2000" b="1">
                <a:solidFill>
                  <a:srgbClr val="FF0000"/>
                </a:solidFill>
                <a:sym typeface="+mn-ea"/>
              </a:rPr>
              <a:t>英法俄（胜利）</a:t>
            </a:r>
          </a:p>
          <a:p>
            <a:pPr>
              <a:lnSpc>
                <a:spcPct val="100000"/>
              </a:lnSpc>
              <a:spcAft>
                <a:spcPts val="0"/>
              </a:spcAft>
            </a:pPr>
            <a:r>
              <a:rPr lang="en-US" altLang="zh-CN" sz="2000" b="1">
                <a:sym typeface="+mn-ea"/>
              </a:rPr>
              <a:t>3</a:t>
            </a:r>
            <a:r>
              <a:rPr lang="zh-CN" altLang="en-US" sz="2000" b="1">
                <a:sym typeface="+mn-ea"/>
              </a:rPr>
              <a:t>、一战根因：</a:t>
            </a:r>
            <a:r>
              <a:rPr lang="zh-CN" altLang="en-US" sz="2000" b="1">
                <a:solidFill>
                  <a:srgbClr val="FF0000"/>
                </a:solidFill>
                <a:sym typeface="+mn-ea"/>
              </a:rPr>
              <a:t>帝国主义国家政治经济发展不平衡     </a:t>
            </a:r>
            <a:r>
              <a:rPr lang="zh-CN" altLang="en-US" sz="2000" b="1">
                <a:sym typeface="+mn-ea"/>
              </a:rPr>
              <a:t>直接原因：</a:t>
            </a:r>
            <a:r>
              <a:rPr lang="zh-CN" altLang="en-US" sz="2000" b="1">
                <a:solidFill>
                  <a:srgbClr val="FF0000"/>
                </a:solidFill>
                <a:sym typeface="+mn-ea"/>
              </a:rPr>
              <a:t>萨拉热窝事件</a:t>
            </a:r>
          </a:p>
          <a:p>
            <a:pPr>
              <a:lnSpc>
                <a:spcPct val="100000"/>
              </a:lnSpc>
              <a:spcAft>
                <a:spcPts val="0"/>
              </a:spcAft>
            </a:pPr>
            <a:r>
              <a:rPr lang="en-US" altLang="zh-CN" sz="2000" b="1">
                <a:sym typeface="+mn-ea"/>
              </a:rPr>
              <a:t>4</a:t>
            </a:r>
            <a:r>
              <a:rPr lang="zh-CN" altLang="en-US" sz="2000" b="1">
                <a:sym typeface="+mn-ea"/>
              </a:rPr>
              <a:t>、一战转折：</a:t>
            </a:r>
            <a:r>
              <a:rPr lang="zh-CN" altLang="en-US" sz="2000" b="1">
                <a:solidFill>
                  <a:srgbClr val="FF0000"/>
                </a:solidFill>
                <a:sym typeface="+mn-ea"/>
              </a:rPr>
              <a:t>凡尔登战役。</a:t>
            </a:r>
            <a:endParaRPr lang="zh-CN" altLang="en-US" sz="2000" b="1">
              <a:sym typeface="+mn-ea"/>
            </a:endParaRPr>
          </a:p>
          <a:p>
            <a:pPr>
              <a:lnSpc>
                <a:spcPct val="100000"/>
              </a:lnSpc>
              <a:spcAft>
                <a:spcPts val="0"/>
              </a:spcAft>
            </a:pPr>
            <a:r>
              <a:rPr lang="en-US" altLang="zh-CN" sz="2000" b="1">
                <a:sym typeface="+mn-ea"/>
              </a:rPr>
              <a:t>5</a:t>
            </a:r>
            <a:r>
              <a:rPr lang="zh-CN" altLang="en-US" sz="2000" b="1">
                <a:sym typeface="+mn-ea"/>
              </a:rPr>
              <a:t>、一战的性质：</a:t>
            </a:r>
            <a:r>
              <a:rPr lang="zh-CN" altLang="en-US" sz="2000" b="1">
                <a:solidFill>
                  <a:srgbClr val="FF0000"/>
                </a:solidFill>
                <a:sym typeface="+mn-ea"/>
              </a:rPr>
              <a:t>帝国主义瓜分世界、争夺世界霸权的战争</a:t>
            </a:r>
          </a:p>
          <a:p>
            <a:pPr>
              <a:spcAft>
                <a:spcPts val="0"/>
              </a:spcAft>
            </a:pPr>
            <a:r>
              <a:rPr lang="en-US" altLang="zh-CN" sz="2000" b="1">
                <a:sym typeface="+mn-ea"/>
              </a:rPr>
              <a:t>6</a:t>
            </a:r>
            <a:r>
              <a:rPr lang="zh-CN" altLang="en-US" sz="2000" b="1">
                <a:sym typeface="+mn-ea"/>
              </a:rPr>
              <a:t>、一战的特点：</a:t>
            </a:r>
            <a:r>
              <a:rPr lang="zh-CN" altLang="en-US" sz="2000" b="1">
                <a:solidFill>
                  <a:srgbClr val="FF0000"/>
                </a:solidFill>
                <a:sym typeface="+mn-ea"/>
              </a:rPr>
              <a:t>时间长、范围广、破坏性大。</a:t>
            </a:r>
          </a:p>
          <a:p>
            <a:pPr>
              <a:spcAft>
                <a:spcPts val="0"/>
              </a:spcAft>
            </a:pPr>
            <a:r>
              <a:rPr lang="en-US" altLang="zh-CN" sz="2000" b="1">
                <a:sym typeface="+mn-ea"/>
              </a:rPr>
              <a:t>7</a:t>
            </a:r>
            <a:r>
              <a:rPr lang="zh-CN" altLang="en-US" sz="2000" b="1">
                <a:sym typeface="+mn-ea"/>
              </a:rPr>
              <a:t>、巴黎和会：</a:t>
            </a:r>
            <a:r>
              <a:rPr lang="zh-CN" altLang="en-US" sz="2000" b="1">
                <a:solidFill>
                  <a:srgbClr val="FF0000"/>
                </a:solidFill>
                <a:sym typeface="+mn-ea"/>
              </a:rPr>
              <a:t>1919年</a:t>
            </a:r>
            <a:r>
              <a:rPr lang="en-US" altLang="zh-CN" sz="2000" b="1">
                <a:sym typeface="+mn-ea"/>
              </a:rPr>
              <a:t> </a:t>
            </a:r>
            <a:r>
              <a:rPr lang="zh-CN" altLang="en-US" sz="2000" b="1">
                <a:sym typeface="+mn-ea"/>
              </a:rPr>
              <a:t>主导国：</a:t>
            </a:r>
            <a:r>
              <a:rPr lang="zh-CN" altLang="en-US" sz="2000" b="1">
                <a:solidFill>
                  <a:srgbClr val="FF0000"/>
                </a:solidFill>
                <a:sym typeface="+mn-ea"/>
              </a:rPr>
              <a:t>英、法、美   《凡尔赛条约》调整帝国主义在欧洲地区的关系</a:t>
            </a:r>
          </a:p>
          <a:p>
            <a:pPr>
              <a:spcAft>
                <a:spcPts val="0"/>
              </a:spcAft>
            </a:pPr>
            <a:r>
              <a:rPr lang="zh-CN" altLang="en-US" sz="2000" b="1">
                <a:solidFill>
                  <a:srgbClr val="FF0000"/>
                </a:solidFill>
                <a:sym typeface="+mn-ea"/>
              </a:rPr>
              <a:t> 国际联盟（美国提出，英法操纵世界的工具，战败国、俄、美没加入）</a:t>
            </a:r>
          </a:p>
          <a:p>
            <a:pPr>
              <a:spcAft>
                <a:spcPts val="0"/>
              </a:spcAft>
            </a:pPr>
            <a:r>
              <a:rPr lang="en-US" altLang="zh-CN" sz="2000" b="1">
                <a:sym typeface="+mn-ea"/>
              </a:rPr>
              <a:t>8</a:t>
            </a:r>
            <a:r>
              <a:rPr lang="zh-CN" altLang="en-US" sz="2000" b="1">
                <a:sym typeface="+mn-ea"/>
              </a:rPr>
              <a:t>、华盛顿会议：</a:t>
            </a:r>
            <a:r>
              <a:rPr lang="zh-CN" altLang="en-US" sz="2000" b="1">
                <a:solidFill>
                  <a:srgbClr val="FF0000"/>
                </a:solidFill>
                <a:sym typeface="+mn-ea"/>
              </a:rPr>
              <a:t>1922年，主导国：美国  《九国公约》   调整帝国主义在亚太地区的关系</a:t>
            </a:r>
          </a:p>
          <a:p>
            <a:pPr>
              <a:spcAft>
                <a:spcPts val="0"/>
              </a:spcAft>
            </a:pPr>
            <a:r>
              <a:rPr lang="en-US" altLang="zh-CN" sz="2000" b="1">
                <a:sym typeface="+mn-ea"/>
              </a:rPr>
              <a:t>9</a:t>
            </a:r>
            <a:r>
              <a:rPr lang="zh-CN" altLang="en-US" sz="2000" b="1">
                <a:sym typeface="+mn-ea"/>
              </a:rPr>
              <a:t>、华盛顿会议的影响：</a:t>
            </a:r>
            <a:r>
              <a:rPr lang="zh-CN" altLang="en-US" sz="2000" b="1">
                <a:solidFill>
                  <a:srgbClr val="FF0000"/>
                </a:solidFill>
                <a:sym typeface="+mn-ea"/>
              </a:rPr>
              <a:t>中国回到几个帝国主义国家共同支配的局面；美国实现</a:t>
            </a:r>
            <a:r>
              <a:rPr lang="en-US" altLang="zh-CN" sz="2000" b="1">
                <a:solidFill>
                  <a:srgbClr val="FF0000"/>
                </a:solidFill>
                <a:sym typeface="+mn-ea"/>
              </a:rPr>
              <a:t>“</a:t>
            </a:r>
            <a:r>
              <a:rPr lang="zh-CN" altLang="en-US" sz="2000" b="1">
                <a:solidFill>
                  <a:srgbClr val="FF0000"/>
                </a:solidFill>
                <a:sym typeface="+mn-ea"/>
              </a:rPr>
              <a:t>门户开放</a:t>
            </a:r>
            <a:r>
              <a:rPr lang="en-US" altLang="zh-CN" sz="2000" b="1">
                <a:solidFill>
                  <a:srgbClr val="FF0000"/>
                </a:solidFill>
                <a:sym typeface="+mn-ea"/>
              </a:rPr>
              <a:t>”</a:t>
            </a:r>
            <a:r>
              <a:rPr lang="zh-CN" altLang="en-US" sz="2000" b="1">
                <a:solidFill>
                  <a:srgbClr val="FF0000"/>
                </a:solidFill>
                <a:sym typeface="+mn-ea"/>
              </a:rPr>
              <a:t>政策。</a:t>
            </a:r>
          </a:p>
          <a:p>
            <a:pPr algn="l">
              <a:lnSpc>
                <a:spcPct val="100000"/>
              </a:lnSpc>
              <a:spcAft>
                <a:spcPts val="0"/>
              </a:spcAft>
              <a:buClrTx/>
              <a:buSzTx/>
            </a:pPr>
            <a:r>
              <a:rPr lang="en-US" altLang="zh-CN" sz="2000" b="1">
                <a:sym typeface="+mn-ea"/>
              </a:rPr>
              <a:t>10</a:t>
            </a:r>
            <a:r>
              <a:rPr lang="zh-CN" altLang="en-US" sz="2000" b="1">
                <a:sym typeface="+mn-ea"/>
              </a:rPr>
              <a:t>、一战后的国际秩序：</a:t>
            </a:r>
            <a:r>
              <a:rPr lang="zh-CN" altLang="en-US" sz="2000" b="1">
                <a:solidFill>
                  <a:srgbClr val="FF0000"/>
                </a:solidFill>
                <a:sym typeface="+mn-ea"/>
              </a:rPr>
              <a:t>凡尔赛—华盛顿体系</a:t>
            </a:r>
          </a:p>
          <a:p>
            <a:pPr algn="l">
              <a:lnSpc>
                <a:spcPct val="100000"/>
              </a:lnSpc>
              <a:spcAft>
                <a:spcPts val="0"/>
              </a:spcAft>
              <a:buClrTx/>
              <a:buSzTx/>
            </a:pPr>
            <a:r>
              <a:rPr lang="en-US" altLang="zh-CN" sz="2000" b="1">
                <a:sym typeface="+mn-ea"/>
              </a:rPr>
              <a:t>11</a:t>
            </a:r>
            <a:r>
              <a:rPr lang="zh-CN" altLang="en-US" sz="2000" b="1">
                <a:sym typeface="+mn-ea"/>
              </a:rPr>
              <a:t>、一战的影响：</a:t>
            </a:r>
            <a:r>
              <a:rPr lang="zh-CN" altLang="en-US" sz="2000" b="1">
                <a:solidFill>
                  <a:srgbClr val="FF0000"/>
                </a:solidFill>
                <a:latin typeface="Calibri" panose="020F0502020204030204" charset="0"/>
                <a:sym typeface="+mn-ea"/>
              </a:rPr>
              <a:t>①</a:t>
            </a:r>
            <a:r>
              <a:rPr lang="zh-CN" altLang="en-US" sz="2000" b="1">
                <a:solidFill>
                  <a:srgbClr val="FF0000"/>
                </a:solidFill>
                <a:sym typeface="+mn-ea"/>
              </a:rPr>
              <a:t>人类历史上一次规模空前的战争，造成巨大人力、物力损失。</a:t>
            </a:r>
            <a:r>
              <a:rPr lang="zh-CN" altLang="en-US" sz="2000" b="1">
                <a:solidFill>
                  <a:srgbClr val="FF0000"/>
                </a:solidFill>
                <a:latin typeface="Calibri" panose="020F0502020204030204" charset="0"/>
                <a:sym typeface="+mn-ea"/>
              </a:rPr>
              <a:t>②</a:t>
            </a:r>
            <a:r>
              <a:rPr lang="zh-CN" altLang="en-US" sz="2000" b="1">
                <a:solidFill>
                  <a:srgbClr val="FF0000"/>
                </a:solidFill>
                <a:sym typeface="+mn-ea"/>
              </a:rPr>
              <a:t>大大削弱了帝国主义的力量，根本上动摇了欧洲的优势地位。</a:t>
            </a:r>
            <a:r>
              <a:rPr lang="zh-CN" altLang="en-US" sz="2000" b="1">
                <a:solidFill>
                  <a:srgbClr val="FF0000"/>
                </a:solidFill>
                <a:latin typeface="Calibri" panose="020F0502020204030204" charset="0"/>
                <a:sym typeface="+mn-ea"/>
              </a:rPr>
              <a:t>③</a:t>
            </a:r>
            <a:r>
              <a:rPr lang="zh-CN" altLang="en-US" sz="2000" b="1">
                <a:solidFill>
                  <a:srgbClr val="FF0000"/>
                </a:solidFill>
                <a:sym typeface="+mn-ea"/>
              </a:rPr>
              <a:t>削弱帝国主义的殖民力量，促进了殖民地半殖民地国家的民族觉醒。</a:t>
            </a:r>
            <a:r>
              <a:rPr lang="zh-CN" altLang="en-US" sz="2000" b="1">
                <a:solidFill>
                  <a:srgbClr val="FF0000"/>
                </a:solidFill>
                <a:latin typeface="Calibri" panose="020F0502020204030204" charset="0"/>
                <a:sym typeface="+mn-ea"/>
              </a:rPr>
              <a:t>④</a:t>
            </a:r>
            <a:r>
              <a:rPr lang="zh-CN" altLang="en-US" sz="2000" b="1">
                <a:solidFill>
                  <a:srgbClr val="FF0000"/>
                </a:solidFill>
                <a:sym typeface="+mn-ea"/>
              </a:rPr>
              <a:t>列强忙于战争，暂时放松了对中国的经济侵略，有利于中国民族资本主义发展。</a:t>
            </a:r>
          </a:p>
          <a:p>
            <a:pPr algn="l">
              <a:lnSpc>
                <a:spcPct val="100000"/>
              </a:lnSpc>
              <a:spcAft>
                <a:spcPts val="0"/>
              </a:spcAft>
              <a:buClrTx/>
              <a:buSzTx/>
            </a:pPr>
            <a:r>
              <a:rPr lang="en-US" altLang="zh-CN" sz="2000">
                <a:sym typeface="+mn-ea"/>
              </a:rPr>
              <a:t>1</a:t>
            </a:r>
            <a:r>
              <a:rPr lang="zh-CN" altLang="en-US" sz="2000">
                <a:sym typeface="+mn-ea"/>
              </a:rPr>
              <a:t>、二战的影响：</a:t>
            </a:r>
            <a:r>
              <a:rPr lang="zh-CN" altLang="en-US" sz="2000">
                <a:solidFill>
                  <a:srgbClr val="FF0000"/>
                </a:solidFill>
                <a:sym typeface="+mn-ea"/>
              </a:rPr>
              <a:t>1939-1945年，第二次世界大战时人类历史上规模空前的战争，给人类文明造成巨大伤害。 第二次世界大战胜利的影响</a:t>
            </a:r>
            <a:r>
              <a:rPr lang="en-US" altLang="zh-CN" sz="2000">
                <a:solidFill>
                  <a:srgbClr val="FF0000"/>
                </a:solidFill>
                <a:sym typeface="+mn-ea"/>
              </a:rPr>
              <a:t>: </a:t>
            </a:r>
            <a:r>
              <a:rPr lang="zh-CN" altLang="en-US" sz="2000">
                <a:solidFill>
                  <a:srgbClr val="FF0000"/>
                </a:solidFill>
                <a:sym typeface="+mn-ea"/>
              </a:rPr>
              <a:t>彻底粉碎了法西斯主义和军国主义通过战争称霸世界的野心，对维护世界和平、促进共同发展产生了重大而深远的影响。彻底结束了列强通过争夺殖民地瓜分世界的历史，促进了世界殖民体系的瓦解。</a:t>
            </a:r>
            <a:endParaRPr lang="zh-CN" altLang="en-US" sz="2000" b="1">
              <a:solidFill>
                <a:srgbClr val="FF0000"/>
              </a:solidFill>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a:xfrm>
            <a:off x="78105" y="188595"/>
            <a:ext cx="12313285" cy="6585585"/>
          </a:xfrm>
        </p:spPr>
        <p:txBody>
          <a:bodyPr>
            <a:noAutofit/>
          </a:bodyPr>
          <a:lstStyle/>
          <a:p>
            <a:pPr>
              <a:lnSpc>
                <a:spcPct val="100000"/>
              </a:lnSpc>
              <a:spcAft>
                <a:spcPts val="400"/>
              </a:spcAft>
            </a:pPr>
            <a:r>
              <a:rPr lang="en-US" altLang="zh-CN" sz="2400"/>
              <a:t>1</a:t>
            </a:r>
            <a:r>
              <a:rPr lang="zh-CN" altLang="en-US" sz="2400"/>
              <a:t>、冷战的根本原因：</a:t>
            </a:r>
            <a:r>
              <a:rPr lang="zh-CN" altLang="en-US" sz="2400" b="1">
                <a:solidFill>
                  <a:srgbClr val="FF0000"/>
                </a:solidFill>
              </a:rPr>
              <a:t>美苏两国国家利益</a:t>
            </a:r>
          </a:p>
          <a:p>
            <a:pPr algn="l">
              <a:lnSpc>
                <a:spcPct val="100000"/>
              </a:lnSpc>
              <a:spcAft>
                <a:spcPts val="400"/>
              </a:spcAft>
              <a:buClrTx/>
              <a:buSzTx/>
            </a:pPr>
            <a:r>
              <a:rPr lang="en-US" altLang="zh-CN" sz="2400"/>
              <a:t>2</a:t>
            </a:r>
            <a:r>
              <a:rPr lang="zh-CN" altLang="en-US" sz="2400"/>
              <a:t>、冷战开始：</a:t>
            </a:r>
            <a:r>
              <a:rPr lang="zh-CN" altLang="en-US" sz="2400" b="1">
                <a:solidFill>
                  <a:srgbClr val="FF0000"/>
                </a:solidFill>
              </a:rPr>
              <a:t>1947，杜鲁门主义（冷战在政治的表现）</a:t>
            </a:r>
          </a:p>
          <a:p>
            <a:pPr algn="l">
              <a:lnSpc>
                <a:spcPct val="100000"/>
              </a:lnSpc>
              <a:spcAft>
                <a:spcPts val="400"/>
              </a:spcAft>
              <a:buClrTx/>
              <a:buSzTx/>
            </a:pPr>
            <a:r>
              <a:rPr lang="en-US" altLang="zh-CN" sz="2400"/>
              <a:t>3</a:t>
            </a:r>
            <a:r>
              <a:rPr lang="zh-CN" altLang="en-US" sz="2400"/>
              <a:t>、冷战发展：</a:t>
            </a:r>
            <a:r>
              <a:rPr lang="zh-CN" altLang="en-US" sz="2400" b="1">
                <a:solidFill>
                  <a:srgbClr val="FF0000"/>
                </a:solidFill>
              </a:rPr>
              <a:t>马歇尔计划</a:t>
            </a:r>
            <a:r>
              <a:rPr lang="zh-CN" altLang="en-US" sz="2400" b="1">
                <a:solidFill>
                  <a:srgbClr val="FF0000"/>
                </a:solidFill>
                <a:sym typeface="+mn-ea"/>
              </a:rPr>
              <a:t>（冷战在经济的表现）</a:t>
            </a:r>
            <a:endParaRPr lang="zh-CN" altLang="en-US" sz="2400" b="1">
              <a:solidFill>
                <a:srgbClr val="FF0000"/>
              </a:solidFill>
            </a:endParaRPr>
          </a:p>
          <a:p>
            <a:pPr algn="l">
              <a:lnSpc>
                <a:spcPct val="100000"/>
              </a:lnSpc>
              <a:spcAft>
                <a:spcPts val="400"/>
              </a:spcAft>
              <a:buClrTx/>
              <a:buSzTx/>
            </a:pPr>
            <a:r>
              <a:rPr lang="en-US" altLang="zh-CN" sz="2400"/>
              <a:t>4</a:t>
            </a:r>
            <a:r>
              <a:rPr lang="zh-CN" altLang="en-US" sz="2400"/>
              <a:t>、冷战基本形成：</a:t>
            </a:r>
            <a:r>
              <a:rPr lang="zh-CN" altLang="en-US" sz="2400" b="1">
                <a:solidFill>
                  <a:srgbClr val="FF0000"/>
                </a:solidFill>
              </a:rPr>
              <a:t>德国分裂</a:t>
            </a:r>
          </a:p>
          <a:p>
            <a:pPr algn="l">
              <a:lnSpc>
                <a:spcPct val="100000"/>
              </a:lnSpc>
              <a:spcAft>
                <a:spcPts val="400"/>
              </a:spcAft>
              <a:buClrTx/>
              <a:buSzTx/>
            </a:pPr>
            <a:r>
              <a:rPr lang="en-US" altLang="zh-CN" sz="2400"/>
              <a:t>5</a:t>
            </a:r>
            <a:r>
              <a:rPr lang="zh-CN" altLang="en-US" sz="2400"/>
              <a:t>、冷战最终形成：</a:t>
            </a:r>
            <a:r>
              <a:rPr lang="zh-CN" altLang="en-US" sz="2400" b="1">
                <a:solidFill>
                  <a:srgbClr val="FF0000"/>
                </a:solidFill>
              </a:rPr>
              <a:t>北约（</a:t>
            </a:r>
            <a:r>
              <a:rPr lang="zh-CN" altLang="en-US" sz="2400" b="1">
                <a:solidFill>
                  <a:srgbClr val="FF0000"/>
                </a:solidFill>
                <a:sym typeface="+mn-ea"/>
              </a:rPr>
              <a:t>1949</a:t>
            </a:r>
            <a:r>
              <a:rPr lang="zh-CN" altLang="en-US" sz="2400" b="1">
                <a:solidFill>
                  <a:srgbClr val="FF0000"/>
                </a:solidFill>
              </a:rPr>
              <a:t>）和华约（1955）成立</a:t>
            </a:r>
            <a:r>
              <a:rPr lang="zh-CN" altLang="en-US" sz="2400" b="1">
                <a:solidFill>
                  <a:srgbClr val="FF0000"/>
                </a:solidFill>
                <a:sym typeface="+mn-ea"/>
              </a:rPr>
              <a:t>（冷战在军事的表现） 北约、华约的性质：军事政治组织。</a:t>
            </a:r>
          </a:p>
          <a:p>
            <a:pPr algn="l">
              <a:lnSpc>
                <a:spcPct val="100000"/>
              </a:lnSpc>
              <a:spcAft>
                <a:spcPts val="400"/>
              </a:spcAft>
              <a:buClrTx/>
              <a:buSzTx/>
            </a:pPr>
            <a:r>
              <a:rPr lang="en-US" altLang="zh-CN" sz="2400">
                <a:sym typeface="+mn-ea"/>
              </a:rPr>
              <a:t>6</a:t>
            </a:r>
            <a:r>
              <a:rPr lang="zh-CN" altLang="en-US" sz="2400">
                <a:sym typeface="+mn-ea"/>
              </a:rPr>
              <a:t>、冷战的时间：</a:t>
            </a:r>
            <a:r>
              <a:rPr lang="zh-CN" altLang="en-US" sz="2400" b="1">
                <a:solidFill>
                  <a:srgbClr val="FF0000"/>
                </a:solidFill>
                <a:sym typeface="+mn-ea"/>
              </a:rPr>
              <a:t>1947-1991年。</a:t>
            </a:r>
          </a:p>
          <a:p>
            <a:pPr algn="l">
              <a:lnSpc>
                <a:spcPct val="100000"/>
              </a:lnSpc>
              <a:spcAft>
                <a:spcPts val="400"/>
              </a:spcAft>
              <a:buClrTx/>
              <a:buSzTx/>
            </a:pPr>
            <a:r>
              <a:rPr lang="en-US" altLang="zh-CN" sz="2400">
                <a:sym typeface="+mn-ea"/>
              </a:rPr>
              <a:t>7</a:t>
            </a:r>
            <a:r>
              <a:rPr lang="zh-CN" altLang="en-US" sz="2400">
                <a:sym typeface="+mn-ea"/>
              </a:rPr>
              <a:t>、冷战实质：</a:t>
            </a:r>
            <a:r>
              <a:rPr lang="zh-CN" altLang="en-US" sz="2400" b="1">
                <a:solidFill>
                  <a:srgbClr val="FF0000"/>
                </a:solidFill>
                <a:sym typeface="+mn-ea"/>
              </a:rPr>
              <a:t>美苏两国争夺世界霸权</a:t>
            </a:r>
          </a:p>
          <a:p>
            <a:pPr algn="l">
              <a:lnSpc>
                <a:spcPct val="100000"/>
              </a:lnSpc>
              <a:spcAft>
                <a:spcPts val="400"/>
              </a:spcAft>
              <a:buClrTx/>
              <a:buSzTx/>
              <a:buFont typeface="Arial" panose="020B0604020202020204" pitchFamily="34" charset="0"/>
            </a:pPr>
            <a:r>
              <a:rPr lang="en-US" altLang="zh-CN" sz="2400">
                <a:sym typeface="+mn-ea"/>
              </a:rPr>
              <a:t>8</a:t>
            </a:r>
            <a:r>
              <a:rPr lang="zh-CN" altLang="en-US" sz="2400">
                <a:sym typeface="+mn-ea"/>
              </a:rPr>
              <a:t>、</a:t>
            </a:r>
            <a:r>
              <a:rPr lang="en-US" altLang="zh-CN" sz="2400">
                <a:sym typeface="+mn-ea"/>
              </a:rPr>
              <a:t>20</a:t>
            </a:r>
            <a:r>
              <a:rPr lang="zh-CN" altLang="en-US" sz="2400">
                <a:sym typeface="+mn-ea"/>
              </a:rPr>
              <a:t>世纪以来世界格局的变化：</a:t>
            </a:r>
            <a:r>
              <a:rPr lang="zh-CN" altLang="en-US" sz="2400" b="1">
                <a:solidFill>
                  <a:srgbClr val="FF0000"/>
                </a:solidFill>
                <a:sym typeface="+mn-ea"/>
              </a:rPr>
              <a:t>一战后，凡尔赛-华盛顿体系；二战后，两极格局；苏联解体后，一超多强，多极化趋势</a:t>
            </a:r>
          </a:p>
          <a:p>
            <a:pPr algn="l">
              <a:lnSpc>
                <a:spcPct val="100000"/>
              </a:lnSpc>
              <a:spcAft>
                <a:spcPts val="400"/>
              </a:spcAft>
              <a:buClrTx/>
              <a:buSzTx/>
              <a:buFont typeface="Arial" panose="020B0604020202020204" pitchFamily="34" charset="0"/>
            </a:pPr>
            <a:r>
              <a:rPr lang="zh-CN" altLang="en-US" sz="2400">
                <a:sym typeface="+mn-ea"/>
              </a:rPr>
              <a:t>9、当今世界政治、经济两大支柱：</a:t>
            </a:r>
            <a:r>
              <a:rPr lang="zh-CN" altLang="en-US" sz="2400" b="1">
                <a:solidFill>
                  <a:srgbClr val="FF0000"/>
                </a:solidFill>
                <a:sym typeface="+mn-ea"/>
              </a:rPr>
              <a:t>联合国、世贸组织。</a:t>
            </a:r>
          </a:p>
          <a:p>
            <a:pPr algn="l">
              <a:lnSpc>
                <a:spcPct val="100000"/>
              </a:lnSpc>
              <a:spcAft>
                <a:spcPts val="400"/>
              </a:spcAft>
              <a:buClrTx/>
              <a:buSzTx/>
              <a:buFont typeface="Arial" panose="020B0604020202020204" pitchFamily="34" charset="0"/>
            </a:pPr>
            <a:r>
              <a:rPr lang="en-US" altLang="zh-CN" sz="2400">
                <a:sym typeface="+mn-ea"/>
              </a:rPr>
              <a:t>10</a:t>
            </a:r>
            <a:r>
              <a:rPr lang="zh-CN" altLang="en-US" sz="2400">
                <a:sym typeface="+mn-ea"/>
              </a:rPr>
              <a:t>、推动多极化的力量有：</a:t>
            </a:r>
            <a:r>
              <a:rPr lang="zh-CN" altLang="en-US" sz="2400" b="1">
                <a:solidFill>
                  <a:srgbClr val="FF0000"/>
                </a:solidFill>
                <a:sym typeface="+mn-ea"/>
              </a:rPr>
              <a:t>俄、日、中、欧盟、发展中国家。</a:t>
            </a:r>
          </a:p>
          <a:p>
            <a:pPr algn="l">
              <a:lnSpc>
                <a:spcPct val="100000"/>
              </a:lnSpc>
              <a:spcAft>
                <a:spcPts val="400"/>
              </a:spcAft>
              <a:buClrTx/>
              <a:buSzTx/>
              <a:buFont typeface="Arial" panose="020B0604020202020204" pitchFamily="34" charset="0"/>
            </a:pPr>
            <a:r>
              <a:rPr lang="zh-CN" altLang="en-US" sz="2400">
                <a:sym typeface="+mn-ea"/>
              </a:rPr>
              <a:t>11、多极化趋势的表现：</a:t>
            </a:r>
            <a:r>
              <a:rPr lang="zh-CN" altLang="en-US" sz="2400" b="1">
                <a:solidFill>
                  <a:srgbClr val="FF0000"/>
                </a:solidFill>
                <a:sym typeface="+mn-ea"/>
              </a:rPr>
              <a:t>欧洲走向联合，实力增强，地位提高，在国际事务中发挥重要作用。日本积极谋求政治大国地位。中国通过改革开放，经济迅速发展，成为经济总量居世界第二的国家。俄罗斯地大物博，资源丰富，力求在国际舞台上扮演重要角色。发展中国家，联合起来，实力不断增强，国际影响力扩大。</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内容占位符 2"/>
          <p:cNvSpPr>
            <a:spLocks noGrp="1"/>
          </p:cNvSpPr>
          <p:nvPr>
            <p:ph idx="1"/>
          </p:nvPr>
        </p:nvSpPr>
        <p:spPr>
          <a:xfrm>
            <a:off x="144145" y="77153"/>
            <a:ext cx="7993063" cy="6076950"/>
          </a:xfrm>
        </p:spPr>
        <p:txBody>
          <a:bodyPr anchor="t" anchorCtr="0">
            <a:noAutofit/>
          </a:bodyPr>
          <a:lstStyle/>
          <a:p>
            <a:r>
              <a:rPr lang="zh-CN" altLang="en-US" sz="2400" b="1"/>
              <a:t>战时共产主义政策：</a:t>
            </a:r>
          </a:p>
          <a:p>
            <a:r>
              <a:rPr lang="zh-CN" altLang="en-US" sz="2400" b="1"/>
              <a:t>新经济政策的时间、领导人：</a:t>
            </a:r>
          </a:p>
          <a:p>
            <a:r>
              <a:rPr lang="zh-CN" altLang="en-US" sz="2400" b="1"/>
              <a:t>新经济政策的特点：</a:t>
            </a:r>
          </a:p>
          <a:p>
            <a:r>
              <a:rPr lang="zh-CN" altLang="en-US" sz="2400" b="1">
                <a:sym typeface="+mn-ea"/>
              </a:rPr>
              <a:t>苏联成立的时间：</a:t>
            </a:r>
            <a:endParaRPr lang="zh-CN" altLang="en-US" sz="2400" b="1"/>
          </a:p>
          <a:p>
            <a:r>
              <a:rPr lang="zh-CN" altLang="en-US" sz="2400" b="1">
                <a:sym typeface="+mn-ea"/>
              </a:rPr>
              <a:t>苏联两个五年计划的时间：</a:t>
            </a:r>
          </a:p>
          <a:p>
            <a:r>
              <a:rPr lang="zh-CN" altLang="en-US" sz="2400" b="1">
                <a:sym typeface="+mn-ea"/>
              </a:rPr>
              <a:t>苏联工业化的特点：</a:t>
            </a:r>
          </a:p>
          <a:p>
            <a:r>
              <a:rPr lang="zh-CN" altLang="en-US" sz="2400" b="1">
                <a:sym typeface="+mn-ea"/>
              </a:rPr>
              <a:t>苏联两个五年计划的影响：</a:t>
            </a:r>
          </a:p>
          <a:p>
            <a:endParaRPr lang="zh-CN" altLang="en-US" sz="2400" b="1">
              <a:sym typeface="+mn-ea"/>
            </a:endParaRPr>
          </a:p>
          <a:p>
            <a:r>
              <a:rPr lang="zh-CN" altLang="en-US" sz="2400" b="1"/>
              <a:t>苏联农业集体化开始的时间：</a:t>
            </a:r>
          </a:p>
          <a:p>
            <a:r>
              <a:rPr lang="zh-CN" altLang="en-US" sz="2400" b="1">
                <a:sym typeface="+mn-ea"/>
              </a:rPr>
              <a:t>苏联模式的特点：</a:t>
            </a:r>
            <a:endParaRPr lang="zh-CN" altLang="en-US" sz="2400" b="1"/>
          </a:p>
          <a:p>
            <a:r>
              <a:rPr lang="zh-CN" altLang="en-US" sz="2400" b="1"/>
              <a:t>苏联模式建立的时间：</a:t>
            </a:r>
          </a:p>
        </p:txBody>
      </p:sp>
      <p:sp>
        <p:nvSpPr>
          <p:cNvPr id="4" name="文本框 3"/>
          <p:cNvSpPr txBox="1"/>
          <p:nvPr/>
        </p:nvSpPr>
        <p:spPr>
          <a:xfrm>
            <a:off x="4511675" y="780733"/>
            <a:ext cx="4895850" cy="829945"/>
          </a:xfrm>
          <a:prstGeom prst="rect">
            <a:avLst/>
          </a:prstGeom>
          <a:noFill/>
          <a:ln w="9525">
            <a:noFill/>
          </a:ln>
        </p:spPr>
        <p:txBody>
          <a:bodyPr wrap="square" anchor="t" anchorCtr="0">
            <a:spAutoFit/>
          </a:bodyPr>
          <a:lstStyle/>
          <a:p>
            <a:r>
              <a:rPr lang="en-US" altLang="zh-CN" sz="2400" b="1">
                <a:solidFill>
                  <a:srgbClr val="FF0000"/>
                </a:solidFill>
                <a:sym typeface="+mn-ea"/>
              </a:rPr>
              <a:t>1921</a:t>
            </a:r>
            <a:r>
              <a:rPr lang="zh-CN" altLang="en-US" sz="2400" b="1">
                <a:solidFill>
                  <a:srgbClr val="FF0000"/>
                </a:solidFill>
                <a:sym typeface="+mn-ea"/>
              </a:rPr>
              <a:t>，列宁，粮食税。</a:t>
            </a:r>
            <a:endParaRPr lang="zh-CN" altLang="en-US" sz="2400" b="1">
              <a:solidFill>
                <a:srgbClr val="FF0000"/>
              </a:solidFill>
              <a:latin typeface="Arial" panose="020B0604020202020204" pitchFamily="34" charset="0"/>
              <a:ea typeface="宋体" panose="02010600030101010101" pitchFamily="2" charset="-122"/>
            </a:endParaRPr>
          </a:p>
          <a:p>
            <a:endParaRPr lang="zh-CN" altLang="en-US" sz="2400" b="1">
              <a:solidFill>
                <a:srgbClr val="FF0000"/>
              </a:solidFill>
              <a:latin typeface="Arial" panose="020B0604020202020204" pitchFamily="34" charset="0"/>
              <a:ea typeface="宋体" panose="02010600030101010101" pitchFamily="2" charset="-122"/>
            </a:endParaRPr>
          </a:p>
        </p:txBody>
      </p:sp>
      <p:sp>
        <p:nvSpPr>
          <p:cNvPr id="5" name="文本框 4"/>
          <p:cNvSpPr txBox="1"/>
          <p:nvPr>
            <p:custDataLst>
              <p:tags r:id="rId1"/>
            </p:custDataLst>
          </p:nvPr>
        </p:nvSpPr>
        <p:spPr>
          <a:xfrm>
            <a:off x="3279775" y="3198495"/>
            <a:ext cx="5241925" cy="460375"/>
          </a:xfrm>
          <a:prstGeom prst="rect">
            <a:avLst/>
          </a:prstGeom>
          <a:noFill/>
          <a:ln w="9525">
            <a:noFill/>
          </a:ln>
        </p:spPr>
        <p:txBody>
          <a:bodyPr wrap="square" anchor="t" anchorCtr="0">
            <a:spAutoFit/>
          </a:bodyPr>
          <a:lstStyle/>
          <a:p>
            <a:r>
              <a:rPr lang="zh-CN" altLang="en-US" sz="2400" b="1">
                <a:solidFill>
                  <a:srgbClr val="FF0000"/>
                </a:solidFill>
                <a:latin typeface="Arial" panose="020B0604020202020204" pitchFamily="34" charset="0"/>
                <a:ea typeface="宋体" panose="02010600030101010101" pitchFamily="2" charset="-122"/>
              </a:rPr>
              <a:t>发展重工业，高度集中的指令性计划</a:t>
            </a:r>
          </a:p>
        </p:txBody>
      </p:sp>
      <p:sp>
        <p:nvSpPr>
          <p:cNvPr id="6" name="文本框 5"/>
          <p:cNvSpPr txBox="1"/>
          <p:nvPr>
            <p:custDataLst>
              <p:tags r:id="rId2"/>
            </p:custDataLst>
          </p:nvPr>
        </p:nvSpPr>
        <p:spPr>
          <a:xfrm>
            <a:off x="3279458" y="5324158"/>
            <a:ext cx="3976687" cy="829945"/>
          </a:xfrm>
          <a:prstGeom prst="rect">
            <a:avLst/>
          </a:prstGeom>
          <a:noFill/>
          <a:ln w="9525">
            <a:noFill/>
          </a:ln>
        </p:spPr>
        <p:txBody>
          <a:bodyPr wrap="square" anchor="t" anchorCtr="0">
            <a:spAutoFit/>
          </a:bodyPr>
          <a:lstStyle/>
          <a:p>
            <a:r>
              <a:rPr lang="zh-CN" altLang="en-US" sz="2400" b="1">
                <a:solidFill>
                  <a:srgbClr val="FF0000"/>
                </a:solidFill>
                <a:latin typeface="Arial" panose="020B0604020202020204" pitchFamily="34" charset="0"/>
                <a:ea typeface="宋体" panose="02010600030101010101" pitchFamily="2" charset="-122"/>
              </a:rPr>
              <a:t>高度集中的计划经济体制和高度集权的政治体制</a:t>
            </a:r>
          </a:p>
        </p:txBody>
      </p:sp>
      <p:sp>
        <p:nvSpPr>
          <p:cNvPr id="7" name="文本框 6"/>
          <p:cNvSpPr txBox="1"/>
          <p:nvPr>
            <p:custDataLst>
              <p:tags r:id="rId3"/>
            </p:custDataLst>
          </p:nvPr>
        </p:nvSpPr>
        <p:spPr>
          <a:xfrm>
            <a:off x="2962593" y="1989138"/>
            <a:ext cx="3976687" cy="460375"/>
          </a:xfrm>
          <a:prstGeom prst="rect">
            <a:avLst/>
          </a:prstGeom>
          <a:noFill/>
          <a:ln w="9525">
            <a:noFill/>
          </a:ln>
        </p:spPr>
        <p:txBody>
          <a:bodyPr wrap="square" anchor="t" anchorCtr="0">
            <a:spAutoFit/>
          </a:bodyPr>
          <a:lstStyle/>
          <a:p>
            <a:r>
              <a:rPr lang="en-US" altLang="zh-CN" sz="2400" b="1">
                <a:solidFill>
                  <a:srgbClr val="FF0000"/>
                </a:solidFill>
                <a:latin typeface="Arial" panose="020B0604020202020204" pitchFamily="34" charset="0"/>
                <a:ea typeface="宋体" panose="02010600030101010101" pitchFamily="2" charset="-122"/>
              </a:rPr>
              <a:t>1922</a:t>
            </a:r>
            <a:r>
              <a:rPr lang="zh-CN" altLang="en-US" sz="2400" b="1">
                <a:solidFill>
                  <a:srgbClr val="FF0000"/>
                </a:solidFill>
                <a:latin typeface="Arial" panose="020B0604020202020204" pitchFamily="34" charset="0"/>
                <a:ea typeface="宋体" panose="02010600030101010101" pitchFamily="2" charset="-122"/>
              </a:rPr>
              <a:t>，列宁</a:t>
            </a:r>
          </a:p>
        </p:txBody>
      </p:sp>
      <p:sp>
        <p:nvSpPr>
          <p:cNvPr id="8" name="文本框 7"/>
          <p:cNvSpPr txBox="1"/>
          <p:nvPr>
            <p:custDataLst>
              <p:tags r:id="rId4"/>
            </p:custDataLst>
          </p:nvPr>
        </p:nvSpPr>
        <p:spPr>
          <a:xfrm>
            <a:off x="4240848" y="2657475"/>
            <a:ext cx="3976687" cy="460375"/>
          </a:xfrm>
          <a:prstGeom prst="rect">
            <a:avLst/>
          </a:prstGeom>
          <a:noFill/>
          <a:ln w="9525">
            <a:noFill/>
          </a:ln>
        </p:spPr>
        <p:txBody>
          <a:bodyPr wrap="square" anchor="t" anchorCtr="0">
            <a:spAutoFit/>
          </a:bodyPr>
          <a:lstStyle/>
          <a:p>
            <a:r>
              <a:rPr lang="en-US" altLang="zh-CN" sz="2400" b="1">
                <a:solidFill>
                  <a:srgbClr val="FF0000"/>
                </a:solidFill>
                <a:latin typeface="Arial" panose="020B0604020202020204" pitchFamily="34" charset="0"/>
                <a:ea typeface="宋体" panose="02010600030101010101" pitchFamily="2" charset="-122"/>
              </a:rPr>
              <a:t>1928-1937</a:t>
            </a:r>
            <a:r>
              <a:rPr lang="zh-CN" altLang="en-US" sz="2400" b="1">
                <a:solidFill>
                  <a:srgbClr val="FF0000"/>
                </a:solidFill>
                <a:latin typeface="Arial" panose="020B0604020202020204" pitchFamily="34" charset="0"/>
                <a:ea typeface="宋体" panose="02010600030101010101" pitchFamily="2" charset="-122"/>
              </a:rPr>
              <a:t>，斯大林</a:t>
            </a:r>
          </a:p>
        </p:txBody>
      </p:sp>
      <p:sp>
        <p:nvSpPr>
          <p:cNvPr id="9" name="文本框 8"/>
          <p:cNvSpPr txBox="1"/>
          <p:nvPr>
            <p:custDataLst>
              <p:tags r:id="rId5"/>
            </p:custDataLst>
          </p:nvPr>
        </p:nvSpPr>
        <p:spPr>
          <a:xfrm>
            <a:off x="4679950" y="4975860"/>
            <a:ext cx="4926965" cy="460375"/>
          </a:xfrm>
          <a:prstGeom prst="rect">
            <a:avLst/>
          </a:prstGeom>
          <a:noFill/>
          <a:ln w="9525">
            <a:noFill/>
          </a:ln>
        </p:spPr>
        <p:txBody>
          <a:bodyPr wrap="square" anchor="t" anchorCtr="0">
            <a:spAutoFit/>
          </a:bodyPr>
          <a:lstStyle/>
          <a:p>
            <a:r>
              <a:rPr lang="en-US" altLang="zh-CN" sz="2400" b="1">
                <a:solidFill>
                  <a:srgbClr val="FF0000"/>
                </a:solidFill>
                <a:latin typeface="Arial" panose="020B0604020202020204" pitchFamily="34" charset="0"/>
                <a:ea typeface="宋体" panose="02010600030101010101" pitchFamily="2" charset="-122"/>
              </a:rPr>
              <a:t>20</a:t>
            </a:r>
            <a:r>
              <a:rPr lang="zh-CN" altLang="en-US" sz="2400" b="1">
                <a:solidFill>
                  <a:srgbClr val="FF0000"/>
                </a:solidFill>
                <a:latin typeface="Arial" panose="020B0604020202020204" pitchFamily="34" charset="0"/>
                <a:ea typeface="宋体" panose="02010600030101010101" pitchFamily="2" charset="-122"/>
              </a:rPr>
              <a:t>世纪</a:t>
            </a:r>
            <a:r>
              <a:rPr lang="en-US" altLang="zh-CN" sz="2400" b="1">
                <a:solidFill>
                  <a:srgbClr val="FF0000"/>
                </a:solidFill>
                <a:latin typeface="Arial" panose="020B0604020202020204" pitchFamily="34" charset="0"/>
                <a:ea typeface="宋体" panose="02010600030101010101" pitchFamily="2" charset="-122"/>
              </a:rPr>
              <a:t>30</a:t>
            </a:r>
            <a:r>
              <a:rPr lang="zh-CN" altLang="en-US" sz="2400" b="1">
                <a:solidFill>
                  <a:srgbClr val="FF0000"/>
                </a:solidFill>
                <a:latin typeface="Arial" panose="020B0604020202020204" pitchFamily="34" charset="0"/>
                <a:ea typeface="宋体" panose="02010600030101010101" pitchFamily="2" charset="-122"/>
              </a:rPr>
              <a:t>年代，斯大林，集体农庄</a:t>
            </a:r>
          </a:p>
        </p:txBody>
      </p:sp>
      <p:sp>
        <p:nvSpPr>
          <p:cNvPr id="10" name="文本框 9"/>
          <p:cNvSpPr txBox="1"/>
          <p:nvPr>
            <p:custDataLst>
              <p:tags r:id="rId6"/>
            </p:custDataLst>
          </p:nvPr>
        </p:nvSpPr>
        <p:spPr>
          <a:xfrm>
            <a:off x="3662045" y="6319520"/>
            <a:ext cx="7959090" cy="460375"/>
          </a:xfrm>
          <a:prstGeom prst="rect">
            <a:avLst/>
          </a:prstGeom>
          <a:noFill/>
          <a:ln w="9525">
            <a:noFill/>
          </a:ln>
        </p:spPr>
        <p:txBody>
          <a:bodyPr wrap="square" anchor="t" anchorCtr="0">
            <a:spAutoFit/>
          </a:bodyPr>
          <a:lstStyle/>
          <a:p>
            <a:r>
              <a:rPr lang="en-US" altLang="zh-CN" sz="2400" b="1">
                <a:solidFill>
                  <a:srgbClr val="FF0000"/>
                </a:solidFill>
                <a:latin typeface="Arial" panose="020B0604020202020204" pitchFamily="34" charset="0"/>
                <a:ea typeface="宋体" panose="02010600030101010101" pitchFamily="2" charset="-122"/>
              </a:rPr>
              <a:t>1936</a:t>
            </a:r>
            <a:r>
              <a:rPr lang="zh-CN" altLang="en-US" sz="2400" b="1">
                <a:solidFill>
                  <a:srgbClr val="FF0000"/>
                </a:solidFill>
                <a:latin typeface="Arial" panose="020B0604020202020204" pitchFamily="34" charset="0"/>
                <a:ea typeface="宋体" panose="02010600030101010101" pitchFamily="2" charset="-122"/>
              </a:rPr>
              <a:t>，斯大林，新宪法颁布，工农社会主义国家</a:t>
            </a:r>
          </a:p>
        </p:txBody>
      </p:sp>
      <p:sp>
        <p:nvSpPr>
          <p:cNvPr id="11" name="文本框 10"/>
          <p:cNvSpPr txBox="1"/>
          <p:nvPr>
            <p:custDataLst>
              <p:tags r:id="rId7"/>
            </p:custDataLst>
          </p:nvPr>
        </p:nvSpPr>
        <p:spPr>
          <a:xfrm>
            <a:off x="264795" y="4164648"/>
            <a:ext cx="8562975" cy="829945"/>
          </a:xfrm>
          <a:prstGeom prst="rect">
            <a:avLst/>
          </a:prstGeom>
          <a:noFill/>
          <a:ln w="9525">
            <a:noFill/>
          </a:ln>
        </p:spPr>
        <p:txBody>
          <a:bodyPr wrap="square" anchor="t" anchorCtr="0">
            <a:spAutoFit/>
          </a:bodyPr>
          <a:lstStyle/>
          <a:p>
            <a:r>
              <a:rPr lang="zh-CN" altLang="en-US" sz="2400" b="1">
                <a:solidFill>
                  <a:srgbClr val="FF0000"/>
                </a:solidFill>
                <a:latin typeface="Arial" panose="020B0604020202020204" pitchFamily="34" charset="0"/>
                <a:ea typeface="宋体" panose="02010600030101010101" pitchFamily="2" charset="-122"/>
              </a:rPr>
              <a:t>落后农业国变先进工业国，为世界反法西斯战争胜利奠基。</a:t>
            </a:r>
          </a:p>
          <a:p>
            <a:r>
              <a:rPr lang="zh-CN" altLang="en-US" sz="2400" b="1">
                <a:solidFill>
                  <a:srgbClr val="FF0000"/>
                </a:solidFill>
                <a:latin typeface="Arial" panose="020B0604020202020204" pitchFamily="34" charset="0"/>
                <a:ea typeface="宋体" panose="02010600030101010101" pitchFamily="2" charset="-122"/>
              </a:rPr>
              <a:t>成就：欧</a:t>
            </a:r>
            <a:r>
              <a:rPr lang="en-US" altLang="zh-CN" sz="2400" b="1">
                <a:solidFill>
                  <a:srgbClr val="FF0000"/>
                </a:solidFill>
                <a:latin typeface="Arial" panose="020B0604020202020204" pitchFamily="34" charset="0"/>
                <a:ea typeface="宋体" panose="02010600030101010101" pitchFamily="2" charset="-122"/>
              </a:rPr>
              <a:t>1</a:t>
            </a:r>
            <a:r>
              <a:rPr lang="zh-CN" altLang="en-US" sz="2400" b="1">
                <a:solidFill>
                  <a:srgbClr val="FF0000"/>
                </a:solidFill>
                <a:latin typeface="Arial" panose="020B0604020202020204" pitchFamily="34" charset="0"/>
                <a:ea typeface="宋体" panose="02010600030101010101" pitchFamily="2" charset="-122"/>
              </a:rPr>
              <a:t>世</a:t>
            </a:r>
            <a:r>
              <a:rPr lang="en-US" altLang="zh-CN" sz="2400" b="1">
                <a:solidFill>
                  <a:srgbClr val="FF0000"/>
                </a:solidFill>
                <a:latin typeface="Arial" panose="020B0604020202020204" pitchFamily="34" charset="0"/>
                <a:ea typeface="宋体" panose="02010600030101010101" pitchFamily="2" charset="-122"/>
              </a:rPr>
              <a:t>2</a:t>
            </a:r>
          </a:p>
        </p:txBody>
      </p:sp>
      <p:sp>
        <p:nvSpPr>
          <p:cNvPr id="12" name="文本框 11"/>
          <p:cNvSpPr txBox="1"/>
          <p:nvPr/>
        </p:nvSpPr>
        <p:spPr>
          <a:xfrm>
            <a:off x="3843655" y="77470"/>
            <a:ext cx="4572000" cy="460375"/>
          </a:xfrm>
          <a:prstGeom prst="rect">
            <a:avLst/>
          </a:prstGeom>
          <a:noFill/>
        </p:spPr>
        <p:txBody>
          <a:bodyPr wrap="square" rtlCol="0">
            <a:spAutoFit/>
          </a:bodyPr>
          <a:lstStyle/>
          <a:p>
            <a:r>
              <a:rPr lang="en-US" altLang="zh-CN" sz="2400" b="1">
                <a:solidFill>
                  <a:srgbClr val="FF0000"/>
                </a:solidFill>
                <a:sym typeface="+mn-ea"/>
              </a:rPr>
              <a:t>1918-1920，列宁，余粮收集制</a:t>
            </a:r>
          </a:p>
        </p:txBody>
      </p:sp>
      <p:sp>
        <p:nvSpPr>
          <p:cNvPr id="13" name="文本框 12"/>
          <p:cNvSpPr txBox="1"/>
          <p:nvPr/>
        </p:nvSpPr>
        <p:spPr>
          <a:xfrm>
            <a:off x="3279775" y="1389380"/>
            <a:ext cx="5443855" cy="460375"/>
          </a:xfrm>
          <a:prstGeom prst="rect">
            <a:avLst/>
          </a:prstGeom>
          <a:noFill/>
        </p:spPr>
        <p:txBody>
          <a:bodyPr wrap="square" rtlCol="0">
            <a:spAutoFit/>
          </a:bodyPr>
          <a:lstStyle/>
          <a:p>
            <a:r>
              <a:rPr lang="zh-CN" altLang="en-US" sz="2400" b="1">
                <a:solidFill>
                  <a:srgbClr val="FF0000"/>
                </a:solidFill>
                <a:sym typeface="+mn-ea"/>
              </a:rPr>
              <a:t>多种经济并存，大力发展商品经济</a:t>
            </a:r>
            <a:endParaRPr lang="zh-CN" altLang="en-US"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P spid="7" grpId="0"/>
      <p:bldP spid="7" grpId="1"/>
      <p:bldP spid="8" grpId="0"/>
      <p:bldP spid="8" grpId="1"/>
      <p:bldP spid="9" grpId="0"/>
      <p:bldP spid="9" grpId="1"/>
      <p:bldP spid="10" grpId="0"/>
      <p:bldP spid="10" grpId="1"/>
      <p:bldP spid="11" grpId="0"/>
      <p:bldP spid="11"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1140" y="0"/>
            <a:ext cx="11793220" cy="6650990"/>
          </a:xfrm>
        </p:spPr>
        <p:txBody>
          <a:bodyPr>
            <a:noAutofit/>
          </a:bodyPr>
          <a:lstStyle/>
          <a:p>
            <a:pPr>
              <a:lnSpc>
                <a:spcPct val="100000"/>
              </a:lnSpc>
            </a:pPr>
            <a:r>
              <a:rPr lang="en-US" altLang="zh-CN" sz="2300">
                <a:sym typeface="+mn-ea"/>
              </a:rPr>
              <a:t>1</a:t>
            </a:r>
            <a:r>
              <a:rPr lang="zh-CN" altLang="en-US" sz="2300">
                <a:sym typeface="+mn-ea"/>
              </a:rPr>
              <a:t>、美国二战后的发展情况：</a:t>
            </a:r>
            <a:r>
              <a:rPr lang="zh-CN" altLang="en-US" sz="2300" b="1">
                <a:solidFill>
                  <a:srgbClr val="FF0000"/>
                </a:solidFill>
                <a:sym typeface="+mn-ea"/>
              </a:rPr>
              <a:t>56-60S霸主，70-80S放缓，90S新经济（全球化、信息化为特征）</a:t>
            </a:r>
          </a:p>
          <a:p>
            <a:pPr>
              <a:lnSpc>
                <a:spcPct val="100000"/>
              </a:lnSpc>
            </a:pPr>
            <a:r>
              <a:rPr lang="en-US" altLang="zh-CN" sz="2300" b="1">
                <a:solidFill>
                  <a:srgbClr val="FF0000"/>
                </a:solidFill>
                <a:sym typeface="+mn-ea"/>
              </a:rPr>
              <a:t>2</a:t>
            </a:r>
            <a:r>
              <a:rPr lang="zh-CN" altLang="en-US" sz="2300" b="1">
                <a:solidFill>
                  <a:srgbClr val="FF0000"/>
                </a:solidFill>
                <a:sym typeface="+mn-ea"/>
              </a:rPr>
              <a:t>、</a:t>
            </a:r>
            <a:r>
              <a:rPr lang="zh-CN" altLang="en-US" sz="2300">
                <a:sym typeface="+mn-ea"/>
              </a:rPr>
              <a:t>二战后，日本经济发展的原因：</a:t>
            </a:r>
            <a:r>
              <a:rPr lang="zh-CN" altLang="en-US" sz="2300" b="1">
                <a:solidFill>
                  <a:srgbClr val="FF0000"/>
                </a:solidFill>
                <a:sym typeface="+mn-ea"/>
              </a:rPr>
              <a:t>非军事化和民主化改革；美国扶持日本，朝鲜战争和越南战争的军需物资订单；制动适当的经济政策，大力引进先进技术；重视教育和人才。</a:t>
            </a:r>
          </a:p>
          <a:p>
            <a:pPr>
              <a:lnSpc>
                <a:spcPct val="100000"/>
              </a:lnSpc>
            </a:pPr>
            <a:r>
              <a:rPr lang="en-US" altLang="zh-CN" sz="2300" b="1">
                <a:solidFill>
                  <a:srgbClr val="FF0000"/>
                </a:solidFill>
                <a:sym typeface="+mn-ea"/>
              </a:rPr>
              <a:t>3</a:t>
            </a:r>
            <a:r>
              <a:rPr lang="zh-CN" altLang="en-US" sz="2300" b="1">
                <a:solidFill>
                  <a:srgbClr val="FF0000"/>
                </a:solidFill>
                <a:sym typeface="+mn-ea"/>
              </a:rPr>
              <a:t>、</a:t>
            </a:r>
            <a:r>
              <a:rPr lang="zh-CN" altLang="en-US" sz="2300">
                <a:sym typeface="+mn-ea"/>
              </a:rPr>
              <a:t>日本经济发展情况：</a:t>
            </a:r>
            <a:r>
              <a:rPr lang="en-US" altLang="zh-CN" sz="2300" b="1">
                <a:solidFill>
                  <a:srgbClr val="FF0000"/>
                </a:solidFill>
                <a:sym typeface="+mn-ea"/>
              </a:rPr>
              <a:t>1968</a:t>
            </a:r>
            <a:r>
              <a:rPr lang="zh-CN" altLang="en-US" sz="2300" b="1">
                <a:solidFill>
                  <a:srgbClr val="FF0000"/>
                </a:solidFill>
                <a:sym typeface="+mn-ea"/>
              </a:rPr>
              <a:t>年，成为资本主义世界仅次于美国的第二经济大国。</a:t>
            </a:r>
          </a:p>
          <a:p>
            <a:pPr>
              <a:lnSpc>
                <a:spcPct val="100000"/>
              </a:lnSpc>
            </a:pPr>
            <a:r>
              <a:rPr lang="en-US" altLang="zh-CN" sz="2300" b="1">
                <a:solidFill>
                  <a:srgbClr val="FF0000"/>
                </a:solidFill>
                <a:sym typeface="+mn-ea"/>
              </a:rPr>
              <a:t>4</a:t>
            </a:r>
            <a:r>
              <a:rPr lang="zh-CN" altLang="en-US" sz="2300" b="1">
                <a:solidFill>
                  <a:srgbClr val="FF0000"/>
                </a:solidFill>
                <a:sym typeface="+mn-ea"/>
              </a:rPr>
              <a:t>、</a:t>
            </a:r>
            <a:r>
              <a:rPr lang="zh-CN" altLang="en-US" sz="2300">
                <a:sym typeface="+mn-ea"/>
              </a:rPr>
              <a:t>社会保障制度的</a:t>
            </a:r>
            <a:r>
              <a:rPr lang="zh-CN" altLang="en-US" sz="2300" b="1" u="sng">
                <a:sym typeface="+mn-ea"/>
              </a:rPr>
              <a:t>直接</a:t>
            </a:r>
            <a:r>
              <a:rPr lang="zh-CN" altLang="en-US" sz="2300">
                <a:sym typeface="+mn-ea"/>
              </a:rPr>
              <a:t>目的：</a:t>
            </a:r>
            <a:r>
              <a:rPr lang="zh-CN" altLang="en-US" sz="2300" b="1">
                <a:solidFill>
                  <a:srgbClr val="FF0000"/>
                </a:solidFill>
                <a:sym typeface="+mn-ea"/>
              </a:rPr>
              <a:t>缓和贫富分化带来的社会矛盾</a:t>
            </a:r>
          </a:p>
          <a:p>
            <a:pPr>
              <a:lnSpc>
                <a:spcPct val="100000"/>
              </a:lnSpc>
            </a:pPr>
            <a:r>
              <a:rPr lang="en-US" altLang="zh-CN" sz="2300" b="1">
                <a:solidFill>
                  <a:srgbClr val="FF0000"/>
                </a:solidFill>
                <a:sym typeface="+mn-ea"/>
              </a:rPr>
              <a:t>5</a:t>
            </a:r>
            <a:r>
              <a:rPr lang="zh-CN" altLang="en-US" sz="2300" b="1">
                <a:solidFill>
                  <a:srgbClr val="FF0000"/>
                </a:solidFill>
                <a:sym typeface="+mn-ea"/>
              </a:rPr>
              <a:t>、</a:t>
            </a:r>
            <a:r>
              <a:rPr lang="zh-CN" altLang="en-US" sz="2300">
                <a:sym typeface="+mn-ea"/>
              </a:rPr>
              <a:t>社会保障制度的</a:t>
            </a:r>
            <a:r>
              <a:rPr lang="zh-CN" altLang="en-US" sz="2300" b="1" u="sng">
                <a:sym typeface="+mn-ea"/>
              </a:rPr>
              <a:t>根本</a:t>
            </a:r>
            <a:r>
              <a:rPr lang="zh-CN" altLang="en-US" sz="2300">
                <a:sym typeface="+mn-ea"/>
              </a:rPr>
              <a:t>目的：</a:t>
            </a:r>
            <a:r>
              <a:rPr lang="zh-CN" altLang="en-US" sz="2300" b="1">
                <a:solidFill>
                  <a:srgbClr val="FF0000"/>
                </a:solidFill>
                <a:sym typeface="+mn-ea"/>
              </a:rPr>
              <a:t>维护资产阶级统治</a:t>
            </a:r>
          </a:p>
          <a:p>
            <a:pPr>
              <a:lnSpc>
                <a:spcPct val="100000"/>
              </a:lnSpc>
            </a:pPr>
            <a:r>
              <a:rPr lang="en-US" altLang="zh-CN" sz="2300" b="1">
                <a:solidFill>
                  <a:srgbClr val="FF0000"/>
                </a:solidFill>
                <a:sym typeface="+mn-ea"/>
              </a:rPr>
              <a:t>6</a:t>
            </a:r>
            <a:r>
              <a:rPr lang="zh-CN" altLang="en-US" sz="2300" b="1">
                <a:solidFill>
                  <a:srgbClr val="FF0000"/>
                </a:solidFill>
                <a:sym typeface="+mn-ea"/>
              </a:rPr>
              <a:t>、</a:t>
            </a:r>
            <a:r>
              <a:rPr lang="zh-CN" altLang="en-US" sz="2300">
                <a:sym typeface="+mn-ea"/>
              </a:rPr>
              <a:t>20世纪以来，世界格局的变化：</a:t>
            </a:r>
            <a:r>
              <a:rPr lang="zh-CN" altLang="en-US" sz="2300">
                <a:solidFill>
                  <a:srgbClr val="0070C0"/>
                </a:solidFill>
                <a:sym typeface="+mn-ea"/>
              </a:rPr>
              <a:t>一战后，</a:t>
            </a:r>
            <a:r>
              <a:rPr lang="zh-CN" altLang="en-US" sz="2300" b="1">
                <a:solidFill>
                  <a:srgbClr val="FF0000"/>
                </a:solidFill>
                <a:sym typeface="+mn-ea"/>
              </a:rPr>
              <a:t>凡尔赛-华盛顿体系；</a:t>
            </a:r>
            <a:r>
              <a:rPr lang="zh-CN" altLang="en-US" sz="2300">
                <a:solidFill>
                  <a:srgbClr val="0070C0"/>
                </a:solidFill>
                <a:sym typeface="+mn-ea"/>
              </a:rPr>
              <a:t>二战后，</a:t>
            </a:r>
            <a:r>
              <a:rPr lang="zh-CN" altLang="en-US" sz="2300" b="1">
                <a:solidFill>
                  <a:srgbClr val="FF0000"/>
                </a:solidFill>
                <a:sym typeface="+mn-ea"/>
              </a:rPr>
              <a:t>两极格局；</a:t>
            </a:r>
            <a:r>
              <a:rPr lang="zh-CN" altLang="en-US" sz="2300">
                <a:solidFill>
                  <a:srgbClr val="0070C0"/>
                </a:solidFill>
                <a:sym typeface="+mn-ea"/>
              </a:rPr>
              <a:t>苏联解体后，</a:t>
            </a:r>
            <a:r>
              <a:rPr lang="zh-CN" altLang="en-US" sz="2300" b="1">
                <a:solidFill>
                  <a:srgbClr val="FF0000"/>
                </a:solidFill>
                <a:sym typeface="+mn-ea"/>
              </a:rPr>
              <a:t>一超多强（多极化趋势）</a:t>
            </a:r>
          </a:p>
          <a:p>
            <a:pPr>
              <a:lnSpc>
                <a:spcPct val="100000"/>
              </a:lnSpc>
            </a:pPr>
            <a:r>
              <a:rPr lang="en-US" altLang="zh-CN" sz="2300" b="1">
                <a:solidFill>
                  <a:srgbClr val="FF0000"/>
                </a:solidFill>
                <a:sym typeface="+mn-ea"/>
              </a:rPr>
              <a:t>7</a:t>
            </a:r>
            <a:r>
              <a:rPr lang="zh-CN" altLang="en-US" sz="2300" b="1">
                <a:solidFill>
                  <a:srgbClr val="FF0000"/>
                </a:solidFill>
                <a:sym typeface="+mn-ea"/>
              </a:rPr>
              <a:t>、</a:t>
            </a:r>
            <a:r>
              <a:rPr lang="zh-CN" altLang="en-US" sz="2300">
                <a:sym typeface="+mn-ea"/>
              </a:rPr>
              <a:t>欧洲联合：</a:t>
            </a:r>
            <a:r>
              <a:rPr lang="en-US" altLang="zh-CN" sz="2300" b="1">
                <a:solidFill>
                  <a:srgbClr val="FF0000"/>
                </a:solidFill>
                <a:sym typeface="+mn-ea"/>
              </a:rPr>
              <a:t>1967-</a:t>
            </a:r>
            <a:r>
              <a:rPr lang="zh-CN" altLang="en-US" sz="2300" b="1">
                <a:solidFill>
                  <a:srgbClr val="FF0000"/>
                </a:solidFill>
                <a:sym typeface="+mn-ea"/>
              </a:rPr>
              <a:t>欧共体；</a:t>
            </a:r>
            <a:r>
              <a:rPr lang="en-US" altLang="zh-CN" sz="2300" b="1">
                <a:solidFill>
                  <a:srgbClr val="FF0000"/>
                </a:solidFill>
                <a:sym typeface="+mn-ea"/>
              </a:rPr>
              <a:t>1993-</a:t>
            </a:r>
            <a:r>
              <a:rPr lang="zh-CN" altLang="en-US" sz="2300" b="1">
                <a:solidFill>
                  <a:srgbClr val="FF0000"/>
                </a:solidFill>
                <a:sym typeface="+mn-ea"/>
              </a:rPr>
              <a:t>欧盟。</a:t>
            </a:r>
            <a:r>
              <a:rPr lang="en-US" altLang="zh-CN" sz="2300" b="1">
                <a:solidFill>
                  <a:srgbClr val="FF0000"/>
                </a:solidFill>
                <a:sym typeface="+mn-ea"/>
              </a:rPr>
              <a:t>  </a:t>
            </a:r>
            <a:r>
              <a:rPr lang="zh-CN" altLang="en-US" sz="2300" b="1">
                <a:solidFill>
                  <a:srgbClr val="FF0000"/>
                </a:solidFill>
                <a:sym typeface="+mn-ea"/>
              </a:rPr>
              <a:t>性质：政治经济组织。</a:t>
            </a:r>
          </a:p>
          <a:p>
            <a:pPr>
              <a:lnSpc>
                <a:spcPct val="100000"/>
              </a:lnSpc>
            </a:pPr>
            <a:r>
              <a:rPr lang="en-US" altLang="zh-CN" sz="2300" b="1">
                <a:solidFill>
                  <a:srgbClr val="FF0000"/>
                </a:solidFill>
                <a:sym typeface="+mn-ea"/>
              </a:rPr>
              <a:t>8</a:t>
            </a:r>
            <a:r>
              <a:rPr lang="zh-CN" altLang="en-US" sz="2300" b="1">
                <a:solidFill>
                  <a:srgbClr val="FF0000"/>
                </a:solidFill>
                <a:sym typeface="+mn-ea"/>
              </a:rPr>
              <a:t>、</a:t>
            </a:r>
            <a:r>
              <a:rPr lang="zh-CN" altLang="en-US" sz="2300">
                <a:sym typeface="+mn-ea"/>
              </a:rPr>
              <a:t>欧洲联合根因：</a:t>
            </a:r>
            <a:r>
              <a:rPr lang="zh-CN" altLang="en-US" sz="2300" b="1">
                <a:solidFill>
                  <a:srgbClr val="FF0000"/>
                </a:solidFill>
                <a:sym typeface="+mn-ea"/>
              </a:rPr>
              <a:t>经济发展的需要</a:t>
            </a:r>
          </a:p>
          <a:p>
            <a:pPr>
              <a:lnSpc>
                <a:spcPct val="100000"/>
              </a:lnSpc>
            </a:pPr>
            <a:r>
              <a:rPr lang="en-US" altLang="zh-CN" sz="2300" b="1">
                <a:solidFill>
                  <a:srgbClr val="FF0000"/>
                </a:solidFill>
                <a:sym typeface="+mn-ea"/>
              </a:rPr>
              <a:t>9</a:t>
            </a:r>
            <a:r>
              <a:rPr lang="zh-CN" altLang="en-US" sz="2300" b="1">
                <a:solidFill>
                  <a:srgbClr val="FF0000"/>
                </a:solidFill>
                <a:sym typeface="+mn-ea"/>
              </a:rPr>
              <a:t>、</a:t>
            </a:r>
            <a:r>
              <a:rPr lang="zh-CN" altLang="en-US" sz="2300">
                <a:sym typeface="+mn-ea"/>
              </a:rPr>
              <a:t>欧盟的影响：</a:t>
            </a:r>
            <a:r>
              <a:rPr lang="zh-CN" altLang="en-US" sz="2300" b="1">
                <a:solidFill>
                  <a:srgbClr val="FF0000"/>
                </a:solidFill>
                <a:sym typeface="+mn-ea"/>
              </a:rPr>
              <a:t>大大加快了欧洲一体化进程，促进经济发展和国际地位提高，欧盟成为世界多极化中的重要一极，推动世界朝着多极化方向发展。</a:t>
            </a:r>
          </a:p>
          <a:p>
            <a:pPr>
              <a:lnSpc>
                <a:spcPct val="100000"/>
              </a:lnSpc>
            </a:pPr>
            <a:r>
              <a:rPr lang="en-US" altLang="zh-CN" sz="2300" b="1">
                <a:solidFill>
                  <a:srgbClr val="FF0000"/>
                </a:solidFill>
                <a:sym typeface="+mn-ea"/>
              </a:rPr>
              <a:t>10</a:t>
            </a:r>
            <a:r>
              <a:rPr lang="zh-CN" altLang="en-US" sz="2300" b="1">
                <a:solidFill>
                  <a:srgbClr val="FF0000"/>
                </a:solidFill>
                <a:sym typeface="+mn-ea"/>
              </a:rPr>
              <a:t>、</a:t>
            </a:r>
            <a:r>
              <a:rPr lang="zh-CN" altLang="en-US" sz="2300" b="1" u="sng">
                <a:sym typeface="+mn-ea"/>
              </a:rPr>
              <a:t>20世纪70年代</a:t>
            </a:r>
            <a:r>
              <a:rPr lang="zh-CN" altLang="en-US" sz="2300">
                <a:sym typeface="+mn-ea"/>
              </a:rPr>
              <a:t>，世界经济三足鼎立：</a:t>
            </a:r>
            <a:r>
              <a:rPr lang="zh-CN" altLang="en-US" sz="2300" b="1">
                <a:solidFill>
                  <a:srgbClr val="FF0000"/>
                </a:solidFill>
                <a:sym typeface="+mn-ea"/>
              </a:rPr>
              <a:t>美、日、西欧</a:t>
            </a:r>
            <a:r>
              <a:rPr lang="zh-CN" altLang="en-US" sz="2300" b="1">
                <a:solidFill>
                  <a:schemeClr val="accent1">
                    <a:lumMod val="75000"/>
                  </a:schemeClr>
                </a:solidFill>
                <a:sym typeface="+mn-ea"/>
              </a:rPr>
              <a:t>（不是欧盟！不是欧盟！不是欧盟！）</a:t>
            </a:r>
          </a:p>
          <a:p>
            <a:pPr>
              <a:lnSpc>
                <a:spcPct val="100000"/>
              </a:lnSpc>
            </a:pPr>
            <a:endParaRPr lang="zh-CN" altLang="en-US" sz="2300" b="1">
              <a:solidFill>
                <a:srgbClr val="FF0000"/>
              </a:solidFill>
              <a:sym typeface="+mn-ea"/>
            </a:endParaRPr>
          </a:p>
          <a:p>
            <a:pPr>
              <a:lnSpc>
                <a:spcPct val="100000"/>
              </a:lnSpc>
            </a:pPr>
            <a:endParaRPr lang="zh-CN" altLang="en-US" sz="2300" b="1">
              <a:solidFill>
                <a:srgbClr val="FF0000"/>
              </a:solidFill>
              <a:sym typeface="+mn-ea"/>
            </a:endParaRPr>
          </a:p>
          <a:p>
            <a:pPr>
              <a:lnSpc>
                <a:spcPct val="100000"/>
              </a:lnSpc>
            </a:pPr>
            <a:endParaRPr lang="zh-CN" altLang="en-US" sz="2300" b="1">
              <a:solidFill>
                <a:srgbClr val="FF0000"/>
              </a:solidFill>
              <a:sym typeface="+mn-ea"/>
            </a:endParaRPr>
          </a:p>
          <a:p>
            <a:endParaRPr lang="zh-CN" altLang="en-US" sz="2300" b="1">
              <a:solidFill>
                <a:srgbClr val="FF0000"/>
              </a:solidFill>
              <a:sym typeface="+mn-ea"/>
            </a:endParaRPr>
          </a:p>
          <a:p>
            <a:endParaRPr lang="zh-CN" altLang="en-US" sz="2300" b="1">
              <a:solidFill>
                <a:srgbClr val="FF0000"/>
              </a:solidFill>
            </a:endParaRPr>
          </a:p>
          <a:p>
            <a:endParaRPr lang="zh-CN" altLang="en-US" sz="1100" b="1">
              <a:solidFill>
                <a:srgbClr val="FF0000"/>
              </a:solidFill>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322580" y="283210"/>
            <a:ext cx="11254740" cy="5966460"/>
          </a:xfrm>
        </p:spPr>
        <p:txBody>
          <a:bodyPr>
            <a:noAutofit/>
          </a:bodyPr>
          <a:lstStyle/>
          <a:p>
            <a:pPr algn="l">
              <a:lnSpc>
                <a:spcPct val="100000"/>
              </a:lnSpc>
              <a:buClrTx/>
              <a:buSzTx/>
            </a:pPr>
            <a:r>
              <a:rPr lang="zh-CN" altLang="en-US" sz="2800" b="1">
                <a:solidFill>
                  <a:srgbClr val="FF0000"/>
                </a:solidFill>
              </a:rPr>
              <a:t>金字塔是古埃及文明的象征，反映了古埃及社会经济发展的较高水平，是古埃及人智慧的结晶。</a:t>
            </a:r>
          </a:p>
          <a:p>
            <a:pPr>
              <a:lnSpc>
                <a:spcPct val="100000"/>
              </a:lnSpc>
            </a:pPr>
            <a:r>
              <a:rPr lang="zh-CN" altLang="en-US" sz="2800"/>
              <a:t>《汉谟拉比法典》</a:t>
            </a:r>
          </a:p>
          <a:p>
            <a:pPr>
              <a:lnSpc>
                <a:spcPct val="100000"/>
              </a:lnSpc>
            </a:pPr>
            <a:r>
              <a:rPr lang="zh-CN" altLang="en-US" sz="2800"/>
              <a:t>目的：</a:t>
            </a:r>
            <a:r>
              <a:rPr lang="zh-CN" altLang="en-US" sz="2800" b="1">
                <a:solidFill>
                  <a:srgbClr val="FF0000"/>
                </a:solidFill>
              </a:rPr>
              <a:t>维护奴隶主的利益</a:t>
            </a:r>
          </a:p>
          <a:p>
            <a:pPr algn="l">
              <a:lnSpc>
                <a:spcPct val="100000"/>
              </a:lnSpc>
              <a:buClrTx/>
              <a:buSzTx/>
            </a:pPr>
            <a:r>
              <a:rPr lang="zh-CN" altLang="en-US" sz="2800"/>
              <a:t>内容：</a:t>
            </a:r>
            <a:r>
              <a:rPr lang="zh-CN" altLang="en-US" sz="2800" b="1">
                <a:solidFill>
                  <a:srgbClr val="FF0000"/>
                </a:solidFill>
              </a:rPr>
              <a:t>社会等级森严，家庭奴隶制，商品经济活跃</a:t>
            </a:r>
          </a:p>
          <a:p>
            <a:pPr algn="l">
              <a:lnSpc>
                <a:spcPct val="100000"/>
              </a:lnSpc>
              <a:buClrTx/>
              <a:buSzTx/>
            </a:pPr>
            <a:r>
              <a:rPr lang="zh-CN" altLang="en-US" sz="2800"/>
              <a:t>地位：</a:t>
            </a:r>
            <a:r>
              <a:rPr lang="zh-CN" altLang="en-US" sz="2800" b="1">
                <a:solidFill>
                  <a:srgbClr val="FF0000"/>
                </a:solidFill>
              </a:rPr>
              <a:t>是迄今所知世界上第一部较为完整的成文法典</a:t>
            </a:r>
          </a:p>
          <a:p>
            <a:pPr algn="l">
              <a:lnSpc>
                <a:spcPct val="100000"/>
              </a:lnSpc>
              <a:buClrTx/>
              <a:buSzTx/>
            </a:pPr>
            <a:r>
              <a:rPr lang="zh-CN" altLang="en-US" sz="2800"/>
              <a:t>意义：</a:t>
            </a:r>
            <a:r>
              <a:rPr lang="zh-CN" altLang="en-US" sz="2800" b="1">
                <a:solidFill>
                  <a:srgbClr val="FF0000"/>
                </a:solidFill>
              </a:rPr>
              <a:t>是古巴比伦王国给人类的宝贵文化遗产，表明人类社会的法制传统源远流长。</a:t>
            </a:r>
          </a:p>
          <a:p>
            <a:pPr algn="l">
              <a:lnSpc>
                <a:spcPct val="100000"/>
              </a:lnSpc>
              <a:buClrTx/>
              <a:buSzTx/>
            </a:pPr>
            <a:r>
              <a:rPr lang="zh-CN" altLang="en-US" sz="2800"/>
              <a:t>佛教：</a:t>
            </a:r>
            <a:r>
              <a:rPr lang="zh-CN" altLang="en-US" sz="2800" b="1">
                <a:solidFill>
                  <a:srgbClr val="FF0000"/>
                </a:solidFill>
              </a:rPr>
              <a:t>前6世纪，释迦牟尼，目的：反对婆罗门。</a:t>
            </a:r>
          </a:p>
          <a:p>
            <a:pPr>
              <a:lnSpc>
                <a:spcPct val="100000"/>
              </a:lnSpc>
            </a:pPr>
            <a:r>
              <a:rPr lang="zh-CN" altLang="en-US" sz="2800"/>
              <a:t>种姓制度：</a:t>
            </a:r>
          </a:p>
          <a:p>
            <a:pPr>
              <a:lnSpc>
                <a:spcPct val="100000"/>
              </a:lnSpc>
            </a:pPr>
            <a:r>
              <a:rPr lang="zh-CN" altLang="en-US" sz="2800"/>
              <a:t>内容：</a:t>
            </a:r>
            <a:r>
              <a:rPr lang="zh-CN" altLang="en-US" sz="2800" b="1">
                <a:solidFill>
                  <a:srgbClr val="FF0000"/>
                </a:solidFill>
              </a:rPr>
              <a:t>第一等级：祭祀；第二等级：刹帝利（军政）。</a:t>
            </a:r>
          </a:p>
          <a:p>
            <a:pPr algn="l">
              <a:lnSpc>
                <a:spcPct val="100000"/>
              </a:lnSpc>
              <a:buClrTx/>
              <a:buSzTx/>
            </a:pPr>
            <a:r>
              <a:rPr lang="zh-CN" altLang="en-US" sz="2800"/>
              <a:t>特点：</a:t>
            </a:r>
            <a:r>
              <a:rPr lang="zh-CN" altLang="en-US" sz="2800" b="1">
                <a:solidFill>
                  <a:srgbClr val="FF0000"/>
                </a:solidFill>
              </a:rPr>
              <a:t>各等级世代相袭，各等级之间贵贱分明。</a:t>
            </a:r>
          </a:p>
          <a:p>
            <a:pPr>
              <a:lnSpc>
                <a:spcPct val="100000"/>
              </a:lnSpc>
            </a:pPr>
            <a:endParaRPr lang="zh-CN" altLang="en-US" sz="2800"/>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98" name="Group 58"/>
          <p:cNvGraphicFramePr>
            <a:graphicFrameLocks noGrp="1"/>
          </p:cNvGraphicFramePr>
          <p:nvPr>
            <p:custDataLst>
              <p:tags r:id="rId2"/>
            </p:custDataLst>
          </p:nvPr>
        </p:nvGraphicFramePr>
        <p:xfrm>
          <a:off x="443230" y="0"/>
          <a:ext cx="10006965" cy="2810510"/>
        </p:xfrm>
        <a:graphic>
          <a:graphicData uri="http://schemas.openxmlformats.org/drawingml/2006/table">
            <a:tbl>
              <a:tblPr/>
              <a:tblGrid>
                <a:gridCol w="1581150">
                  <a:extLst>
                    <a:ext uri="{9D8B030D-6E8A-4147-A177-3AD203B41FA5}">
                      <a16:colId xmlns:a16="http://schemas.microsoft.com/office/drawing/2014/main" val="20000"/>
                    </a:ext>
                  </a:extLst>
                </a:gridCol>
                <a:gridCol w="3402330">
                  <a:extLst>
                    <a:ext uri="{9D8B030D-6E8A-4147-A177-3AD203B41FA5}">
                      <a16:colId xmlns:a16="http://schemas.microsoft.com/office/drawing/2014/main" val="20001"/>
                    </a:ext>
                  </a:extLst>
                </a:gridCol>
                <a:gridCol w="2511425">
                  <a:extLst>
                    <a:ext uri="{9D8B030D-6E8A-4147-A177-3AD203B41FA5}">
                      <a16:colId xmlns:a16="http://schemas.microsoft.com/office/drawing/2014/main" val="20002"/>
                    </a:ext>
                  </a:extLst>
                </a:gridCol>
                <a:gridCol w="2512060">
                  <a:extLst>
                    <a:ext uri="{9D8B030D-6E8A-4147-A177-3AD203B41FA5}">
                      <a16:colId xmlns:a16="http://schemas.microsoft.com/office/drawing/2014/main" val="20003"/>
                    </a:ext>
                  </a:extLst>
                </a:gridCol>
              </a:tblGrid>
              <a:tr h="463550">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2000" b="1" i="0" u="none" strike="noStrike" cap="none" normalizeH="0" baseline="0" dirty="0">
                          <a:ln>
                            <a:noFill/>
                          </a:ln>
                          <a:solidFill>
                            <a:srgbClr val="00B050"/>
                          </a:solidFill>
                          <a:effectLst/>
                          <a:latin typeface="Arial" panose="020B0604020202020204" pitchFamily="34" charset="0"/>
                          <a:ea typeface="黑体" panose="02010609060101010101" charset="-122"/>
                        </a:rPr>
                        <a:t>名称</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B050"/>
                          </a:solidFill>
                          <a:effectLst/>
                          <a:latin typeface="Arial" panose="020B0604020202020204" pitchFamily="34" charset="0"/>
                          <a:ea typeface="黑体" panose="02010609060101010101" charset="-122"/>
                        </a:rPr>
                        <a:t>发源地</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B050"/>
                          </a:solidFill>
                          <a:effectLst/>
                          <a:latin typeface="Arial" panose="020B0604020202020204" pitchFamily="34" charset="0"/>
                          <a:ea typeface="黑体" panose="02010609060101010101" charset="-122"/>
                        </a:rPr>
                        <a:t>文明的代表</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B050"/>
                          </a:solidFill>
                          <a:effectLst/>
                          <a:latin typeface="Arial" panose="020B0604020202020204" pitchFamily="34" charset="0"/>
                          <a:ea typeface="黑体" panose="02010609060101010101" charset="-122"/>
                        </a:rPr>
                        <a:t>人物</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482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胡夫（金字塔最大）</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0934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汉谟拉比</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279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雅利安人入侵</a:t>
                      </a:r>
                    </a:p>
                  </a:txBody>
                  <a:tcPr marT="45721" marB="4572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271" name="Text Box 31"/>
          <p:cNvSpPr txBox="1"/>
          <p:nvPr/>
        </p:nvSpPr>
        <p:spPr>
          <a:xfrm>
            <a:off x="750570" y="631825"/>
            <a:ext cx="1676400" cy="398780"/>
          </a:xfrm>
          <a:prstGeom prst="rect">
            <a:avLst/>
          </a:prstGeom>
          <a:noFill/>
          <a:ln w="9525">
            <a:noFill/>
          </a:ln>
        </p:spPr>
        <p:txBody>
          <a:bodyPr anchor="t" anchorCtr="0">
            <a:spAutoFit/>
          </a:bodyPr>
          <a:lstStyle/>
          <a:p>
            <a:pPr eaLnBrk="0" hangingPunct="0">
              <a:spcBef>
                <a:spcPct val="50000"/>
              </a:spcBef>
            </a:pPr>
            <a:r>
              <a:rPr lang="zh-CN" altLang="en-US" sz="2000" b="1" dirty="0">
                <a:solidFill>
                  <a:srgbClr val="FF0000"/>
                </a:solidFill>
                <a:latin typeface="Arial" panose="020B0604020202020204" pitchFamily="34" charset="0"/>
                <a:ea typeface="宋体" panose="02010600030101010101" pitchFamily="2" charset="-122"/>
              </a:rPr>
              <a:t>古埃及</a:t>
            </a:r>
          </a:p>
        </p:txBody>
      </p:sp>
      <p:sp>
        <p:nvSpPr>
          <p:cNvPr id="10272" name="Text Box 32"/>
          <p:cNvSpPr txBox="1"/>
          <p:nvPr/>
        </p:nvSpPr>
        <p:spPr>
          <a:xfrm>
            <a:off x="3151505" y="631825"/>
            <a:ext cx="1600200" cy="398780"/>
          </a:xfrm>
          <a:prstGeom prst="rect">
            <a:avLst/>
          </a:prstGeom>
          <a:noFill/>
          <a:ln w="9525">
            <a:noFill/>
          </a:ln>
        </p:spPr>
        <p:txBody>
          <a:bodyPr anchor="t" anchorCtr="0">
            <a:spAutoFit/>
          </a:bodyPr>
          <a:lstStyle/>
          <a:p>
            <a:pPr algn="ctr" eaLnBrk="0" hangingPunct="0">
              <a:spcBef>
                <a:spcPct val="50000"/>
              </a:spcBef>
            </a:pPr>
            <a:r>
              <a:rPr lang="zh-CN" altLang="en-US" sz="2000" b="1" dirty="0">
                <a:solidFill>
                  <a:srgbClr val="FF0000"/>
                </a:solidFill>
                <a:latin typeface="Arial" panose="020B0604020202020204" pitchFamily="34" charset="0"/>
                <a:ea typeface="宋体" panose="02010600030101010101" pitchFamily="2" charset="-122"/>
              </a:rPr>
              <a:t>尼罗河</a:t>
            </a:r>
          </a:p>
        </p:txBody>
      </p:sp>
      <p:sp>
        <p:nvSpPr>
          <p:cNvPr id="10274" name="Text Box 34"/>
          <p:cNvSpPr txBox="1"/>
          <p:nvPr/>
        </p:nvSpPr>
        <p:spPr>
          <a:xfrm>
            <a:off x="587375" y="1492250"/>
            <a:ext cx="2133600" cy="398780"/>
          </a:xfrm>
          <a:prstGeom prst="rect">
            <a:avLst/>
          </a:prstGeom>
          <a:noFill/>
          <a:ln w="9525">
            <a:noFill/>
          </a:ln>
        </p:spPr>
        <p:txBody>
          <a:bodyPr anchor="t" anchorCtr="0">
            <a:spAutoFit/>
          </a:bodyPr>
          <a:lstStyle/>
          <a:p>
            <a:pPr lvl="0" algn="l" eaLnBrk="0" hangingPunct="0">
              <a:spcBef>
                <a:spcPct val="50000"/>
              </a:spcBef>
              <a:buClrTx/>
              <a:buSzTx/>
              <a:buFontTx/>
            </a:pPr>
            <a:r>
              <a:rPr lang="zh-CN" altLang="en-US" sz="2000" b="1" dirty="0">
                <a:solidFill>
                  <a:srgbClr val="FF0000"/>
                </a:solidFill>
                <a:latin typeface="Arial" panose="020B0604020202020204" pitchFamily="34" charset="0"/>
                <a:ea typeface="宋体" panose="02010600030101010101" pitchFamily="2" charset="-122"/>
                <a:sym typeface="+mn-ea"/>
              </a:rPr>
              <a:t>古巴比伦</a:t>
            </a:r>
          </a:p>
        </p:txBody>
      </p:sp>
      <p:sp>
        <p:nvSpPr>
          <p:cNvPr id="10276" name="Text Box 36"/>
          <p:cNvSpPr txBox="1"/>
          <p:nvPr/>
        </p:nvSpPr>
        <p:spPr>
          <a:xfrm>
            <a:off x="1626235" y="1111250"/>
            <a:ext cx="4338320" cy="860425"/>
          </a:xfrm>
          <a:prstGeom prst="rect">
            <a:avLst/>
          </a:prstGeom>
          <a:noFill/>
          <a:ln w="9525">
            <a:noFill/>
          </a:ln>
        </p:spPr>
        <p:txBody>
          <a:bodyPr wrap="square" anchor="t" anchorCtr="0">
            <a:spAutoFit/>
          </a:bodyPr>
          <a:lstStyle/>
          <a:p>
            <a:pPr algn="ctr" eaLnBrk="0" hangingPunct="0">
              <a:spcBef>
                <a:spcPct val="50000"/>
              </a:spcBef>
            </a:pPr>
            <a:r>
              <a:rPr lang="zh-CN" altLang="en-US" sz="2000" b="1" dirty="0">
                <a:solidFill>
                  <a:srgbClr val="FF0000"/>
                </a:solidFill>
                <a:latin typeface="Arial" panose="020B0604020202020204" pitchFamily="34" charset="0"/>
                <a:ea typeface="宋体" panose="02010600030101010101" pitchFamily="2" charset="-122"/>
              </a:rPr>
              <a:t>西亚</a:t>
            </a:r>
            <a:r>
              <a:rPr lang="zh-CN" altLang="en-US" sz="2000" b="1" dirty="0">
                <a:latin typeface="Arial" panose="020B0604020202020204" pitchFamily="34" charset="0"/>
                <a:ea typeface="宋体" panose="02010600030101010101" pitchFamily="2" charset="-122"/>
              </a:rPr>
              <a:t>两河流域（幼发拉底河、</a:t>
            </a:r>
          </a:p>
          <a:p>
            <a:pPr algn="ctr" eaLnBrk="0" hangingPunct="0">
              <a:spcBef>
                <a:spcPct val="50000"/>
              </a:spcBef>
            </a:pPr>
            <a:r>
              <a:rPr lang="zh-CN" altLang="en-US" sz="2000" b="1" dirty="0">
                <a:latin typeface="Arial" panose="020B0604020202020204" pitchFamily="34" charset="0"/>
                <a:ea typeface="宋体" panose="02010600030101010101" pitchFamily="2" charset="-122"/>
              </a:rPr>
              <a:t>底格里斯河）</a:t>
            </a:r>
          </a:p>
        </p:txBody>
      </p:sp>
      <p:sp>
        <p:nvSpPr>
          <p:cNvPr id="10278" name="Text Box 38"/>
          <p:cNvSpPr txBox="1"/>
          <p:nvPr/>
        </p:nvSpPr>
        <p:spPr>
          <a:xfrm>
            <a:off x="443230" y="2411730"/>
            <a:ext cx="1447800" cy="398780"/>
          </a:xfrm>
          <a:prstGeom prst="rect">
            <a:avLst/>
          </a:prstGeom>
          <a:noFill/>
          <a:ln w="9525">
            <a:noFill/>
          </a:ln>
        </p:spPr>
        <p:txBody>
          <a:bodyPr anchor="t" anchorCtr="0">
            <a:spAutoFit/>
          </a:bodyPr>
          <a:lstStyle/>
          <a:p>
            <a:pPr lvl="0" algn="ctr" eaLnBrk="0" hangingPunct="0">
              <a:spcBef>
                <a:spcPct val="50000"/>
              </a:spcBef>
              <a:buClrTx/>
              <a:buSzTx/>
              <a:buFontTx/>
            </a:pPr>
            <a:r>
              <a:rPr lang="zh-CN" altLang="en-US" sz="2000" b="1" dirty="0">
                <a:solidFill>
                  <a:srgbClr val="FF0000"/>
                </a:solidFill>
                <a:latin typeface="Arial" panose="020B0604020202020204" pitchFamily="34" charset="0"/>
                <a:ea typeface="宋体" panose="02010600030101010101" pitchFamily="2" charset="-122"/>
                <a:sym typeface="+mn-ea"/>
              </a:rPr>
              <a:t>古印度</a:t>
            </a:r>
          </a:p>
        </p:txBody>
      </p:sp>
      <p:sp>
        <p:nvSpPr>
          <p:cNvPr id="10280" name="Text Box 40"/>
          <p:cNvSpPr txBox="1"/>
          <p:nvPr/>
        </p:nvSpPr>
        <p:spPr>
          <a:xfrm>
            <a:off x="3091815" y="2303145"/>
            <a:ext cx="2362200" cy="398780"/>
          </a:xfrm>
          <a:prstGeom prst="rect">
            <a:avLst/>
          </a:prstGeom>
          <a:noFill/>
          <a:ln w="9525">
            <a:noFill/>
          </a:ln>
        </p:spPr>
        <p:txBody>
          <a:bodyPr anchor="t" anchorCtr="0">
            <a:spAutoFit/>
          </a:bodyPr>
          <a:lstStyle/>
          <a:p>
            <a:pPr eaLnBrk="0" hangingPunct="0">
              <a:spcBef>
                <a:spcPct val="50000"/>
              </a:spcBef>
            </a:pPr>
            <a:r>
              <a:rPr lang="zh-CN" altLang="en-US" sz="2000" b="1" dirty="0">
                <a:latin typeface="Arial" panose="020B0604020202020204" pitchFamily="34" charset="0"/>
                <a:ea typeface="宋体" panose="02010600030101010101" pitchFamily="2" charset="-122"/>
              </a:rPr>
              <a:t>印度河</a:t>
            </a:r>
          </a:p>
        </p:txBody>
      </p:sp>
      <p:sp>
        <p:nvSpPr>
          <p:cNvPr id="4" name="Text Box 32"/>
          <p:cNvSpPr txBox="1"/>
          <p:nvPr/>
        </p:nvSpPr>
        <p:spPr>
          <a:xfrm>
            <a:off x="5634355" y="1111250"/>
            <a:ext cx="2058670" cy="706755"/>
          </a:xfrm>
          <a:prstGeom prst="rect">
            <a:avLst/>
          </a:prstGeom>
          <a:noFill/>
        </p:spPr>
        <p:txBody>
          <a:bodyPr wrap="square" rtlCol="0" anchor="t" anchorCtr="0">
            <a:spAutoFit/>
          </a:bodyPr>
          <a:lstStyle/>
          <a:p>
            <a:pPr lvl="0" algn="l">
              <a:buClrTx/>
              <a:buSzTx/>
              <a:buFontTx/>
            </a:pPr>
            <a:r>
              <a:rPr lang="zh-CN" altLang="en-US">
                <a:solidFill>
                  <a:srgbClr val="FF0000"/>
                </a:solidFill>
                <a:sym typeface="+mn-ea"/>
              </a:rPr>
              <a:t>楔形文字、《汉谟拉比法典》</a:t>
            </a:r>
          </a:p>
        </p:txBody>
      </p:sp>
      <p:sp>
        <p:nvSpPr>
          <p:cNvPr id="10273" name="Text Box 33"/>
          <p:cNvSpPr txBox="1"/>
          <p:nvPr/>
        </p:nvSpPr>
        <p:spPr>
          <a:xfrm>
            <a:off x="5476240" y="631825"/>
            <a:ext cx="3228340" cy="398780"/>
          </a:xfrm>
          <a:prstGeom prst="rect">
            <a:avLst/>
          </a:prstGeom>
          <a:noFill/>
          <a:ln w="9525">
            <a:noFill/>
          </a:ln>
        </p:spPr>
        <p:txBody>
          <a:bodyPr wrap="square" anchor="t" anchorCtr="0">
            <a:spAutoFit/>
          </a:bodyPr>
          <a:lstStyle/>
          <a:p>
            <a:pPr eaLnBrk="0" hangingPunct="0">
              <a:spcBef>
                <a:spcPct val="50000"/>
              </a:spcBef>
            </a:pPr>
            <a:r>
              <a:rPr lang="zh-CN" altLang="en-US" sz="2000" b="1" dirty="0">
                <a:latin typeface="Arial" panose="020B0604020202020204" pitchFamily="34" charset="0"/>
                <a:ea typeface="宋体" panose="02010600030101010101" pitchFamily="2" charset="-122"/>
              </a:rPr>
              <a:t>金字塔、象形文字</a:t>
            </a:r>
          </a:p>
        </p:txBody>
      </p:sp>
      <p:sp>
        <p:nvSpPr>
          <p:cNvPr id="10281" name="Text Box 41"/>
          <p:cNvSpPr txBox="1"/>
          <p:nvPr/>
        </p:nvSpPr>
        <p:spPr>
          <a:xfrm>
            <a:off x="5634355" y="2352675"/>
            <a:ext cx="3228975" cy="398780"/>
          </a:xfrm>
          <a:prstGeom prst="rect">
            <a:avLst/>
          </a:prstGeom>
          <a:noFill/>
          <a:ln w="9525">
            <a:noFill/>
          </a:ln>
        </p:spPr>
        <p:txBody>
          <a:bodyPr wrap="square" anchor="t" anchorCtr="0">
            <a:spAutoFit/>
          </a:bodyPr>
          <a:lstStyle/>
          <a:p>
            <a:pPr eaLnBrk="0" hangingPunct="0">
              <a:spcBef>
                <a:spcPct val="50000"/>
              </a:spcBef>
            </a:pPr>
            <a:r>
              <a:rPr lang="zh-CN" altLang="en-US" sz="2000" b="1" dirty="0">
                <a:latin typeface="Arial" panose="020B0604020202020204" pitchFamily="34" charset="0"/>
                <a:ea typeface="宋体" panose="02010600030101010101" pitchFamily="2" charset="-122"/>
              </a:rPr>
              <a:t>种姓制度、佛教</a:t>
            </a:r>
          </a:p>
        </p:txBody>
      </p:sp>
      <p:sp>
        <p:nvSpPr>
          <p:cNvPr id="5" name="文本框 4"/>
          <p:cNvSpPr txBox="1"/>
          <p:nvPr/>
        </p:nvSpPr>
        <p:spPr>
          <a:xfrm>
            <a:off x="143510" y="3033395"/>
            <a:ext cx="12169140" cy="4243705"/>
          </a:xfrm>
          <a:prstGeom prst="rect">
            <a:avLst/>
          </a:prstGeom>
          <a:noFill/>
        </p:spPr>
        <p:txBody>
          <a:bodyPr wrap="square" rtlCol="0">
            <a:noAutofit/>
          </a:bodyPr>
          <a:lstStyle/>
          <a:p>
            <a:r>
              <a:rPr lang="en-US" altLang="zh-CN" sz="2400"/>
              <a:t>1</a:t>
            </a:r>
            <a:r>
              <a:rPr lang="zh-CN" altLang="en-US" sz="2400"/>
              <a:t>、佛教的目的：</a:t>
            </a:r>
            <a:r>
              <a:rPr lang="zh-CN" altLang="en-US" sz="2400">
                <a:solidFill>
                  <a:srgbClr val="FF0000"/>
                </a:solidFill>
              </a:rPr>
              <a:t>反对婆罗门</a:t>
            </a:r>
            <a:r>
              <a:rPr lang="en-US" altLang="zh-CN" sz="2400">
                <a:solidFill>
                  <a:srgbClr val="FF0000"/>
                </a:solidFill>
              </a:rPr>
              <a:t>  </a:t>
            </a:r>
            <a:r>
              <a:rPr lang="zh-CN" altLang="en-US" sz="2400"/>
              <a:t>建立时间：</a:t>
            </a:r>
            <a:r>
              <a:rPr lang="zh-CN" altLang="en-US" sz="2400">
                <a:solidFill>
                  <a:srgbClr val="FF0000"/>
                </a:solidFill>
                <a:sym typeface="+mn-ea"/>
              </a:rPr>
              <a:t>前6世纪，</a:t>
            </a:r>
            <a:r>
              <a:rPr lang="zh-CN" altLang="en-US" sz="2400">
                <a:sym typeface="+mn-ea"/>
              </a:rPr>
              <a:t>建立者：</a:t>
            </a:r>
            <a:r>
              <a:rPr lang="zh-CN" altLang="en-US" sz="2400">
                <a:solidFill>
                  <a:srgbClr val="FF0000"/>
                </a:solidFill>
                <a:sym typeface="+mn-ea"/>
              </a:rPr>
              <a:t>释迦牟尼</a:t>
            </a:r>
            <a:endParaRPr lang="zh-CN" altLang="en-US" sz="2400">
              <a:solidFill>
                <a:srgbClr val="FF0000"/>
              </a:solidFill>
            </a:endParaRPr>
          </a:p>
          <a:p>
            <a:pPr algn="l">
              <a:buClrTx/>
              <a:buSzTx/>
              <a:buFontTx/>
            </a:pPr>
            <a:r>
              <a:rPr lang="en-US" altLang="zh-CN" sz="2400"/>
              <a:t>2</a:t>
            </a:r>
            <a:r>
              <a:rPr lang="zh-CN" altLang="en-US" sz="2400"/>
              <a:t>、《汉谟拉比法典》的内容：</a:t>
            </a:r>
            <a:r>
              <a:rPr lang="zh-CN" altLang="en-US" sz="2400">
                <a:solidFill>
                  <a:srgbClr val="FF0000"/>
                </a:solidFill>
              </a:rPr>
              <a:t>社会等级森严、家庭奴隶制、商品经济活跃</a:t>
            </a:r>
          </a:p>
          <a:p>
            <a:pPr>
              <a:lnSpc>
                <a:spcPct val="100000"/>
              </a:lnSpc>
            </a:pPr>
            <a:r>
              <a:rPr lang="en-US" altLang="zh-CN" sz="2400"/>
              <a:t>3、</a:t>
            </a:r>
            <a:r>
              <a:rPr lang="zh-CN" altLang="en-US" sz="2400">
                <a:sym typeface="+mn-ea"/>
              </a:rPr>
              <a:t>《汉谟拉比法典》目的：</a:t>
            </a:r>
            <a:r>
              <a:rPr lang="zh-CN" altLang="en-US" sz="2400">
                <a:solidFill>
                  <a:srgbClr val="FF0000"/>
                </a:solidFill>
                <a:sym typeface="+mn-ea"/>
              </a:rPr>
              <a:t>维护奴隶主的利益</a:t>
            </a:r>
            <a:endParaRPr lang="zh-CN" altLang="en-US" sz="2400">
              <a:solidFill>
                <a:srgbClr val="FF0000"/>
              </a:solidFill>
            </a:endParaRPr>
          </a:p>
          <a:p>
            <a:pPr algn="l">
              <a:lnSpc>
                <a:spcPct val="100000"/>
              </a:lnSpc>
              <a:buClrTx/>
              <a:buSzTx/>
            </a:pPr>
            <a:r>
              <a:rPr lang="en-US" altLang="zh-CN" sz="2400">
                <a:sym typeface="+mn-ea"/>
              </a:rPr>
              <a:t>4</a:t>
            </a:r>
            <a:r>
              <a:rPr lang="zh-CN" altLang="en-US" sz="2400">
                <a:sym typeface="+mn-ea"/>
              </a:rPr>
              <a:t>、《汉谟拉比法典》地位：</a:t>
            </a:r>
            <a:r>
              <a:rPr lang="zh-CN" altLang="en-US" sz="2400">
                <a:solidFill>
                  <a:srgbClr val="FF0000"/>
                </a:solidFill>
                <a:sym typeface="+mn-ea"/>
              </a:rPr>
              <a:t>是迄今所知世界上第一部较为完整的成文法典</a:t>
            </a:r>
            <a:endParaRPr lang="zh-CN" altLang="en-US" sz="2400">
              <a:solidFill>
                <a:srgbClr val="FF0000"/>
              </a:solidFill>
            </a:endParaRPr>
          </a:p>
          <a:p>
            <a:pPr algn="l">
              <a:lnSpc>
                <a:spcPct val="100000"/>
              </a:lnSpc>
              <a:buClrTx/>
              <a:buSzTx/>
            </a:pPr>
            <a:r>
              <a:rPr lang="en-US" altLang="zh-CN" sz="2400">
                <a:sym typeface="+mn-ea"/>
              </a:rPr>
              <a:t>5</a:t>
            </a:r>
            <a:r>
              <a:rPr lang="zh-CN" altLang="en-US" sz="2400">
                <a:sym typeface="+mn-ea"/>
              </a:rPr>
              <a:t>、《汉谟拉比法典》意义：</a:t>
            </a:r>
            <a:r>
              <a:rPr lang="zh-CN" altLang="en-US" sz="2400">
                <a:solidFill>
                  <a:srgbClr val="FF0000"/>
                </a:solidFill>
                <a:sym typeface="+mn-ea"/>
              </a:rPr>
              <a:t>是古巴比伦王国给人类的宝贵文化遗产，表明人类社会的法制传统源远流长。</a:t>
            </a:r>
            <a:endParaRPr lang="zh-CN" altLang="en-US" sz="2400">
              <a:solidFill>
                <a:srgbClr val="FF0000"/>
              </a:solidFill>
            </a:endParaRPr>
          </a:p>
          <a:p>
            <a:pPr algn="l">
              <a:buClrTx/>
              <a:buSzTx/>
              <a:buFontTx/>
            </a:pPr>
            <a:r>
              <a:rPr lang="en-US" altLang="zh-CN" sz="2400"/>
              <a:t>6</a:t>
            </a:r>
            <a:r>
              <a:rPr lang="zh-CN" altLang="en-US" sz="2400"/>
              <a:t>、古埃及、古巴比伦、古印度都是</a:t>
            </a:r>
            <a:r>
              <a:rPr lang="zh-CN" altLang="en-US" sz="2400">
                <a:solidFill>
                  <a:srgbClr val="FF0000"/>
                </a:solidFill>
              </a:rPr>
              <a:t>奴隶制度</a:t>
            </a:r>
            <a:r>
              <a:rPr lang="zh-CN" altLang="en-US" sz="2400"/>
              <a:t>，都</a:t>
            </a:r>
            <a:r>
              <a:rPr lang="zh-CN" altLang="en-US" sz="2400">
                <a:solidFill>
                  <a:srgbClr val="FF0000"/>
                </a:solidFill>
              </a:rPr>
              <a:t>属于大河文明、农耕文明</a:t>
            </a:r>
            <a:r>
              <a:rPr lang="zh-CN" altLang="en-US" sz="2400"/>
              <a:t>。</a:t>
            </a:r>
          </a:p>
          <a:p>
            <a:pPr>
              <a:lnSpc>
                <a:spcPct val="100000"/>
              </a:lnSpc>
            </a:pPr>
            <a:r>
              <a:rPr lang="en-US" altLang="zh-CN" sz="2400"/>
              <a:t>7</a:t>
            </a:r>
            <a:r>
              <a:rPr lang="zh-CN" altLang="en-US" sz="2400"/>
              <a:t>、</a:t>
            </a:r>
            <a:r>
              <a:rPr lang="zh-CN" altLang="en-US" sz="2400">
                <a:sym typeface="+mn-ea"/>
              </a:rPr>
              <a:t>种姓制度：</a:t>
            </a:r>
            <a:r>
              <a:rPr lang="zh-CN" altLang="en-US" sz="2400">
                <a:solidFill>
                  <a:srgbClr val="FF0000"/>
                </a:solidFill>
                <a:sym typeface="+mn-ea"/>
              </a:rPr>
              <a:t>婆罗门：祭祀</a:t>
            </a:r>
            <a:r>
              <a:rPr lang="en-US" altLang="zh-CN" sz="2400">
                <a:solidFill>
                  <a:srgbClr val="FF0000"/>
                </a:solidFill>
                <a:sym typeface="+mn-ea"/>
              </a:rPr>
              <a:t>  </a:t>
            </a:r>
            <a:r>
              <a:rPr lang="zh-CN" altLang="en-US" sz="2400">
                <a:solidFill>
                  <a:srgbClr val="FF0000"/>
                </a:solidFill>
                <a:sym typeface="+mn-ea"/>
              </a:rPr>
              <a:t>刹帝利：军事行政</a:t>
            </a:r>
            <a:r>
              <a:rPr lang="en-US" altLang="zh-CN" sz="2400">
                <a:solidFill>
                  <a:srgbClr val="FF0000"/>
                </a:solidFill>
                <a:sym typeface="+mn-ea"/>
              </a:rPr>
              <a:t>  </a:t>
            </a:r>
            <a:r>
              <a:rPr lang="zh-CN" altLang="en-US" sz="2400">
                <a:solidFill>
                  <a:srgbClr val="FF0000"/>
                </a:solidFill>
                <a:sym typeface="+mn-ea"/>
              </a:rPr>
              <a:t>吠舍：农牧商业</a:t>
            </a:r>
            <a:r>
              <a:rPr lang="en-US" altLang="zh-CN" sz="2400">
                <a:solidFill>
                  <a:srgbClr val="FF0000"/>
                </a:solidFill>
                <a:sym typeface="+mn-ea"/>
              </a:rPr>
              <a:t>  </a:t>
            </a:r>
            <a:r>
              <a:rPr lang="zh-CN" altLang="en-US" sz="2400">
                <a:solidFill>
                  <a:srgbClr val="FF0000"/>
                </a:solidFill>
                <a:sym typeface="+mn-ea"/>
              </a:rPr>
              <a:t>首陀罗：被征服居民</a:t>
            </a:r>
          </a:p>
          <a:p>
            <a:pPr>
              <a:lnSpc>
                <a:spcPct val="100000"/>
              </a:lnSpc>
            </a:pPr>
            <a:r>
              <a:rPr lang="zh-CN" altLang="en-US" sz="2400">
                <a:sym typeface="+mn-ea"/>
              </a:rPr>
              <a:t>8、种姓制度特点：</a:t>
            </a:r>
            <a:r>
              <a:rPr lang="zh-CN" altLang="en-US" sz="2400">
                <a:solidFill>
                  <a:srgbClr val="FF0000"/>
                </a:solidFill>
                <a:sym typeface="+mn-ea"/>
              </a:rPr>
              <a:t>各等级世代相袭，各等级之间贵贱分明。</a:t>
            </a:r>
            <a:endParaRPr lang="zh-CN" altLang="en-US" sz="2400">
              <a:solidFill>
                <a:srgbClr val="FF0000"/>
              </a:solidFill>
            </a:endParaRPr>
          </a:p>
          <a:p>
            <a:endParaRPr lang="zh-CN" altLang="en-US" sz="2400">
              <a:solidFill>
                <a:schemeClr val="tx1"/>
              </a:solidFill>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71"/>
                                        </p:tgtEl>
                                        <p:attrNameLst>
                                          <p:attrName>style.visibility</p:attrName>
                                        </p:attrNameLst>
                                      </p:cBhvr>
                                      <p:to>
                                        <p:strVal val="visible"/>
                                      </p:to>
                                    </p:set>
                                    <p:animEffect transition="in" filter="blinds(horizontal)">
                                      <p:cBhvr>
                                        <p:cTn id="7" dur="500"/>
                                        <p:tgtEl>
                                          <p:spTgt spid="1027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274"/>
                                        </p:tgtEl>
                                        <p:attrNameLst>
                                          <p:attrName>style.visibility</p:attrName>
                                        </p:attrNameLst>
                                      </p:cBhvr>
                                      <p:to>
                                        <p:strVal val="visible"/>
                                      </p:to>
                                    </p:set>
                                    <p:animEffect transition="in" filter="blinds(horizontal)">
                                      <p:cBhvr>
                                        <p:cTn id="10" dur="500"/>
                                        <p:tgtEl>
                                          <p:spTgt spid="1027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278"/>
                                        </p:tgtEl>
                                        <p:attrNameLst>
                                          <p:attrName>style.visibility</p:attrName>
                                        </p:attrNameLst>
                                      </p:cBhvr>
                                      <p:to>
                                        <p:strVal val="visible"/>
                                      </p:to>
                                    </p:set>
                                    <p:animEffect transition="in" filter="blinds(horizontal)">
                                      <p:cBhvr>
                                        <p:cTn id="13" dur="500"/>
                                        <p:tgtEl>
                                          <p:spTgt spid="1027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272"/>
                                        </p:tgtEl>
                                        <p:attrNameLst>
                                          <p:attrName>style.visibility</p:attrName>
                                        </p:attrNameLst>
                                      </p:cBhvr>
                                      <p:to>
                                        <p:strVal val="visible"/>
                                      </p:to>
                                    </p:set>
                                    <p:animEffect transition="in" filter="blinds(horizontal)">
                                      <p:cBhvr>
                                        <p:cTn id="18" dur="500"/>
                                        <p:tgtEl>
                                          <p:spTgt spid="1027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276"/>
                                        </p:tgtEl>
                                        <p:attrNameLst>
                                          <p:attrName>style.visibility</p:attrName>
                                        </p:attrNameLst>
                                      </p:cBhvr>
                                      <p:to>
                                        <p:strVal val="visible"/>
                                      </p:to>
                                    </p:set>
                                    <p:animEffect transition="in" filter="blinds(horizontal)">
                                      <p:cBhvr>
                                        <p:cTn id="23" dur="500"/>
                                        <p:tgtEl>
                                          <p:spTgt spid="1027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280"/>
                                        </p:tgtEl>
                                        <p:attrNameLst>
                                          <p:attrName>style.visibility</p:attrName>
                                        </p:attrNameLst>
                                      </p:cBhvr>
                                      <p:to>
                                        <p:strVal val="visible"/>
                                      </p:to>
                                    </p:set>
                                    <p:animEffect transition="in" filter="blinds(horizontal)">
                                      <p:cBhvr>
                                        <p:cTn id="28" dur="500"/>
                                        <p:tgtEl>
                                          <p:spTgt spid="1028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0273"/>
                                        </p:tgtEl>
                                        <p:attrNameLst>
                                          <p:attrName>style.visibility</p:attrName>
                                        </p:attrNameLst>
                                      </p:cBhvr>
                                      <p:to>
                                        <p:strVal val="visible"/>
                                      </p:to>
                                    </p:set>
                                    <p:animEffect transition="in" filter="blinds(horizontal)">
                                      <p:cBhvr>
                                        <p:cTn id="38" dur="500"/>
                                        <p:tgtEl>
                                          <p:spTgt spid="1027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0281"/>
                                        </p:tgtEl>
                                        <p:attrNameLst>
                                          <p:attrName>style.visibility</p:attrName>
                                        </p:attrNameLst>
                                      </p:cBhvr>
                                      <p:to>
                                        <p:strVal val="visible"/>
                                      </p:to>
                                    </p:set>
                                    <p:animEffect transition="in" filter="blinds(horizontal)">
                                      <p:cBhvr>
                                        <p:cTn id="43" dur="500"/>
                                        <p:tgtEl>
                                          <p:spTgt spid="10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1" grpId="0"/>
      <p:bldP spid="10272" grpId="0"/>
      <p:bldP spid="10274" grpId="0"/>
      <p:bldP spid="10276" grpId="0"/>
      <p:bldP spid="10278" grpId="0"/>
      <p:bldP spid="10280" grpId="0"/>
      <p:bldP spid="4" grpId="0"/>
      <p:bldP spid="10273" grpId="0"/>
      <p:bldP spid="1028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285750" y="220345"/>
            <a:ext cx="11291570" cy="6029325"/>
          </a:xfrm>
        </p:spPr>
        <p:txBody>
          <a:bodyPr>
            <a:noAutofit/>
          </a:bodyPr>
          <a:lstStyle/>
          <a:p>
            <a:pPr>
              <a:lnSpc>
                <a:spcPct val="100000"/>
              </a:lnSpc>
            </a:pPr>
            <a:r>
              <a:rPr lang="en-US" altLang="zh-CN" sz="2400">
                <a:sym typeface="+mn-ea"/>
              </a:rPr>
              <a:t>1</a:t>
            </a:r>
            <a:r>
              <a:rPr lang="zh-CN" altLang="en-US" sz="2400">
                <a:sym typeface="+mn-ea"/>
              </a:rPr>
              <a:t>、希腊城邦的特点：</a:t>
            </a:r>
            <a:r>
              <a:rPr lang="zh-CN" altLang="en-US" sz="2400">
                <a:solidFill>
                  <a:srgbClr val="FF0000"/>
                </a:solidFill>
                <a:sym typeface="+mn-ea"/>
              </a:rPr>
              <a:t>小国寡民</a:t>
            </a:r>
            <a:endParaRPr lang="zh-CN" altLang="en-US" sz="2400">
              <a:solidFill>
                <a:srgbClr val="FF0000"/>
              </a:solidFill>
            </a:endParaRPr>
          </a:p>
          <a:p>
            <a:pPr>
              <a:lnSpc>
                <a:spcPct val="100000"/>
              </a:lnSpc>
            </a:pPr>
            <a:r>
              <a:rPr lang="en-US" altLang="zh-CN" sz="2400">
                <a:sym typeface="+mn-ea"/>
              </a:rPr>
              <a:t>2</a:t>
            </a:r>
            <a:r>
              <a:rPr lang="zh-CN" altLang="en-US" sz="2400">
                <a:sym typeface="+mn-ea"/>
              </a:rPr>
              <a:t>、雅典民主政治</a:t>
            </a:r>
            <a:r>
              <a:rPr lang="zh-CN" altLang="en-US" sz="2400" b="1" u="sng">
                <a:solidFill>
                  <a:srgbClr val="FF0000"/>
                </a:solidFill>
                <a:sym typeface="+mn-ea"/>
              </a:rPr>
              <a:t>（奴隶制）</a:t>
            </a:r>
            <a:r>
              <a:rPr lang="zh-CN" altLang="en-US" sz="2400">
                <a:sym typeface="+mn-ea"/>
              </a:rPr>
              <a:t>达到全盛的人物：</a:t>
            </a:r>
            <a:r>
              <a:rPr lang="zh-CN" altLang="en-US" sz="2400">
                <a:solidFill>
                  <a:srgbClr val="FF0000"/>
                </a:solidFill>
                <a:sym typeface="+mn-ea"/>
              </a:rPr>
              <a:t>伯里克利</a:t>
            </a:r>
          </a:p>
          <a:p>
            <a:pPr>
              <a:lnSpc>
                <a:spcPct val="100000"/>
              </a:lnSpc>
            </a:pPr>
            <a:r>
              <a:rPr lang="zh-CN" altLang="en-US" sz="2400">
                <a:sym typeface="+mn-ea"/>
              </a:rPr>
              <a:t>3、雅典民主政治的特点：</a:t>
            </a:r>
            <a:r>
              <a:rPr lang="zh-CN" altLang="en-US" sz="2400">
                <a:solidFill>
                  <a:srgbClr val="FF0000"/>
                </a:solidFill>
                <a:sym typeface="+mn-ea"/>
              </a:rPr>
              <a:t>直接民主、轮番而治、主权在民、津贴制度</a:t>
            </a:r>
            <a:endParaRPr lang="zh-CN" altLang="en-US" sz="2400">
              <a:sym typeface="+mn-ea"/>
            </a:endParaRPr>
          </a:p>
          <a:p>
            <a:pPr algn="l">
              <a:lnSpc>
                <a:spcPct val="100000"/>
              </a:lnSpc>
              <a:buClrTx/>
              <a:buSzTx/>
            </a:pPr>
            <a:r>
              <a:rPr lang="en-US" altLang="zh-CN" sz="2400">
                <a:sym typeface="+mn-ea"/>
              </a:rPr>
              <a:t>4</a:t>
            </a:r>
            <a:r>
              <a:rPr lang="zh-CN" altLang="en-US" sz="2400">
                <a:sym typeface="+mn-ea"/>
              </a:rPr>
              <a:t>、雅典民主政治的实质：</a:t>
            </a:r>
            <a:r>
              <a:rPr lang="zh-CN" altLang="en-US" sz="2400">
                <a:solidFill>
                  <a:srgbClr val="FF0000"/>
                </a:solidFill>
                <a:sym typeface="+mn-ea"/>
              </a:rPr>
              <a:t>奴隶制民主政治</a:t>
            </a:r>
          </a:p>
          <a:p>
            <a:pPr>
              <a:lnSpc>
                <a:spcPct val="100000"/>
              </a:lnSpc>
            </a:pPr>
            <a:r>
              <a:rPr lang="en-US" altLang="zh-CN" sz="2400">
                <a:sym typeface="+mn-ea"/>
              </a:rPr>
              <a:t>5</a:t>
            </a:r>
            <a:r>
              <a:rPr lang="zh-CN" altLang="en-US" sz="2400">
                <a:sym typeface="+mn-ea"/>
              </a:rPr>
              <a:t>、雅典最高权力机构：</a:t>
            </a:r>
            <a:r>
              <a:rPr lang="zh-CN" altLang="en-US" sz="2400">
                <a:solidFill>
                  <a:srgbClr val="FF0000"/>
                </a:solidFill>
                <a:sym typeface="+mn-ea"/>
              </a:rPr>
              <a:t>公民大会</a:t>
            </a:r>
          </a:p>
          <a:p>
            <a:pPr algn="l">
              <a:lnSpc>
                <a:spcPct val="100000"/>
              </a:lnSpc>
              <a:buClrTx/>
              <a:buSzTx/>
            </a:pPr>
            <a:r>
              <a:rPr lang="en-US" altLang="zh-CN" sz="2400">
                <a:sym typeface="+mn-ea"/>
              </a:rPr>
              <a:t>6</a:t>
            </a:r>
            <a:r>
              <a:rPr lang="zh-CN" altLang="en-US" sz="2400">
                <a:sym typeface="+mn-ea"/>
              </a:rPr>
              <a:t>、雅典为鼓励贫穷公民参政议政：</a:t>
            </a:r>
            <a:r>
              <a:rPr lang="zh-CN" altLang="en-US" sz="2400">
                <a:solidFill>
                  <a:srgbClr val="FF0000"/>
                </a:solidFill>
                <a:sym typeface="+mn-ea"/>
              </a:rPr>
              <a:t>建立津贴制度</a:t>
            </a:r>
          </a:p>
          <a:p>
            <a:pPr algn="l">
              <a:lnSpc>
                <a:spcPct val="100000"/>
              </a:lnSpc>
              <a:buClrTx/>
              <a:buSzTx/>
            </a:pPr>
            <a:r>
              <a:rPr lang="en-US" altLang="zh-CN" sz="2400">
                <a:sym typeface="+mn-ea"/>
              </a:rPr>
              <a:t>7</a:t>
            </a:r>
            <a:r>
              <a:rPr lang="zh-CN" altLang="en-US" sz="2400">
                <a:sym typeface="+mn-ea"/>
              </a:rPr>
              <a:t>、评价雅典民主政治：</a:t>
            </a:r>
          </a:p>
          <a:p>
            <a:pPr algn="l">
              <a:lnSpc>
                <a:spcPct val="100000"/>
              </a:lnSpc>
              <a:buClrTx/>
              <a:buSzTx/>
            </a:pPr>
            <a:r>
              <a:rPr lang="zh-CN" altLang="en-US" sz="2400">
                <a:sym typeface="+mn-ea"/>
              </a:rPr>
              <a:t>罗马共和国</a:t>
            </a:r>
            <a:r>
              <a:rPr lang="zh-CN" altLang="en-US" sz="2400" b="1" u="sng">
                <a:solidFill>
                  <a:srgbClr val="FF0000"/>
                </a:solidFill>
                <a:sym typeface="+mn-ea"/>
              </a:rPr>
              <a:t>（奴隶制）</a:t>
            </a:r>
            <a:r>
              <a:rPr lang="zh-CN" altLang="en-US" sz="2400">
                <a:sym typeface="+mn-ea"/>
              </a:rPr>
              <a:t>最高权力机构：</a:t>
            </a:r>
            <a:r>
              <a:rPr lang="zh-CN" altLang="en-US" sz="2400">
                <a:solidFill>
                  <a:srgbClr val="FF0000"/>
                </a:solidFill>
                <a:sym typeface="+mn-ea"/>
              </a:rPr>
              <a:t>公民大会，决策权在元老院。</a:t>
            </a:r>
          </a:p>
          <a:p>
            <a:pPr>
              <a:lnSpc>
                <a:spcPct val="100000"/>
              </a:lnSpc>
            </a:pPr>
            <a:r>
              <a:rPr lang="en-US" altLang="zh-CN" sz="2400">
                <a:sym typeface="+mn-ea"/>
              </a:rPr>
              <a:t>8</a:t>
            </a:r>
            <a:r>
              <a:rPr lang="zh-CN" altLang="en-US" sz="2400">
                <a:sym typeface="+mn-ea"/>
              </a:rPr>
              <a:t>、罗马共和国变帝国的关键人物：</a:t>
            </a:r>
            <a:r>
              <a:rPr lang="zh-CN" altLang="en-US" sz="2400">
                <a:solidFill>
                  <a:srgbClr val="FF0000"/>
                </a:solidFill>
                <a:sym typeface="+mn-ea"/>
              </a:rPr>
              <a:t>屋大维</a:t>
            </a:r>
          </a:p>
          <a:p>
            <a:pPr>
              <a:lnSpc>
                <a:spcPct val="100000"/>
              </a:lnSpc>
            </a:pPr>
            <a:r>
              <a:rPr lang="zh-CN" altLang="en-US" sz="2400">
                <a:sym typeface="+mn-ea"/>
              </a:rPr>
              <a:t>9、罗马帝国</a:t>
            </a:r>
            <a:r>
              <a:rPr lang="zh-CN" altLang="en-US" sz="2400" b="1" u="sng">
                <a:solidFill>
                  <a:srgbClr val="FF0000"/>
                </a:solidFill>
                <a:sym typeface="+mn-ea"/>
              </a:rPr>
              <a:t>（奴隶制）</a:t>
            </a:r>
            <a:r>
              <a:rPr lang="zh-CN" altLang="en-US" sz="2400">
                <a:sym typeface="+mn-ea"/>
              </a:rPr>
              <a:t>达到全盛，地中海成为内湖的时间：</a:t>
            </a:r>
            <a:r>
              <a:rPr lang="zh-CN" altLang="en-US" sz="2400">
                <a:solidFill>
                  <a:srgbClr val="FF0000"/>
                </a:solidFill>
                <a:sym typeface="+mn-ea"/>
              </a:rPr>
              <a:t>2世纪</a:t>
            </a:r>
            <a:r>
              <a:rPr lang="en-US" altLang="zh-CN" sz="2400">
                <a:sym typeface="+mn-ea"/>
              </a:rPr>
              <a:t>  </a:t>
            </a:r>
            <a:r>
              <a:rPr lang="zh-CN" altLang="en-US" sz="2400">
                <a:solidFill>
                  <a:srgbClr val="FF0000"/>
                </a:solidFill>
                <a:sym typeface="+mn-ea"/>
              </a:rPr>
              <a:t>  </a:t>
            </a:r>
          </a:p>
          <a:p>
            <a:pPr>
              <a:lnSpc>
                <a:spcPct val="100000"/>
              </a:lnSpc>
            </a:pPr>
            <a:r>
              <a:rPr lang="zh-CN" altLang="en-US" sz="2400">
                <a:solidFill>
                  <a:srgbClr val="FF0000"/>
                </a:solidFill>
                <a:sym typeface="+mn-ea"/>
              </a:rPr>
              <a:t> </a:t>
            </a:r>
            <a:r>
              <a:rPr lang="en-US" altLang="zh-CN" sz="2400">
                <a:solidFill>
                  <a:srgbClr val="FF0000"/>
                </a:solidFill>
                <a:sym typeface="+mn-ea"/>
              </a:rPr>
              <a:t>    </a:t>
            </a:r>
            <a:r>
              <a:rPr lang="zh-CN" altLang="en-US" sz="2400">
                <a:solidFill>
                  <a:srgbClr val="FF0000"/>
                </a:solidFill>
                <a:sym typeface="+mn-ea"/>
              </a:rPr>
              <a:t>成为地中海霸主：前2C，罗马共和国</a:t>
            </a:r>
          </a:p>
          <a:p>
            <a:pPr>
              <a:lnSpc>
                <a:spcPct val="100000"/>
              </a:lnSpc>
            </a:pPr>
            <a:r>
              <a:rPr lang="zh-CN" altLang="en-US" sz="2400">
                <a:sym typeface="+mn-ea"/>
              </a:rPr>
              <a:t>10、罗马共和国的衰落：</a:t>
            </a:r>
            <a:r>
              <a:rPr lang="zh-CN" altLang="en-US" sz="2400">
                <a:solidFill>
                  <a:srgbClr val="FF0000"/>
                </a:solidFill>
                <a:sym typeface="+mn-ea"/>
              </a:rPr>
              <a:t>斯巴达克起义。</a:t>
            </a:r>
            <a:r>
              <a:rPr lang="zh-CN" altLang="en-US" sz="2400">
                <a:sym typeface="+mn-ea"/>
              </a:rPr>
              <a:t>罗马帝国的灭亡：</a:t>
            </a:r>
            <a:r>
              <a:rPr lang="zh-CN" altLang="en-US" sz="2400">
                <a:solidFill>
                  <a:srgbClr val="FF0000"/>
                </a:solidFill>
                <a:sym typeface="+mn-ea"/>
              </a:rPr>
              <a:t>日耳曼人入侵，建立封建国家。（西欧奴隶社会结束、封建社会开始。）</a:t>
            </a:r>
          </a:p>
          <a:p>
            <a:pPr>
              <a:lnSpc>
                <a:spcPct val="100000"/>
              </a:lnSpc>
            </a:pPr>
            <a:endParaRPr lang="zh-CN" altLang="en-US" sz="2400"/>
          </a:p>
          <a:p>
            <a:pPr>
              <a:lnSpc>
                <a:spcPct val="100000"/>
              </a:lnSpc>
            </a:pPr>
            <a:endParaRPr lang="zh-CN" altLang="en-US" sz="2400">
              <a:solidFill>
                <a:srgbClr val="FF0000"/>
              </a:solidFill>
            </a:endParaRPr>
          </a:p>
          <a:p>
            <a:pPr>
              <a:lnSpc>
                <a:spcPct val="100000"/>
              </a:lnSpc>
            </a:pPr>
            <a:endParaRPr lang="zh-CN" altLang="en-US" sz="2400">
              <a:sym typeface="+mn-ea"/>
            </a:endParaRPr>
          </a:p>
          <a:p>
            <a:pPr>
              <a:lnSpc>
                <a:spcPct val="100000"/>
              </a:lnSpc>
            </a:pPr>
            <a:endParaRPr lang="zh-CN" altLang="en-US" sz="2400"/>
          </a:p>
          <a:p>
            <a:endParaRPr lang="zh-CN" altLang="en-US" sz="2400"/>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285750" y="332105"/>
            <a:ext cx="11547475" cy="6162675"/>
          </a:xfrm>
        </p:spPr>
        <p:txBody>
          <a:bodyPr/>
          <a:lstStyle/>
          <a:p>
            <a:r>
              <a:rPr lang="en-US" altLang="zh-CN" sz="2400"/>
              <a:t>1</a:t>
            </a:r>
            <a:r>
              <a:rPr lang="zh-CN" altLang="en-US" sz="2400"/>
              <a:t>、希腊神话特点：</a:t>
            </a:r>
            <a:r>
              <a:rPr lang="zh-CN" altLang="en-US" sz="2400">
                <a:solidFill>
                  <a:srgbClr val="FF0000"/>
                </a:solidFill>
              </a:rPr>
              <a:t>神人同形同性（带有人文主义色彩）</a:t>
            </a:r>
          </a:p>
          <a:p>
            <a:pPr algn="l">
              <a:buClrTx/>
              <a:buSzTx/>
            </a:pPr>
            <a:r>
              <a:rPr lang="en-US" altLang="zh-CN" sz="2400"/>
              <a:t>2</a:t>
            </a:r>
            <a:r>
              <a:rPr lang="zh-CN" altLang="en-US" sz="2400"/>
              <a:t>、希腊文学：</a:t>
            </a:r>
            <a:r>
              <a:rPr lang="zh-CN" altLang="en-US" sz="2400">
                <a:solidFill>
                  <a:srgbClr val="FF0000"/>
                </a:solidFill>
              </a:rPr>
              <a:t>《荷马史诗》，盲人诗人荷马</a:t>
            </a:r>
          </a:p>
          <a:p>
            <a:pPr algn="l">
              <a:buClrTx/>
              <a:buSzTx/>
            </a:pPr>
            <a:r>
              <a:rPr lang="en-US" altLang="zh-CN" sz="2400"/>
              <a:t>3</a:t>
            </a:r>
            <a:r>
              <a:rPr lang="zh-CN" altLang="en-US" sz="2400"/>
              <a:t>、希腊建筑主要是</a:t>
            </a:r>
            <a:r>
              <a:rPr lang="zh-CN" altLang="en-US" sz="2400">
                <a:solidFill>
                  <a:srgbClr val="FF0000"/>
                </a:solidFill>
              </a:rPr>
              <a:t>神庙，帕特农神庙</a:t>
            </a:r>
          </a:p>
          <a:p>
            <a:pPr algn="l">
              <a:buClrTx/>
              <a:buSzTx/>
            </a:pPr>
            <a:r>
              <a:rPr lang="en-US" altLang="zh-CN" sz="2400"/>
              <a:t>4</a:t>
            </a:r>
            <a:r>
              <a:rPr lang="zh-CN" altLang="en-US" sz="2400"/>
              <a:t>、罗马建</a:t>
            </a:r>
            <a:r>
              <a:rPr lang="zh-CN" altLang="en-US" sz="2400">
                <a:sym typeface="+mn-ea"/>
              </a:rPr>
              <a:t>筑</a:t>
            </a:r>
            <a:r>
              <a:rPr lang="zh-CN" altLang="en-US" sz="2400"/>
              <a:t>特点：</a:t>
            </a:r>
            <a:r>
              <a:rPr lang="zh-CN" altLang="en-US" sz="2400">
                <a:solidFill>
                  <a:srgbClr val="FF0000"/>
                </a:solidFill>
              </a:rPr>
              <a:t>吸收希腊建</a:t>
            </a:r>
            <a:r>
              <a:rPr lang="zh-CN" altLang="en-US" sz="2400">
                <a:solidFill>
                  <a:srgbClr val="FF0000"/>
                </a:solidFill>
                <a:sym typeface="+mn-ea"/>
              </a:rPr>
              <a:t>筑</a:t>
            </a:r>
            <a:r>
              <a:rPr lang="zh-CN" altLang="en-US" sz="2400">
                <a:solidFill>
                  <a:srgbClr val="FF0000"/>
                </a:solidFill>
              </a:rPr>
              <a:t>特点有所创新。代表：大竞技场</a:t>
            </a:r>
          </a:p>
          <a:p>
            <a:r>
              <a:rPr lang="en-US" altLang="zh-CN" sz="2400"/>
              <a:t>5</a:t>
            </a:r>
            <a:r>
              <a:rPr lang="zh-CN" altLang="en-US" sz="2400"/>
              <a:t>、</a:t>
            </a:r>
            <a:r>
              <a:rPr lang="zh-CN" altLang="en-US" sz="2400">
                <a:sym typeface="+mn-ea"/>
              </a:rPr>
              <a:t>现代公历的基础是</a:t>
            </a:r>
            <a:r>
              <a:rPr lang="zh-CN" altLang="en-US" sz="2400">
                <a:solidFill>
                  <a:srgbClr val="FF0000"/>
                </a:solidFill>
                <a:sym typeface="+mn-ea"/>
              </a:rPr>
              <a:t>儒略历。</a:t>
            </a:r>
          </a:p>
          <a:p>
            <a:r>
              <a:rPr lang="zh-CN" altLang="en-US" sz="2400">
                <a:sym typeface="+mn-ea"/>
              </a:rPr>
              <a:t>6、德谟克利特：</a:t>
            </a:r>
            <a:r>
              <a:rPr lang="zh-CN" altLang="en-US" sz="2400">
                <a:solidFill>
                  <a:srgbClr val="FF0000"/>
                </a:solidFill>
                <a:sym typeface="+mn-ea"/>
              </a:rPr>
              <a:t>C、“原子论”  </a:t>
            </a:r>
            <a:r>
              <a:rPr lang="en-US" altLang="zh-CN" sz="2400">
                <a:sym typeface="+mn-ea"/>
              </a:rPr>
              <a:t>    </a:t>
            </a:r>
            <a:r>
              <a:rPr lang="zh-CN" altLang="en-US" sz="2400">
                <a:sym typeface="+mn-ea"/>
              </a:rPr>
              <a:t>苏格拉底：</a:t>
            </a:r>
            <a:r>
              <a:rPr lang="zh-CN" altLang="en-US" sz="2400">
                <a:solidFill>
                  <a:srgbClr val="FF0000"/>
                </a:solidFill>
                <a:sym typeface="+mn-ea"/>
              </a:rPr>
              <a:t>A、认识你自己 </a:t>
            </a:r>
            <a:r>
              <a:rPr lang="en-US" altLang="zh-CN" sz="2400">
                <a:sym typeface="+mn-ea"/>
              </a:rPr>
              <a:t>     </a:t>
            </a:r>
            <a:r>
              <a:rPr lang="zh-CN" altLang="en-US" sz="2400">
                <a:sym typeface="+mn-ea"/>
              </a:rPr>
              <a:t>亚里士多德：</a:t>
            </a:r>
            <a:r>
              <a:rPr lang="zh-CN" altLang="en-US" sz="2400">
                <a:solidFill>
                  <a:srgbClr val="FF0000"/>
                </a:solidFill>
                <a:sym typeface="+mn-ea"/>
              </a:rPr>
              <a:t>B、百科全书式的学者 </a:t>
            </a:r>
          </a:p>
          <a:p>
            <a:r>
              <a:rPr lang="zh-CN" altLang="en-US" sz="2400">
                <a:sym typeface="+mn-ea"/>
              </a:rPr>
              <a:t>7、罗马法的演变</a:t>
            </a:r>
            <a:endParaRPr lang="zh-CN" altLang="en-US" sz="2400"/>
          </a:p>
          <a:p>
            <a:endParaRPr lang="zh-CN" altLang="en-US" sz="2200">
              <a:solidFill>
                <a:srgbClr val="FF0000"/>
              </a:solidFill>
            </a:endParaRPr>
          </a:p>
          <a:p>
            <a:endParaRPr lang="zh-CN" altLang="en-US" sz="2200"/>
          </a:p>
        </p:txBody>
      </p:sp>
      <p:sp>
        <p:nvSpPr>
          <p:cNvPr id="25" name="文本框 24"/>
          <p:cNvSpPr txBox="1"/>
          <p:nvPr/>
        </p:nvSpPr>
        <p:spPr>
          <a:xfrm>
            <a:off x="8961755" y="5048250"/>
            <a:ext cx="2999105" cy="505460"/>
          </a:xfrm>
          <a:prstGeom prst="rect">
            <a:avLst/>
          </a:prstGeom>
          <a:noFill/>
        </p:spPr>
        <p:txBody>
          <a:bodyPr wrap="square" rtlCol="0">
            <a:noAutofit/>
          </a:bodyPr>
          <a:lstStyle/>
          <a:p>
            <a:r>
              <a:rPr lang="zh-CN" altLang="en-US" sz="2800"/>
              <a:t>《罗马民法大全》</a:t>
            </a:r>
          </a:p>
        </p:txBody>
      </p:sp>
      <p:sp>
        <p:nvSpPr>
          <p:cNvPr id="32" name="文本框 31"/>
          <p:cNvSpPr txBox="1"/>
          <p:nvPr/>
        </p:nvSpPr>
        <p:spPr>
          <a:xfrm>
            <a:off x="187960" y="5109210"/>
            <a:ext cx="2324100" cy="418465"/>
          </a:xfrm>
          <a:prstGeom prst="rect">
            <a:avLst/>
          </a:prstGeom>
          <a:noFill/>
        </p:spPr>
        <p:txBody>
          <a:bodyPr wrap="square" rtlCol="0">
            <a:noAutofit/>
          </a:bodyPr>
          <a:lstStyle/>
          <a:p>
            <a:r>
              <a:rPr lang="en-US" altLang="zh-CN" sz="2800">
                <a:solidFill>
                  <a:srgbClr val="FF0000"/>
                </a:solidFill>
              </a:rPr>
              <a:t>1</a:t>
            </a:r>
            <a:r>
              <a:rPr lang="zh-CN" altLang="en-US" sz="2800">
                <a:solidFill>
                  <a:srgbClr val="FF0000"/>
                </a:solidFill>
              </a:rPr>
              <a:t>习惯法</a:t>
            </a:r>
          </a:p>
        </p:txBody>
      </p:sp>
      <p:sp>
        <p:nvSpPr>
          <p:cNvPr id="33" name="文本框 32"/>
          <p:cNvSpPr txBox="1"/>
          <p:nvPr/>
        </p:nvSpPr>
        <p:spPr>
          <a:xfrm>
            <a:off x="385445" y="5784215"/>
            <a:ext cx="1930400" cy="348615"/>
          </a:xfrm>
          <a:prstGeom prst="rect">
            <a:avLst/>
          </a:prstGeom>
          <a:noFill/>
        </p:spPr>
        <p:txBody>
          <a:bodyPr wrap="square" rtlCol="0">
            <a:noAutofit/>
          </a:bodyPr>
          <a:lstStyle/>
          <a:p>
            <a:r>
              <a:rPr lang="zh-CN" altLang="en-US" sz="2800"/>
              <a:t>罗马城邦</a:t>
            </a:r>
          </a:p>
        </p:txBody>
      </p:sp>
      <p:sp>
        <p:nvSpPr>
          <p:cNvPr id="34" name="文本框 33"/>
          <p:cNvSpPr txBox="1"/>
          <p:nvPr/>
        </p:nvSpPr>
        <p:spPr>
          <a:xfrm>
            <a:off x="6903720" y="5022215"/>
            <a:ext cx="2324100" cy="418465"/>
          </a:xfrm>
          <a:prstGeom prst="rect">
            <a:avLst/>
          </a:prstGeom>
          <a:noFill/>
        </p:spPr>
        <p:txBody>
          <a:bodyPr wrap="square" rtlCol="0">
            <a:noAutofit/>
          </a:bodyPr>
          <a:lstStyle/>
          <a:p>
            <a:r>
              <a:rPr lang="en-US" altLang="zh-CN" sz="2800">
                <a:solidFill>
                  <a:srgbClr val="FF0000"/>
                </a:solidFill>
              </a:rPr>
              <a:t>3</a:t>
            </a:r>
            <a:r>
              <a:rPr lang="zh-CN" altLang="en-US" sz="2800">
                <a:solidFill>
                  <a:srgbClr val="FF0000"/>
                </a:solidFill>
              </a:rPr>
              <a:t>万民法、</a:t>
            </a:r>
          </a:p>
          <a:p>
            <a:r>
              <a:rPr lang="zh-CN" altLang="en-US" sz="2800">
                <a:solidFill>
                  <a:srgbClr val="FF0000"/>
                </a:solidFill>
              </a:rPr>
              <a:t>经济法</a:t>
            </a:r>
          </a:p>
        </p:txBody>
      </p:sp>
      <p:sp>
        <p:nvSpPr>
          <p:cNvPr id="35" name="文本框 34"/>
          <p:cNvSpPr txBox="1"/>
          <p:nvPr/>
        </p:nvSpPr>
        <p:spPr>
          <a:xfrm>
            <a:off x="2002155" y="5109210"/>
            <a:ext cx="4394200" cy="1023620"/>
          </a:xfrm>
          <a:prstGeom prst="rect">
            <a:avLst/>
          </a:prstGeom>
          <a:noFill/>
        </p:spPr>
        <p:txBody>
          <a:bodyPr wrap="square" rtlCol="0">
            <a:noAutofit/>
          </a:bodyPr>
          <a:lstStyle/>
          <a:p>
            <a:r>
              <a:rPr lang="en-US" altLang="zh-CN" sz="2800">
                <a:solidFill>
                  <a:srgbClr val="FF0000"/>
                </a:solidFill>
              </a:rPr>
              <a:t>2 </a:t>
            </a:r>
            <a:r>
              <a:rPr lang="zh-CN" altLang="en-US" sz="2800">
                <a:solidFill>
                  <a:srgbClr val="FF0000"/>
                </a:solidFill>
              </a:rPr>
              <a:t>成文法：《十二铜表法》</a:t>
            </a:r>
          </a:p>
          <a:p>
            <a:r>
              <a:rPr lang="zh-CN" altLang="en-US" sz="2800">
                <a:solidFill>
                  <a:srgbClr val="FF0000"/>
                </a:solidFill>
              </a:rPr>
              <a:t>公民法</a:t>
            </a:r>
          </a:p>
        </p:txBody>
      </p:sp>
      <p:sp>
        <p:nvSpPr>
          <p:cNvPr id="36" name="文本框 35"/>
          <p:cNvSpPr txBox="1"/>
          <p:nvPr/>
        </p:nvSpPr>
        <p:spPr>
          <a:xfrm>
            <a:off x="3073400" y="5784215"/>
            <a:ext cx="2675890" cy="348615"/>
          </a:xfrm>
          <a:prstGeom prst="rect">
            <a:avLst/>
          </a:prstGeom>
          <a:noFill/>
        </p:spPr>
        <p:txBody>
          <a:bodyPr wrap="square" rtlCol="0">
            <a:noAutofit/>
          </a:bodyPr>
          <a:lstStyle/>
          <a:p>
            <a:r>
              <a:rPr lang="zh-CN" altLang="en-US" sz="2800"/>
              <a:t>罗马共和国</a:t>
            </a:r>
          </a:p>
        </p:txBody>
      </p:sp>
      <p:sp>
        <p:nvSpPr>
          <p:cNvPr id="37" name="文本框 36"/>
          <p:cNvSpPr txBox="1"/>
          <p:nvPr/>
        </p:nvSpPr>
        <p:spPr>
          <a:xfrm>
            <a:off x="6506210" y="5784215"/>
            <a:ext cx="1930400" cy="348615"/>
          </a:xfrm>
          <a:prstGeom prst="rect">
            <a:avLst/>
          </a:prstGeom>
          <a:noFill/>
        </p:spPr>
        <p:txBody>
          <a:bodyPr wrap="square" rtlCol="0">
            <a:noAutofit/>
          </a:bodyPr>
          <a:lstStyle/>
          <a:p>
            <a:r>
              <a:rPr lang="zh-CN" altLang="en-US" sz="2800"/>
              <a:t>罗马帝国</a:t>
            </a:r>
          </a:p>
        </p:txBody>
      </p:sp>
      <p:sp>
        <p:nvSpPr>
          <p:cNvPr id="38" name="文本框 37"/>
          <p:cNvSpPr txBox="1"/>
          <p:nvPr/>
        </p:nvSpPr>
        <p:spPr>
          <a:xfrm>
            <a:off x="9771380" y="5784215"/>
            <a:ext cx="2500630" cy="348615"/>
          </a:xfrm>
          <a:prstGeom prst="rect">
            <a:avLst/>
          </a:prstGeom>
          <a:noFill/>
        </p:spPr>
        <p:txBody>
          <a:bodyPr wrap="square" rtlCol="0">
            <a:noAutofit/>
          </a:bodyPr>
          <a:lstStyle/>
          <a:p>
            <a:r>
              <a:rPr lang="zh-CN" altLang="en-US" sz="2800"/>
              <a:t>拜占庭帝国</a:t>
            </a:r>
          </a:p>
        </p:txBody>
      </p:sp>
      <p:cxnSp>
        <p:nvCxnSpPr>
          <p:cNvPr id="40" name="直接箭头连接符 39"/>
          <p:cNvCxnSpPr/>
          <p:nvPr/>
        </p:nvCxnSpPr>
        <p:spPr>
          <a:xfrm>
            <a:off x="1376680" y="5386070"/>
            <a:ext cx="6254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p:nvPr/>
        </p:nvCxnSpPr>
        <p:spPr>
          <a:xfrm>
            <a:off x="6094730" y="5386070"/>
            <a:ext cx="6254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a:off x="8295640" y="5364480"/>
            <a:ext cx="6254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2096135" y="6049645"/>
            <a:ext cx="6254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p:nvPr/>
        </p:nvCxnSpPr>
        <p:spPr>
          <a:xfrm>
            <a:off x="8537575" y="6038850"/>
            <a:ext cx="6254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a:off x="5469890" y="6122035"/>
            <a:ext cx="6254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118110" y="209550"/>
            <a:ext cx="12073890" cy="6040120"/>
          </a:xfrm>
        </p:spPr>
        <p:txBody>
          <a:bodyPr>
            <a:normAutofit fontScale="92500"/>
          </a:bodyPr>
          <a:lstStyle/>
          <a:p>
            <a:pPr algn="l">
              <a:buClrTx/>
              <a:buSzTx/>
            </a:pPr>
            <a:r>
              <a:rPr lang="en-US" altLang="zh-CN" sz="2400">
                <a:sym typeface="+mn-ea"/>
              </a:rPr>
              <a:t>1</a:t>
            </a:r>
            <a:r>
              <a:rPr lang="zh-CN" altLang="en-US" sz="2400">
                <a:sym typeface="+mn-ea"/>
              </a:rPr>
              <a:t>、克洛维建立了一个什么国家？社会性质？</a:t>
            </a:r>
            <a:r>
              <a:rPr lang="zh-CN" altLang="en-US" sz="2400">
                <a:solidFill>
                  <a:srgbClr val="FF0000"/>
                </a:solidFill>
                <a:sym typeface="+mn-ea"/>
              </a:rPr>
              <a:t>法兰克王国 封建国家</a:t>
            </a:r>
            <a:endParaRPr lang="zh-CN" altLang="en-US" sz="2400">
              <a:solidFill>
                <a:srgbClr val="FF0000"/>
              </a:solidFill>
            </a:endParaRPr>
          </a:p>
          <a:p>
            <a:pPr algn="l">
              <a:buClrTx/>
              <a:buSzTx/>
            </a:pPr>
            <a:r>
              <a:rPr lang="en-US" altLang="zh-CN" sz="2400">
                <a:sym typeface="+mn-ea"/>
              </a:rPr>
              <a:t>2</a:t>
            </a:r>
            <a:r>
              <a:rPr lang="zh-CN" altLang="en-US" sz="2400">
                <a:sym typeface="+mn-ea"/>
              </a:rPr>
              <a:t>、法兰克王国的政治制度</a:t>
            </a:r>
            <a:r>
              <a:rPr lang="zh-CN" altLang="en-US" sz="2400" b="1" u="sng">
                <a:solidFill>
                  <a:srgbClr val="FF0000"/>
                </a:solidFill>
                <a:sym typeface="+mn-ea"/>
              </a:rPr>
              <a:t>（改革）</a:t>
            </a:r>
            <a:r>
              <a:rPr lang="zh-CN" altLang="en-US" sz="2400">
                <a:sym typeface="+mn-ea"/>
              </a:rPr>
              <a:t>：</a:t>
            </a:r>
            <a:r>
              <a:rPr lang="zh-CN" altLang="en-US" sz="2400">
                <a:solidFill>
                  <a:srgbClr val="FF0000"/>
                </a:solidFill>
                <a:sym typeface="+mn-ea"/>
              </a:rPr>
              <a:t>封君与封臣</a:t>
            </a:r>
            <a:r>
              <a:rPr lang="zh-CN" altLang="en-US" sz="2400" b="1" u="sng">
                <a:solidFill>
                  <a:srgbClr val="FF0000"/>
                </a:solidFill>
                <a:sym typeface="+mn-ea"/>
              </a:rPr>
              <a:t>（查理马特）</a:t>
            </a:r>
            <a:r>
              <a:rPr lang="en-US" altLang="zh-CN" sz="2400">
                <a:sym typeface="+mn-ea"/>
              </a:rPr>
              <a:t>    </a:t>
            </a:r>
            <a:r>
              <a:rPr lang="zh-CN" altLang="en-US" sz="2400">
                <a:sym typeface="+mn-ea"/>
              </a:rPr>
              <a:t>经济制度：</a:t>
            </a:r>
            <a:r>
              <a:rPr lang="zh-CN" altLang="en-US" sz="2400">
                <a:solidFill>
                  <a:srgbClr val="FF0000"/>
                </a:solidFill>
                <a:sym typeface="+mn-ea"/>
              </a:rPr>
              <a:t>庄园</a:t>
            </a:r>
          </a:p>
          <a:p>
            <a:pPr algn="l">
              <a:buClrTx/>
              <a:buSzTx/>
            </a:pPr>
            <a:r>
              <a:rPr lang="en-US" altLang="zh-CN" sz="2400">
                <a:sym typeface="+mn-ea"/>
              </a:rPr>
              <a:t>3</a:t>
            </a:r>
            <a:r>
              <a:rPr lang="zh-CN" altLang="en-US" sz="2400">
                <a:sym typeface="+mn-ea"/>
              </a:rPr>
              <a:t>、</a:t>
            </a:r>
            <a:r>
              <a:rPr lang="zh-CN" altLang="en-US" sz="2400">
                <a:solidFill>
                  <a:srgbClr val="FF0000"/>
                </a:solidFill>
                <a:sym typeface="+mn-ea"/>
              </a:rPr>
              <a:t>法兰克王国</a:t>
            </a:r>
            <a:r>
              <a:rPr lang="en-US" altLang="zh-CN" sz="2400">
                <a:solidFill>
                  <a:srgbClr val="FF0000"/>
                </a:solidFill>
                <a:sym typeface="+mn-ea"/>
              </a:rPr>
              <a:t>——</a:t>
            </a:r>
            <a:r>
              <a:rPr lang="zh-CN" altLang="en-US" sz="2400">
                <a:solidFill>
                  <a:srgbClr val="FF0000"/>
                </a:solidFill>
                <a:sym typeface="+mn-ea"/>
              </a:rPr>
              <a:t>查理曼帝国（统治范围在欧洲）</a:t>
            </a:r>
            <a:r>
              <a:rPr lang="en-US" altLang="zh-CN" sz="2400">
                <a:solidFill>
                  <a:srgbClr val="FF0000"/>
                </a:solidFill>
                <a:sym typeface="+mn-ea"/>
              </a:rPr>
              <a:t>——</a:t>
            </a:r>
            <a:r>
              <a:rPr lang="zh-CN" altLang="en-US" sz="2400">
                <a:solidFill>
                  <a:srgbClr val="FF0000"/>
                </a:solidFill>
                <a:sym typeface="+mn-ea"/>
              </a:rPr>
              <a:t>分裂成德、法、意</a:t>
            </a:r>
          </a:p>
          <a:p>
            <a:pPr algn="l">
              <a:buClrTx/>
              <a:buSzTx/>
            </a:pPr>
            <a:r>
              <a:rPr lang="en-US" altLang="zh-CN" sz="2400">
                <a:sym typeface="+mn-ea"/>
              </a:rPr>
              <a:t>4</a:t>
            </a:r>
            <a:r>
              <a:rPr lang="zh-CN" altLang="en-US" sz="2400">
                <a:sym typeface="+mn-ea"/>
              </a:rPr>
              <a:t>、封君封臣制度</a:t>
            </a:r>
            <a:r>
              <a:rPr lang="zh-CN" altLang="en-US" sz="2400" b="1" u="sng">
                <a:solidFill>
                  <a:srgbClr val="FF0000"/>
                </a:solidFill>
                <a:sym typeface="+mn-ea"/>
              </a:rPr>
              <a:t>（封建制）</a:t>
            </a:r>
            <a:r>
              <a:rPr lang="zh-CN" altLang="en-US" sz="2400">
                <a:sym typeface="+mn-ea"/>
              </a:rPr>
              <a:t>的特点：</a:t>
            </a:r>
            <a:r>
              <a:rPr lang="zh-CN" altLang="en-US" sz="2400">
                <a:solidFill>
                  <a:srgbClr val="FF0000"/>
                </a:solidFill>
                <a:sym typeface="+mn-ea"/>
              </a:rPr>
              <a:t>严格的等级性、不能越级从属、权利义务交织在一起、有契约意义、以土地封赐为纽带。</a:t>
            </a:r>
          </a:p>
          <a:p>
            <a:pPr algn="l">
              <a:buClrTx/>
              <a:buSzTx/>
            </a:pPr>
            <a:r>
              <a:rPr lang="en-US" altLang="zh-CN" sz="2400">
                <a:sym typeface="+mn-ea"/>
              </a:rPr>
              <a:t>5</a:t>
            </a:r>
            <a:r>
              <a:rPr lang="zh-CN" altLang="en-US" sz="2400">
                <a:sym typeface="+mn-ea"/>
              </a:rPr>
              <a:t>、庄园法庭的特点：</a:t>
            </a:r>
            <a:r>
              <a:rPr lang="zh-CN" altLang="en-US" sz="2400">
                <a:solidFill>
                  <a:srgbClr val="FF0000"/>
                </a:solidFill>
                <a:sym typeface="+mn-ea"/>
              </a:rPr>
              <a:t>没有固定时间、地点、人员</a:t>
            </a:r>
          </a:p>
          <a:p>
            <a:pPr algn="l">
              <a:buClrTx/>
              <a:buSzTx/>
            </a:pPr>
            <a:r>
              <a:rPr lang="zh-CN" altLang="en-US" sz="2400">
                <a:sym typeface="+mn-ea"/>
              </a:rPr>
              <a:t>6、庄园的性质：</a:t>
            </a:r>
            <a:r>
              <a:rPr lang="zh-CN" altLang="en-US" sz="2400">
                <a:solidFill>
                  <a:srgbClr val="FF0000"/>
                </a:solidFill>
                <a:sym typeface="+mn-ea"/>
              </a:rPr>
              <a:t>自给自足的政治经济单位</a:t>
            </a:r>
            <a:endParaRPr lang="zh-CN" altLang="en-US" sz="2400">
              <a:solidFill>
                <a:srgbClr val="FF0000"/>
              </a:solidFill>
            </a:endParaRPr>
          </a:p>
          <a:p>
            <a:pPr algn="l">
              <a:buClrTx/>
              <a:buSzTx/>
            </a:pPr>
            <a:r>
              <a:rPr lang="en-US" altLang="zh-CN" sz="2400">
                <a:sym typeface="+mn-ea"/>
              </a:rPr>
              <a:t>7</a:t>
            </a:r>
            <a:r>
              <a:rPr lang="zh-CN" altLang="en-US" sz="2400">
                <a:sym typeface="+mn-ea"/>
              </a:rPr>
              <a:t>、西欧城市重新兴起的时间、原因：</a:t>
            </a:r>
            <a:r>
              <a:rPr lang="zh-CN" altLang="en-US" sz="2400">
                <a:solidFill>
                  <a:srgbClr val="FF0000"/>
                </a:solidFill>
                <a:sym typeface="+mn-ea"/>
              </a:rPr>
              <a:t>10C，农业技术提高，生产力发展</a:t>
            </a:r>
            <a:endParaRPr lang="zh-CN" altLang="en-US" sz="2400">
              <a:solidFill>
                <a:srgbClr val="FF0000"/>
              </a:solidFill>
            </a:endParaRPr>
          </a:p>
          <a:p>
            <a:pPr algn="l">
              <a:buClrTx/>
              <a:buSzTx/>
            </a:pPr>
            <a:r>
              <a:rPr lang="en-US" altLang="zh-CN" sz="2400">
                <a:sym typeface="+mn-ea"/>
              </a:rPr>
              <a:t>8</a:t>
            </a:r>
            <a:r>
              <a:rPr lang="zh-CN" altLang="en-US" sz="2400">
                <a:sym typeface="+mn-ea"/>
              </a:rPr>
              <a:t>、城市获得自治或自由的形式：</a:t>
            </a:r>
            <a:r>
              <a:rPr lang="zh-CN" altLang="en-US" sz="2400">
                <a:solidFill>
                  <a:srgbClr val="FF0000"/>
                </a:solidFill>
                <a:sym typeface="+mn-ea"/>
              </a:rPr>
              <a:t>从国王或领主手中取得特许状（不能摆脱封建控制）</a:t>
            </a:r>
          </a:p>
          <a:p>
            <a:pPr algn="l">
              <a:buClrTx/>
              <a:buSzTx/>
            </a:pPr>
            <a:r>
              <a:rPr lang="zh-CN" altLang="en-US" sz="2400"/>
              <a:t>9、</a:t>
            </a:r>
            <a:r>
              <a:rPr lang="zh-CN" altLang="en-US" sz="2400">
                <a:sym typeface="+mn-ea"/>
              </a:rPr>
              <a:t>欧洲中世纪教育最美好的花朵：</a:t>
            </a:r>
            <a:r>
              <a:rPr lang="zh-CN" altLang="en-US" sz="2400">
                <a:solidFill>
                  <a:srgbClr val="FF0000"/>
                </a:solidFill>
              </a:rPr>
              <a:t>大学（受基督教影响，反映经济发展要求）</a:t>
            </a:r>
          </a:p>
          <a:p>
            <a:endParaRPr lang="zh-CN" altLang="en-US" sz="2400">
              <a:solidFill>
                <a:srgbClr val="FF0000"/>
              </a:solidFill>
            </a:endParaRP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419100" y="168910"/>
            <a:ext cx="11660505" cy="6605270"/>
          </a:xfrm>
        </p:spPr>
        <p:txBody>
          <a:bodyPr>
            <a:noAutofit/>
          </a:bodyPr>
          <a:lstStyle/>
          <a:p>
            <a:pPr>
              <a:lnSpc>
                <a:spcPct val="100000"/>
              </a:lnSpc>
            </a:pPr>
            <a:r>
              <a:rPr lang="en-US" altLang="zh-CN" sz="2400">
                <a:sym typeface="+mn-ea"/>
              </a:rPr>
              <a:t>1</a:t>
            </a:r>
            <a:r>
              <a:rPr lang="zh-CN" altLang="en-US" sz="2400">
                <a:sym typeface="+mn-ea"/>
              </a:rPr>
              <a:t>、请写出横跨欧亚非的大帝国和他们的时间。</a:t>
            </a:r>
          </a:p>
          <a:p>
            <a:pPr>
              <a:lnSpc>
                <a:spcPct val="100000"/>
              </a:lnSpc>
            </a:pPr>
            <a:r>
              <a:rPr lang="zh-CN" altLang="en-US" sz="2400">
                <a:solidFill>
                  <a:srgbClr val="FF0000"/>
                </a:solidFill>
                <a:sym typeface="+mn-ea"/>
              </a:rPr>
              <a:t>亚历山大（奴隶制）：前</a:t>
            </a:r>
            <a:r>
              <a:rPr lang="en-US" altLang="zh-CN" sz="2400">
                <a:solidFill>
                  <a:srgbClr val="FF0000"/>
                </a:solidFill>
                <a:sym typeface="+mn-ea"/>
              </a:rPr>
              <a:t>4C</a:t>
            </a:r>
            <a:r>
              <a:rPr lang="zh-CN" altLang="en-US" sz="2400">
                <a:solidFill>
                  <a:srgbClr val="FF0000"/>
                </a:solidFill>
                <a:sym typeface="+mn-ea"/>
              </a:rPr>
              <a:t>，远征到印度</a:t>
            </a:r>
            <a:r>
              <a:rPr lang="en-US" altLang="zh-CN" sz="2400">
                <a:solidFill>
                  <a:srgbClr val="FF0000"/>
                </a:solidFill>
                <a:sym typeface="+mn-ea"/>
              </a:rPr>
              <a:t>   </a:t>
            </a:r>
          </a:p>
          <a:p>
            <a:pPr>
              <a:lnSpc>
                <a:spcPct val="100000"/>
              </a:lnSpc>
            </a:pPr>
            <a:r>
              <a:rPr lang="zh-CN" altLang="en-US" sz="2400">
                <a:solidFill>
                  <a:srgbClr val="FF0000"/>
                </a:solidFill>
                <a:sym typeface="+mn-ea"/>
              </a:rPr>
              <a:t>阿拉伯帝国（封建制）：</a:t>
            </a:r>
            <a:r>
              <a:rPr lang="en-US" altLang="zh-CN" sz="2400">
                <a:solidFill>
                  <a:srgbClr val="FF0000"/>
                </a:solidFill>
                <a:sym typeface="+mn-ea"/>
              </a:rPr>
              <a:t>8C</a:t>
            </a:r>
            <a:r>
              <a:rPr lang="zh-CN" altLang="en-US" sz="2400">
                <a:solidFill>
                  <a:srgbClr val="FF0000"/>
                </a:solidFill>
                <a:sym typeface="+mn-ea"/>
              </a:rPr>
              <a:t>，东西方文化交流的使者，远征到西班牙</a:t>
            </a:r>
            <a:endParaRPr lang="en-US" altLang="zh-CN" sz="2400">
              <a:solidFill>
                <a:srgbClr val="FF0000"/>
              </a:solidFill>
              <a:sym typeface="+mn-ea"/>
            </a:endParaRPr>
          </a:p>
          <a:p>
            <a:pPr>
              <a:lnSpc>
                <a:spcPct val="100000"/>
              </a:lnSpc>
            </a:pPr>
            <a:r>
              <a:rPr lang="zh-CN" altLang="en-US" sz="2400">
                <a:solidFill>
                  <a:srgbClr val="FF0000"/>
                </a:solidFill>
                <a:sym typeface="+mn-ea"/>
              </a:rPr>
              <a:t>罗马帝国（奴隶制）：</a:t>
            </a:r>
            <a:r>
              <a:rPr lang="en-US" altLang="zh-CN" sz="2400">
                <a:solidFill>
                  <a:srgbClr val="FF0000"/>
                </a:solidFill>
                <a:sym typeface="+mn-ea"/>
              </a:rPr>
              <a:t>2C</a:t>
            </a:r>
            <a:r>
              <a:rPr lang="zh-CN" altLang="en-US" sz="2400">
                <a:solidFill>
                  <a:srgbClr val="FF0000"/>
                </a:solidFill>
                <a:sym typeface="+mn-ea"/>
              </a:rPr>
              <a:t>，地中海成为了内湖</a:t>
            </a:r>
            <a:r>
              <a:rPr lang="en-US" altLang="zh-CN" sz="2400">
                <a:solidFill>
                  <a:srgbClr val="FF0000"/>
                </a:solidFill>
                <a:sym typeface="+mn-ea"/>
              </a:rPr>
              <a:t>   </a:t>
            </a:r>
          </a:p>
          <a:p>
            <a:pPr>
              <a:lnSpc>
                <a:spcPct val="100000"/>
              </a:lnSpc>
            </a:pPr>
            <a:r>
              <a:rPr lang="zh-CN" altLang="en-US" sz="2400">
                <a:solidFill>
                  <a:srgbClr val="FF0000"/>
                </a:solidFill>
                <a:sym typeface="+mn-ea"/>
              </a:rPr>
              <a:t>拜占庭帝国（奴隶制）：</a:t>
            </a:r>
            <a:r>
              <a:rPr lang="en-US" altLang="zh-CN" sz="2400">
                <a:solidFill>
                  <a:srgbClr val="FF0000"/>
                </a:solidFill>
                <a:sym typeface="+mn-ea"/>
              </a:rPr>
              <a:t>6C</a:t>
            </a:r>
            <a:r>
              <a:rPr lang="zh-CN" altLang="en-US" sz="2400">
                <a:solidFill>
                  <a:srgbClr val="FF0000"/>
                </a:solidFill>
                <a:sym typeface="+mn-ea"/>
              </a:rPr>
              <a:t>，保留了古希腊罗马文化，为文艺复兴提供精神营养，奥斯曼土耳其所灭</a:t>
            </a:r>
          </a:p>
          <a:p>
            <a:pPr>
              <a:lnSpc>
                <a:spcPct val="100000"/>
              </a:lnSpc>
            </a:pPr>
            <a:r>
              <a:rPr lang="en-US" altLang="zh-CN" sz="2400">
                <a:sym typeface="+mn-ea"/>
              </a:rPr>
              <a:t>2</a:t>
            </a:r>
            <a:r>
              <a:rPr lang="zh-CN" altLang="en-US" sz="2400">
                <a:sym typeface="+mn-ea"/>
              </a:rPr>
              <a:t>、日本的大和政权是什么社会性质的？</a:t>
            </a:r>
            <a:r>
              <a:rPr lang="zh-CN" altLang="en-US" sz="2400">
                <a:solidFill>
                  <a:srgbClr val="FF0000"/>
                </a:solidFill>
                <a:sym typeface="+mn-ea"/>
              </a:rPr>
              <a:t>奴隶社会</a:t>
            </a:r>
            <a:endParaRPr lang="zh-CN" altLang="en-US" sz="2400">
              <a:solidFill>
                <a:srgbClr val="FF0000"/>
              </a:solidFill>
            </a:endParaRPr>
          </a:p>
          <a:p>
            <a:pPr>
              <a:lnSpc>
                <a:spcPct val="100000"/>
              </a:lnSpc>
            </a:pPr>
            <a:r>
              <a:rPr lang="en-US" altLang="zh-CN" sz="2400">
                <a:sym typeface="+mn-ea"/>
              </a:rPr>
              <a:t>3</a:t>
            </a:r>
            <a:r>
              <a:rPr lang="zh-CN" altLang="en-US" sz="2400">
                <a:sym typeface="+mn-ea"/>
              </a:rPr>
              <a:t>、大化改新的天皇：</a:t>
            </a:r>
            <a:r>
              <a:rPr lang="zh-CN" altLang="en-US" sz="2400">
                <a:solidFill>
                  <a:srgbClr val="FF0000"/>
                </a:solidFill>
                <a:sym typeface="+mn-ea"/>
              </a:rPr>
              <a:t>孝德天皇（时间</a:t>
            </a:r>
            <a:r>
              <a:rPr lang="en-US" altLang="zh-CN" sz="2400">
                <a:solidFill>
                  <a:srgbClr val="FF0000"/>
                </a:solidFill>
                <a:sym typeface="+mn-ea"/>
              </a:rPr>
              <a:t>646</a:t>
            </a:r>
            <a:r>
              <a:rPr lang="zh-CN" altLang="en-US" sz="2400">
                <a:solidFill>
                  <a:srgbClr val="FF0000"/>
                </a:solidFill>
                <a:sym typeface="+mn-ea"/>
              </a:rPr>
              <a:t>年）</a:t>
            </a:r>
          </a:p>
          <a:p>
            <a:pPr>
              <a:lnSpc>
                <a:spcPct val="100000"/>
              </a:lnSpc>
            </a:pPr>
            <a:r>
              <a:rPr lang="en-US" altLang="zh-CN" sz="2400">
                <a:sym typeface="+mn-ea"/>
              </a:rPr>
              <a:t>4</a:t>
            </a:r>
            <a:r>
              <a:rPr lang="zh-CN" altLang="en-US" sz="2400">
                <a:sym typeface="+mn-ea"/>
              </a:rPr>
              <a:t>、大化改新的性质：</a:t>
            </a:r>
            <a:r>
              <a:rPr lang="zh-CN" altLang="en-US" sz="2400">
                <a:solidFill>
                  <a:srgbClr val="FF0000"/>
                </a:solidFill>
                <a:sym typeface="+mn-ea"/>
              </a:rPr>
              <a:t>封建性质改革（学中国唐朝）</a:t>
            </a:r>
            <a:endParaRPr lang="zh-CN" altLang="en-US" sz="2400">
              <a:solidFill>
                <a:srgbClr val="FF0000"/>
              </a:solidFill>
            </a:endParaRPr>
          </a:p>
          <a:p>
            <a:pPr algn="l">
              <a:lnSpc>
                <a:spcPct val="100000"/>
              </a:lnSpc>
              <a:buClrTx/>
              <a:buSzTx/>
            </a:pPr>
            <a:r>
              <a:rPr lang="en-US" altLang="zh-CN" sz="2400">
                <a:sym typeface="+mn-ea"/>
              </a:rPr>
              <a:t>5</a:t>
            </a:r>
            <a:r>
              <a:rPr lang="zh-CN" altLang="en-US" sz="2400">
                <a:sym typeface="+mn-ea"/>
              </a:rPr>
              <a:t>、大化改新的结果：</a:t>
            </a:r>
            <a:r>
              <a:rPr lang="zh-CN" altLang="en-US" sz="2400">
                <a:solidFill>
                  <a:srgbClr val="FF0000"/>
                </a:solidFill>
                <a:sym typeface="+mn-ea"/>
              </a:rPr>
              <a:t>日本成为中央集权制的封建国家</a:t>
            </a:r>
            <a:endParaRPr lang="zh-CN" altLang="en-US" sz="2400">
              <a:solidFill>
                <a:srgbClr val="FF0000"/>
              </a:solidFill>
            </a:endParaRPr>
          </a:p>
          <a:p>
            <a:pPr>
              <a:lnSpc>
                <a:spcPct val="100000"/>
              </a:lnSpc>
            </a:pPr>
            <a:r>
              <a:rPr lang="en-US" altLang="zh-CN" sz="2400">
                <a:sym typeface="+mn-ea"/>
              </a:rPr>
              <a:t>5</a:t>
            </a:r>
            <a:r>
              <a:rPr lang="zh-CN" altLang="en-US" sz="2400">
                <a:sym typeface="+mn-ea"/>
              </a:rPr>
              <a:t>、时间：</a:t>
            </a:r>
            <a:r>
              <a:rPr lang="zh-CN" altLang="en-US" sz="2400">
                <a:solidFill>
                  <a:srgbClr val="FF0000"/>
                </a:solidFill>
                <a:sym typeface="+mn-ea"/>
              </a:rPr>
              <a:t>佛教前6世纪        基督教  </a:t>
            </a:r>
            <a:r>
              <a:rPr lang="en-US" altLang="zh-CN" sz="2400">
                <a:solidFill>
                  <a:srgbClr val="FF0000"/>
                </a:solidFill>
                <a:sym typeface="+mn-ea"/>
              </a:rPr>
              <a:t>1</a:t>
            </a:r>
            <a:r>
              <a:rPr lang="zh-CN" altLang="en-US" sz="2400">
                <a:solidFill>
                  <a:srgbClr val="FF0000"/>
                </a:solidFill>
                <a:sym typeface="+mn-ea"/>
              </a:rPr>
              <a:t>世纪         伊斯兰教7世纪     三大宗教都诞生于亚洲</a:t>
            </a:r>
          </a:p>
          <a:p>
            <a:pPr>
              <a:lnSpc>
                <a:spcPct val="100000"/>
              </a:lnSpc>
            </a:pPr>
            <a:r>
              <a:rPr lang="en-US" altLang="zh-CN" sz="2400">
                <a:sym typeface="+mn-ea"/>
              </a:rPr>
              <a:t>6</a:t>
            </a:r>
            <a:r>
              <a:rPr lang="zh-CN" altLang="en-US" sz="2400">
                <a:sym typeface="+mn-ea"/>
              </a:rPr>
              <a:t>、阿拉伯的文化：智慧宫、</a:t>
            </a:r>
            <a:r>
              <a:rPr lang="zh-CN" altLang="en-US" sz="2400">
                <a:solidFill>
                  <a:srgbClr val="FF0000"/>
                </a:solidFill>
                <a:sym typeface="+mn-ea"/>
              </a:rPr>
              <a:t>传播阿拉伯数字（印度人发明），《医典》《医学集成》，《天方夜谭》。</a:t>
            </a:r>
          </a:p>
          <a:p>
            <a:endParaRPr lang="zh-CN" altLang="en-US" sz="2400">
              <a:solidFill>
                <a:srgbClr val="FF0000"/>
              </a:solidFill>
              <a:sym typeface="+mn-ea"/>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
            <a:ext cx="12192000" cy="6858000"/>
          </a:xfrm>
        </p:spPr>
        <p:txBody>
          <a:bodyPr>
            <a:normAutofit lnSpcReduction="10000"/>
          </a:bodyPr>
          <a:lstStyle/>
          <a:p>
            <a:pPr algn="l">
              <a:lnSpc>
                <a:spcPct val="100000"/>
              </a:lnSpc>
              <a:buClrTx/>
              <a:buSzTx/>
            </a:pPr>
            <a:r>
              <a:rPr lang="zh-CN" altLang="en-US" sz="2400" dirty="0"/>
              <a:t>1、资本主义萌芽的表现？时间？</a:t>
            </a:r>
            <a:r>
              <a:rPr lang="en-US" altLang="zh-CN" sz="2400" dirty="0"/>
              <a:t>    </a:t>
            </a:r>
            <a:r>
              <a:rPr lang="zh-CN" altLang="en-US" sz="2400" dirty="0">
                <a:solidFill>
                  <a:srgbClr val="FF0000"/>
                </a:solidFill>
              </a:rPr>
              <a:t>租地农场和手工工场</a:t>
            </a:r>
            <a:r>
              <a:rPr lang="en-US" altLang="zh-CN" sz="2400" dirty="0">
                <a:solidFill>
                  <a:srgbClr val="FF0000"/>
                </a:solidFill>
              </a:rPr>
              <a:t>  14</a:t>
            </a:r>
            <a:r>
              <a:rPr lang="zh-CN" altLang="en-US" sz="2400" dirty="0">
                <a:solidFill>
                  <a:srgbClr val="FF0000"/>
                </a:solidFill>
              </a:rPr>
              <a:t>世纪</a:t>
            </a:r>
          </a:p>
          <a:p>
            <a:pPr algn="l">
              <a:lnSpc>
                <a:spcPct val="100000"/>
              </a:lnSpc>
              <a:buClrTx/>
              <a:buSzTx/>
            </a:pPr>
            <a:r>
              <a:rPr lang="zh-CN" altLang="en-US" sz="2400" dirty="0"/>
              <a:t>2、文艺复兴、新航路开辟、早期殖民掠夺的根本原因</a:t>
            </a:r>
            <a:r>
              <a:rPr lang="en-US" altLang="zh-CN" sz="2400" dirty="0"/>
              <a:t> </a:t>
            </a:r>
            <a:r>
              <a:rPr lang="zh-CN" altLang="en-US" sz="2400" dirty="0">
                <a:solidFill>
                  <a:srgbClr val="FF0000"/>
                </a:solidFill>
              </a:rPr>
              <a:t>资本主义萌芽，生产力发展 </a:t>
            </a:r>
          </a:p>
          <a:p>
            <a:pPr algn="l">
              <a:lnSpc>
                <a:spcPct val="100000"/>
              </a:lnSpc>
              <a:buClrTx/>
              <a:buSzTx/>
            </a:pPr>
            <a:r>
              <a:rPr lang="en-US" altLang="zh-CN" sz="2400" dirty="0"/>
              <a:t>3</a:t>
            </a:r>
            <a:r>
              <a:rPr lang="zh-CN" altLang="en-US" sz="2400" dirty="0"/>
              <a:t>、</a:t>
            </a:r>
            <a:r>
              <a:rPr lang="zh-CN" altLang="en-US" sz="2400" dirty="0">
                <a:sym typeface="+mn-ea"/>
              </a:rPr>
              <a:t>租地农场和手工工场的共同特点？</a:t>
            </a:r>
            <a:r>
              <a:rPr lang="en-US" altLang="zh-CN" sz="2400" dirty="0">
                <a:sym typeface="+mn-ea"/>
              </a:rPr>
              <a:t> </a:t>
            </a:r>
            <a:r>
              <a:rPr lang="zh-CN" altLang="en-US" sz="2400" dirty="0">
                <a:solidFill>
                  <a:srgbClr val="FF0000"/>
                </a:solidFill>
                <a:sym typeface="+mn-ea"/>
              </a:rPr>
              <a:t>资本主义性质、产品面向市场、雇佣关系</a:t>
            </a:r>
            <a:endParaRPr lang="zh-CN" altLang="en-US" sz="2400" dirty="0">
              <a:solidFill>
                <a:srgbClr val="FF0000"/>
              </a:solidFill>
            </a:endParaRPr>
          </a:p>
          <a:p>
            <a:pPr>
              <a:lnSpc>
                <a:spcPts val="2860"/>
              </a:lnSpc>
            </a:pPr>
            <a:r>
              <a:rPr lang="en-US" altLang="zh-CN" sz="2400" dirty="0">
                <a:sym typeface="+mn-ea"/>
              </a:rPr>
              <a:t>4</a:t>
            </a:r>
            <a:r>
              <a:rPr lang="zh-CN" altLang="en-US" sz="2400" dirty="0">
                <a:sym typeface="+mn-ea"/>
              </a:rPr>
              <a:t>、文艺复兴的核心思潮？</a:t>
            </a:r>
            <a:r>
              <a:rPr lang="en-US" altLang="zh-CN" sz="2400" dirty="0">
                <a:sym typeface="+mn-ea"/>
              </a:rPr>
              <a:t> </a:t>
            </a:r>
            <a:r>
              <a:rPr lang="zh-CN" altLang="en-US" sz="2400" dirty="0">
                <a:solidFill>
                  <a:srgbClr val="FF0000"/>
                </a:solidFill>
                <a:sym typeface="+mn-ea"/>
              </a:rPr>
              <a:t> 人文主义（以人为中心，发扬人的个性，追求现世幸福）</a:t>
            </a:r>
            <a:endParaRPr lang="zh-CN" altLang="en-US" sz="2400" dirty="0"/>
          </a:p>
          <a:p>
            <a:pPr>
              <a:lnSpc>
                <a:spcPts val="2860"/>
              </a:lnSpc>
            </a:pPr>
            <a:r>
              <a:rPr lang="en-US" altLang="zh-CN" sz="2400" dirty="0">
                <a:sym typeface="+mn-ea"/>
              </a:rPr>
              <a:t>5</a:t>
            </a:r>
            <a:r>
              <a:rPr lang="zh-CN" altLang="en-US" sz="2400" dirty="0">
                <a:sym typeface="+mn-ea"/>
              </a:rPr>
              <a:t>、文艺复兴的性质？</a:t>
            </a:r>
            <a:r>
              <a:rPr lang="zh-CN" altLang="en-US" sz="2400" dirty="0">
                <a:solidFill>
                  <a:srgbClr val="FF0000"/>
                </a:solidFill>
                <a:sym typeface="+mn-ea"/>
              </a:rPr>
              <a:t>反对教会神权至上，提倡人文主义的资产阶级思想解放运动</a:t>
            </a:r>
            <a:endParaRPr lang="zh-CN" altLang="en-US" sz="2400" dirty="0">
              <a:solidFill>
                <a:srgbClr val="FF0000"/>
              </a:solidFill>
            </a:endParaRPr>
          </a:p>
          <a:p>
            <a:pPr algn="l">
              <a:lnSpc>
                <a:spcPts val="2860"/>
              </a:lnSpc>
              <a:buClrTx/>
              <a:buSzTx/>
            </a:pPr>
            <a:r>
              <a:rPr lang="en-US" sz="2400" dirty="0">
                <a:sym typeface="+mn-ea"/>
              </a:rPr>
              <a:t>6</a:t>
            </a:r>
            <a:r>
              <a:rPr lang="zh-CN" altLang="en-US" sz="2400" dirty="0">
                <a:sym typeface="+mn-ea"/>
              </a:rPr>
              <a:t>、文艺复兴首先发生在哪个国家？</a:t>
            </a:r>
            <a:r>
              <a:rPr lang="zh-CN" altLang="en-US" sz="2400" dirty="0">
                <a:solidFill>
                  <a:srgbClr val="FF0000"/>
                </a:solidFill>
                <a:sym typeface="+mn-ea"/>
              </a:rPr>
              <a:t>意大利</a:t>
            </a:r>
            <a:r>
              <a:rPr lang="en-US" altLang="zh-CN" sz="2400" dirty="0">
                <a:solidFill>
                  <a:srgbClr val="FF0000"/>
                </a:solidFill>
                <a:sym typeface="+mn-ea"/>
              </a:rPr>
              <a:t>    </a:t>
            </a:r>
            <a:r>
              <a:rPr lang="zh-CN" altLang="en-US" sz="2400" dirty="0">
                <a:sym typeface="+mn-ea"/>
              </a:rPr>
              <a:t>文艺复兴先驱：</a:t>
            </a:r>
            <a:r>
              <a:rPr lang="zh-CN" altLang="en-US" sz="2400" dirty="0">
                <a:solidFill>
                  <a:srgbClr val="FF0000"/>
                </a:solidFill>
                <a:sym typeface="+mn-ea"/>
              </a:rPr>
              <a:t>但丁  《神曲》</a:t>
            </a:r>
          </a:p>
          <a:p>
            <a:pPr algn="l">
              <a:lnSpc>
                <a:spcPts val="2860"/>
              </a:lnSpc>
              <a:buClrTx/>
              <a:buSzTx/>
            </a:pPr>
            <a:r>
              <a:rPr lang="en-US" altLang="zh-CN" sz="2400" dirty="0">
                <a:sym typeface="+mn-ea"/>
              </a:rPr>
              <a:t>8</a:t>
            </a:r>
            <a:r>
              <a:rPr lang="zh-CN" altLang="en-US" sz="2400" dirty="0">
                <a:sym typeface="+mn-ea"/>
              </a:rPr>
              <a:t>、文学三杰：</a:t>
            </a:r>
            <a:r>
              <a:rPr lang="zh-CN" altLang="en-US" sz="2400" dirty="0">
                <a:solidFill>
                  <a:srgbClr val="FF0000"/>
                </a:solidFill>
                <a:sym typeface="+mn-ea"/>
              </a:rPr>
              <a:t>但丁、薄伽丘、彼特拉克</a:t>
            </a:r>
            <a:r>
              <a:rPr lang="en-US" altLang="zh-CN" sz="2400" dirty="0">
                <a:sym typeface="+mn-ea"/>
              </a:rPr>
              <a:t>  </a:t>
            </a:r>
            <a:r>
              <a:rPr lang="zh-CN" altLang="en-US" sz="2400" dirty="0">
                <a:sym typeface="+mn-ea"/>
              </a:rPr>
              <a:t>美术三杰：</a:t>
            </a:r>
            <a:r>
              <a:rPr lang="zh-CN" altLang="en-US" sz="2400" dirty="0">
                <a:solidFill>
                  <a:srgbClr val="FF0000"/>
                </a:solidFill>
                <a:sym typeface="+mn-ea"/>
              </a:rPr>
              <a:t>达芬奇，米开朗琪罗，拉斐尔</a:t>
            </a:r>
          </a:p>
          <a:p>
            <a:pPr algn="l">
              <a:lnSpc>
                <a:spcPts val="2860"/>
              </a:lnSpc>
              <a:buClrTx/>
              <a:buSzTx/>
            </a:pPr>
            <a:r>
              <a:rPr lang="en-US" altLang="zh-CN" sz="2400" dirty="0">
                <a:sym typeface="+mn-ea"/>
              </a:rPr>
              <a:t>10</a:t>
            </a:r>
            <a:r>
              <a:rPr lang="zh-CN" altLang="en-US" sz="2400" dirty="0">
                <a:sym typeface="+mn-ea"/>
              </a:rPr>
              <a:t>、</a:t>
            </a:r>
            <a:r>
              <a:rPr lang="zh-CN" altLang="en-US" sz="2400" dirty="0">
                <a:solidFill>
                  <a:srgbClr val="FF0000"/>
                </a:solidFill>
                <a:sym typeface="+mn-ea"/>
              </a:rPr>
              <a:t>莎士比亚，英国，《罗密欧与朱丽叶》《哈姆雷特》</a:t>
            </a:r>
          </a:p>
          <a:p>
            <a:pPr algn="l">
              <a:lnSpc>
                <a:spcPts val="2860"/>
              </a:lnSpc>
              <a:buClrTx/>
              <a:buSzTx/>
            </a:pPr>
            <a:r>
              <a:rPr lang="en-US" altLang="zh-CN" sz="2400" dirty="0">
                <a:sym typeface="+mn-ea"/>
              </a:rPr>
              <a:t>11</a:t>
            </a:r>
            <a:r>
              <a:rPr lang="zh-CN" altLang="en-US" sz="2400" dirty="0">
                <a:sym typeface="+mn-ea"/>
              </a:rPr>
              <a:t>、</a:t>
            </a:r>
            <a:r>
              <a:rPr lang="zh-CN" altLang="en-US" sz="2400" dirty="0">
                <a:solidFill>
                  <a:srgbClr val="FF0000"/>
                </a:solidFill>
                <a:sym typeface="+mn-ea"/>
              </a:rPr>
              <a:t>达芬奇，《蒙娜丽莎》《最后的晚餐》</a:t>
            </a:r>
          </a:p>
          <a:p>
            <a:pPr algn="l">
              <a:lnSpc>
                <a:spcPts val="2860"/>
              </a:lnSpc>
              <a:buClrTx/>
              <a:buSzTx/>
            </a:pPr>
            <a:r>
              <a:rPr lang="en-US" altLang="zh-CN" sz="2400" dirty="0">
                <a:sym typeface="+mn-ea"/>
              </a:rPr>
              <a:t>12</a:t>
            </a:r>
            <a:r>
              <a:rPr lang="zh-CN" altLang="en-US" sz="2400" dirty="0">
                <a:sym typeface="+mn-ea"/>
              </a:rPr>
              <a:t>、最早进行殖民的国家：</a:t>
            </a:r>
            <a:r>
              <a:rPr lang="zh-CN" altLang="en-US" sz="2400" dirty="0">
                <a:solidFill>
                  <a:srgbClr val="FF0000"/>
                </a:solidFill>
                <a:sym typeface="+mn-ea"/>
              </a:rPr>
              <a:t>西、葡</a:t>
            </a:r>
            <a:r>
              <a:rPr lang="en-US" altLang="zh-CN" sz="2400" dirty="0">
                <a:sym typeface="+mn-ea"/>
              </a:rPr>
              <a:t>         </a:t>
            </a:r>
            <a:r>
              <a:rPr lang="zh-CN" altLang="en-US" sz="2400" dirty="0">
                <a:sym typeface="+mn-ea"/>
              </a:rPr>
              <a:t>日不落帝国：</a:t>
            </a:r>
            <a:r>
              <a:rPr lang="zh-CN" altLang="en-US" sz="2400" dirty="0">
                <a:solidFill>
                  <a:srgbClr val="FF0000"/>
                </a:solidFill>
                <a:sym typeface="+mn-ea"/>
              </a:rPr>
              <a:t>英 </a:t>
            </a:r>
            <a:r>
              <a:rPr lang="en-US" altLang="zh-CN" sz="2400" dirty="0">
                <a:sym typeface="+mn-ea"/>
              </a:rPr>
              <a:t>       </a:t>
            </a:r>
            <a:r>
              <a:rPr lang="zh-CN" altLang="en-US" sz="2400" dirty="0">
                <a:sym typeface="+mn-ea"/>
              </a:rPr>
              <a:t>海上马车夫：</a:t>
            </a:r>
            <a:r>
              <a:rPr lang="zh-CN" altLang="en-US" sz="2400" dirty="0">
                <a:solidFill>
                  <a:srgbClr val="FF0000"/>
                </a:solidFill>
                <a:sym typeface="+mn-ea"/>
              </a:rPr>
              <a:t>荷兰</a:t>
            </a:r>
          </a:p>
          <a:p>
            <a:pPr algn="l">
              <a:lnSpc>
                <a:spcPts val="2860"/>
              </a:lnSpc>
              <a:buClrTx/>
              <a:buSzTx/>
            </a:pPr>
            <a:r>
              <a:rPr lang="en-US" altLang="zh-CN" sz="2400" dirty="0">
                <a:sym typeface="+mn-ea"/>
              </a:rPr>
              <a:t>13</a:t>
            </a:r>
            <a:r>
              <a:rPr lang="zh-CN" altLang="en-US" sz="2400" dirty="0">
                <a:sym typeface="+mn-ea"/>
              </a:rPr>
              <a:t>、单元目录：</a:t>
            </a:r>
            <a:r>
              <a:rPr lang="zh-CN" altLang="en-US" sz="2400" dirty="0">
                <a:solidFill>
                  <a:srgbClr val="FF0000"/>
                </a:solidFill>
                <a:sym typeface="+mn-ea"/>
              </a:rPr>
              <a:t>走向近代</a:t>
            </a:r>
            <a:r>
              <a:rPr lang="zh-CN" altLang="en-US" sz="2400" dirty="0">
                <a:sym typeface="+mn-ea"/>
              </a:rPr>
              <a:t>（资本主义萌芽、文艺复兴、新航路开辟、早期殖民掠夺）</a:t>
            </a:r>
            <a:endParaRPr lang="zh-CN" altLang="en-US" sz="2400" dirty="0"/>
          </a:p>
          <a:p>
            <a:pPr algn="l">
              <a:lnSpc>
                <a:spcPts val="2860"/>
              </a:lnSpc>
              <a:buClrTx/>
              <a:buSzTx/>
            </a:pPr>
            <a:r>
              <a:rPr lang="en-US" altLang="zh-CN" sz="2400" dirty="0">
                <a:sym typeface="+mn-ea"/>
              </a:rPr>
              <a:t>14</a:t>
            </a:r>
            <a:r>
              <a:rPr lang="zh-CN" altLang="en-US" sz="2400" dirty="0">
                <a:sym typeface="+mn-ea"/>
              </a:rPr>
              <a:t>、文艺复兴：</a:t>
            </a:r>
            <a:r>
              <a:rPr lang="zh-CN" altLang="en-US" sz="2400" dirty="0">
                <a:solidFill>
                  <a:srgbClr val="FF0000"/>
                </a:solidFill>
                <a:sym typeface="+mn-ea"/>
              </a:rPr>
              <a:t>14-16C</a:t>
            </a:r>
            <a:r>
              <a:rPr lang="zh-CN" altLang="en-US" sz="2400" dirty="0">
                <a:sym typeface="+mn-ea"/>
              </a:rPr>
              <a:t>，</a:t>
            </a:r>
            <a:r>
              <a:rPr lang="en-US" altLang="zh-CN" sz="2400" dirty="0">
                <a:sym typeface="+mn-ea"/>
              </a:rPr>
              <a:t> </a:t>
            </a:r>
            <a:r>
              <a:rPr lang="zh-CN" altLang="en-US" sz="2400" dirty="0">
                <a:sym typeface="+mn-ea"/>
              </a:rPr>
              <a:t>新航路：</a:t>
            </a:r>
            <a:r>
              <a:rPr lang="zh-CN" altLang="en-US" sz="2400" dirty="0">
                <a:solidFill>
                  <a:srgbClr val="FF0000"/>
                </a:solidFill>
                <a:sym typeface="+mn-ea"/>
              </a:rPr>
              <a:t>15-16C </a:t>
            </a:r>
            <a:r>
              <a:rPr lang="en-US" altLang="zh-CN" sz="2400" dirty="0">
                <a:sym typeface="+mn-ea"/>
              </a:rPr>
              <a:t> </a:t>
            </a:r>
            <a:r>
              <a:rPr lang="zh-CN" altLang="en-US" sz="2400" dirty="0">
                <a:sym typeface="+mn-ea"/>
              </a:rPr>
              <a:t>早期殖民：</a:t>
            </a:r>
            <a:r>
              <a:rPr lang="zh-CN" altLang="en-US" sz="2400" dirty="0">
                <a:solidFill>
                  <a:srgbClr val="FF0000"/>
                </a:solidFill>
                <a:sym typeface="+mn-ea"/>
              </a:rPr>
              <a:t>16-18C</a:t>
            </a:r>
          </a:p>
          <a:p>
            <a:pPr algn="l">
              <a:lnSpc>
                <a:spcPct val="100000"/>
              </a:lnSpc>
              <a:buClrTx/>
              <a:buSzTx/>
            </a:pPr>
            <a:r>
              <a:rPr lang="en-US" altLang="zh-CN" sz="2400" dirty="0">
                <a:sym typeface="+mn-ea"/>
              </a:rPr>
              <a:t>15、</a:t>
            </a:r>
            <a:r>
              <a:rPr lang="zh-CN" altLang="en-US" sz="2400" dirty="0">
                <a:sym typeface="+mn-ea"/>
              </a:rPr>
              <a:t>资本主义萌芽的影响：</a:t>
            </a:r>
            <a:r>
              <a:rPr lang="zh-CN" altLang="en-US" sz="2400" dirty="0">
                <a:solidFill>
                  <a:srgbClr val="FF0000"/>
                </a:solidFill>
                <a:sym typeface="+mn-ea"/>
              </a:rPr>
              <a:t>农业、手工业生产组织形式的资本主义化，开始改变中世纪欧洲社会面貌。</a:t>
            </a:r>
          </a:p>
          <a:p>
            <a:pPr algn="l">
              <a:lnSpc>
                <a:spcPct val="100000"/>
              </a:lnSpc>
              <a:buClrTx/>
              <a:buSzTx/>
            </a:pPr>
            <a:endParaRPr lang="zh-CN" altLang="en-US" sz="2400" dirty="0">
              <a:solidFill>
                <a:srgbClr val="FF0000"/>
              </a:solidFill>
              <a:sym typeface="+mn-ea"/>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4"/>
          <a:stretch>
            <a:fillRect/>
          </a:stretch>
        </p:blipFill>
        <p:spPr>
          <a:xfrm>
            <a:off x="324485" y="137160"/>
            <a:ext cx="11497945" cy="4752340"/>
          </a:xfrm>
          <a:prstGeom prst="rect">
            <a:avLst/>
          </a:prstGeom>
        </p:spPr>
      </p:pic>
      <p:sp>
        <p:nvSpPr>
          <p:cNvPr id="4" name="文本框 3"/>
          <p:cNvSpPr txBox="1"/>
          <p:nvPr/>
        </p:nvSpPr>
        <p:spPr>
          <a:xfrm>
            <a:off x="8472170" y="917575"/>
            <a:ext cx="4064000" cy="368300"/>
          </a:xfrm>
          <a:prstGeom prst="rect">
            <a:avLst/>
          </a:prstGeom>
          <a:noFill/>
        </p:spPr>
        <p:txBody>
          <a:bodyPr wrap="square" rtlCol="0">
            <a:spAutoFit/>
          </a:bodyPr>
          <a:lstStyle/>
          <a:p>
            <a:r>
              <a:rPr lang="zh-CN" altLang="en-US">
                <a:solidFill>
                  <a:srgbClr val="FF0000"/>
                </a:solidFill>
              </a:rPr>
              <a:t>英殖民统治阻碍北美资本主义发展</a:t>
            </a:r>
          </a:p>
        </p:txBody>
      </p:sp>
      <p:sp>
        <p:nvSpPr>
          <p:cNvPr id="5" name="文本框 4"/>
          <p:cNvSpPr txBox="1"/>
          <p:nvPr/>
        </p:nvSpPr>
        <p:spPr>
          <a:xfrm>
            <a:off x="8472170" y="1729105"/>
            <a:ext cx="4064000" cy="368300"/>
          </a:xfrm>
          <a:prstGeom prst="rect">
            <a:avLst/>
          </a:prstGeom>
          <a:noFill/>
        </p:spPr>
        <p:txBody>
          <a:bodyPr wrap="square" rtlCol="0">
            <a:spAutoFit/>
          </a:bodyPr>
          <a:lstStyle/>
          <a:p>
            <a:r>
              <a:rPr lang="en-US" altLang="zh-CN">
                <a:solidFill>
                  <a:srgbClr val="FF0000"/>
                </a:solidFill>
              </a:rPr>
              <a:t>1783</a:t>
            </a:r>
            <a:r>
              <a:rPr lang="zh-CN" altLang="en-US">
                <a:solidFill>
                  <a:srgbClr val="FF0000"/>
                </a:solidFill>
              </a:rPr>
              <a:t>英国承认美国独立</a:t>
            </a:r>
          </a:p>
        </p:txBody>
      </p:sp>
      <p:sp>
        <p:nvSpPr>
          <p:cNvPr id="7" name="文本框 6"/>
          <p:cNvSpPr txBox="1"/>
          <p:nvPr/>
        </p:nvSpPr>
        <p:spPr>
          <a:xfrm>
            <a:off x="5598795" y="2663190"/>
            <a:ext cx="4064000" cy="368300"/>
          </a:xfrm>
          <a:prstGeom prst="rect">
            <a:avLst/>
          </a:prstGeom>
          <a:noFill/>
        </p:spPr>
        <p:txBody>
          <a:bodyPr wrap="square" rtlCol="0">
            <a:spAutoFit/>
          </a:bodyPr>
          <a:lstStyle/>
          <a:p>
            <a:r>
              <a:rPr lang="zh-CN" altLang="en-US">
                <a:solidFill>
                  <a:srgbClr val="FF0000"/>
                </a:solidFill>
              </a:rPr>
              <a:t>《人权宣言》、</a:t>
            </a:r>
            <a:r>
              <a:rPr lang="en-US" altLang="zh-CN">
                <a:solidFill>
                  <a:srgbClr val="FF0000"/>
                </a:solidFill>
              </a:rPr>
              <a:t>1791</a:t>
            </a:r>
            <a:r>
              <a:rPr lang="zh-CN" altLang="en-US">
                <a:solidFill>
                  <a:srgbClr val="FF0000"/>
                </a:solidFill>
              </a:rPr>
              <a:t>年宪法</a:t>
            </a:r>
          </a:p>
        </p:txBody>
      </p:sp>
      <p:sp>
        <p:nvSpPr>
          <p:cNvPr id="8" name="文本框 7"/>
          <p:cNvSpPr txBox="1"/>
          <p:nvPr/>
        </p:nvSpPr>
        <p:spPr>
          <a:xfrm>
            <a:off x="8601710" y="3597275"/>
            <a:ext cx="4064000" cy="368300"/>
          </a:xfrm>
          <a:prstGeom prst="rect">
            <a:avLst/>
          </a:prstGeom>
          <a:noFill/>
        </p:spPr>
        <p:txBody>
          <a:bodyPr wrap="square" rtlCol="0">
            <a:spAutoFit/>
          </a:bodyPr>
          <a:lstStyle/>
          <a:p>
            <a:r>
              <a:rPr lang="zh-CN" altLang="en-US">
                <a:solidFill>
                  <a:srgbClr val="FF0000"/>
                </a:solidFill>
              </a:rPr>
              <a:t>资产阶级革命、民族解放战争</a:t>
            </a:r>
          </a:p>
        </p:txBody>
      </p:sp>
      <p:sp>
        <p:nvSpPr>
          <p:cNvPr id="9" name="文本框 8"/>
          <p:cNvSpPr txBox="1"/>
          <p:nvPr/>
        </p:nvSpPr>
        <p:spPr>
          <a:xfrm>
            <a:off x="589280" y="4889500"/>
            <a:ext cx="11233150" cy="1938020"/>
          </a:xfrm>
          <a:prstGeom prst="rect">
            <a:avLst/>
          </a:prstGeom>
          <a:noFill/>
        </p:spPr>
        <p:txBody>
          <a:bodyPr wrap="square" rtlCol="0">
            <a:spAutoFit/>
          </a:bodyPr>
          <a:lstStyle/>
          <a:p>
            <a:r>
              <a:rPr lang="en-US" altLang="zh-CN" sz="2400" dirty="0">
                <a:solidFill>
                  <a:srgbClr val="FF0000"/>
                </a:solidFill>
              </a:rPr>
              <a:t>8</a:t>
            </a:r>
            <a:r>
              <a:rPr lang="zh-CN" altLang="en-US" sz="2400" dirty="0">
                <a:solidFill>
                  <a:srgbClr val="FF0000"/>
                </a:solidFill>
              </a:rPr>
              <a:t>、确立资产阶级统治，促进资本主义发展、传播资产阶级自由民主平等思想。</a:t>
            </a:r>
          </a:p>
          <a:p>
            <a:endParaRPr lang="zh-CN" altLang="en-US" sz="2400" dirty="0">
              <a:solidFill>
                <a:srgbClr val="FF0000"/>
              </a:solidFill>
            </a:endParaRPr>
          </a:p>
          <a:p>
            <a:r>
              <a:rPr lang="en-US" altLang="zh-CN" sz="2400" dirty="0">
                <a:solidFill>
                  <a:srgbClr val="FF0000"/>
                </a:solidFill>
              </a:rPr>
              <a:t>9</a:t>
            </a:r>
            <a:r>
              <a:rPr lang="zh-CN" altLang="en-US" sz="2400" dirty="0">
                <a:solidFill>
                  <a:srgbClr val="FF0000"/>
                </a:solidFill>
              </a:rPr>
              <a:t>、从人治到法治、从专制到民主、发展资本主义。</a:t>
            </a:r>
          </a:p>
          <a:p>
            <a:endParaRPr lang="zh-CN" altLang="en-US" sz="2400" dirty="0">
              <a:solidFill>
                <a:srgbClr val="FF0000"/>
              </a:solidFill>
            </a:endParaRPr>
          </a:p>
          <a:p>
            <a:r>
              <a:rPr lang="en-US" altLang="zh-CN" sz="2400" dirty="0">
                <a:solidFill>
                  <a:srgbClr val="FF0000"/>
                </a:solidFill>
              </a:rPr>
              <a:t>10</a:t>
            </a:r>
            <a:r>
              <a:rPr lang="zh-CN" altLang="en-US" sz="2400" dirty="0">
                <a:solidFill>
                  <a:srgbClr val="FF0000"/>
                </a:solidFill>
              </a:rPr>
              <a:t>、单元目录标题：</a:t>
            </a:r>
            <a:r>
              <a:rPr lang="zh-CN" altLang="en-US" sz="2400" b="1" u="sng" dirty="0">
                <a:solidFill>
                  <a:srgbClr val="FF0000"/>
                </a:solidFill>
              </a:rPr>
              <a:t>资本主义制度的初步确立</a:t>
            </a: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274320" y="176530"/>
            <a:ext cx="11792585" cy="6681470"/>
          </a:xfrm>
        </p:spPr>
        <p:txBody>
          <a:bodyPr>
            <a:normAutofit fontScale="97500"/>
          </a:bodyPr>
          <a:lstStyle/>
          <a:p>
            <a:pPr algn="l">
              <a:lnSpc>
                <a:spcPct val="100000"/>
              </a:lnSpc>
              <a:buClrTx/>
              <a:buSzTx/>
            </a:pPr>
            <a:r>
              <a:rPr lang="en-US" altLang="zh-CN" sz="2400" dirty="0">
                <a:sym typeface="+mn-ea"/>
              </a:rPr>
              <a:t>1</a:t>
            </a:r>
            <a:r>
              <a:rPr lang="zh-CN" altLang="en-US" sz="2400" dirty="0">
                <a:sym typeface="+mn-ea"/>
              </a:rPr>
              <a:t>、工业革命的时间？</a:t>
            </a:r>
            <a:r>
              <a:rPr lang="zh-CN" altLang="en-US" sz="2400" dirty="0">
                <a:solidFill>
                  <a:srgbClr val="FF0000"/>
                </a:solidFill>
                <a:highlight>
                  <a:srgbClr val="FFFF00"/>
                </a:highlight>
                <a:sym typeface="+mn-ea"/>
              </a:rPr>
              <a:t>18C60S-19C中</a:t>
            </a:r>
            <a:r>
              <a:rPr lang="zh-CN" altLang="en-US" sz="2400" dirty="0">
                <a:solidFill>
                  <a:srgbClr val="FF0000"/>
                </a:solidFill>
                <a:sym typeface="+mn-ea"/>
              </a:rPr>
              <a:t>，</a:t>
            </a:r>
            <a:endParaRPr lang="zh-CN" altLang="en-US" sz="2400" dirty="0"/>
          </a:p>
          <a:p>
            <a:pPr algn="l">
              <a:lnSpc>
                <a:spcPct val="100000"/>
              </a:lnSpc>
              <a:buClrTx/>
              <a:buSzTx/>
            </a:pPr>
            <a:r>
              <a:rPr lang="en-US" altLang="zh-CN" sz="2400" dirty="0">
                <a:sym typeface="+mn-ea"/>
              </a:rPr>
              <a:t>2</a:t>
            </a:r>
            <a:r>
              <a:rPr lang="zh-CN" altLang="en-US" sz="2400" dirty="0">
                <a:sym typeface="+mn-ea"/>
              </a:rPr>
              <a:t>、工业革命标志性发明是?（人物、发明）</a:t>
            </a:r>
            <a:r>
              <a:rPr lang="zh-CN" altLang="en-US" sz="2400" dirty="0">
                <a:solidFill>
                  <a:srgbClr val="FF0000"/>
                </a:solidFill>
                <a:sym typeface="+mn-ea"/>
              </a:rPr>
              <a:t>瓦特改良蒸汽机</a:t>
            </a:r>
            <a:endParaRPr lang="zh-CN" altLang="en-US" sz="2400" dirty="0">
              <a:solidFill>
                <a:srgbClr val="FF0000"/>
              </a:solidFill>
            </a:endParaRPr>
          </a:p>
          <a:p>
            <a:pPr algn="l">
              <a:lnSpc>
                <a:spcPct val="100000"/>
              </a:lnSpc>
              <a:buClrTx/>
              <a:buSzTx/>
            </a:pPr>
            <a:r>
              <a:rPr lang="en-US" altLang="zh-CN" sz="2400" dirty="0">
                <a:sym typeface="+mn-ea"/>
              </a:rPr>
              <a:t>3</a:t>
            </a:r>
            <a:r>
              <a:rPr lang="zh-CN" altLang="en-US" sz="2400" dirty="0">
                <a:sym typeface="+mn-ea"/>
              </a:rPr>
              <a:t>、工业革命生产组织形式发生了什么变化？</a:t>
            </a:r>
            <a:r>
              <a:rPr lang="zh-CN" altLang="en-US" sz="2400" dirty="0">
                <a:solidFill>
                  <a:srgbClr val="FF0000"/>
                </a:solidFill>
                <a:sym typeface="+mn-ea"/>
              </a:rPr>
              <a:t>手工工场到机器工厂</a:t>
            </a:r>
          </a:p>
          <a:p>
            <a:pPr algn="l">
              <a:lnSpc>
                <a:spcPct val="100000"/>
              </a:lnSpc>
              <a:buClrTx/>
              <a:buSzTx/>
            </a:pPr>
            <a:r>
              <a:rPr lang="zh-CN" altLang="en-US" sz="2400" dirty="0">
                <a:sym typeface="+mn-ea"/>
              </a:rPr>
              <a:t>4、工业革命从哪个行业开始：</a:t>
            </a:r>
            <a:r>
              <a:rPr lang="zh-CN" altLang="en-US" sz="2400" dirty="0">
                <a:solidFill>
                  <a:srgbClr val="FF0000"/>
                </a:solidFill>
                <a:sym typeface="+mn-ea"/>
              </a:rPr>
              <a:t>棉纺织业</a:t>
            </a:r>
          </a:p>
          <a:p>
            <a:pPr algn="l">
              <a:lnSpc>
                <a:spcPct val="100000"/>
              </a:lnSpc>
              <a:buClrTx/>
              <a:buSzTx/>
            </a:pPr>
            <a:r>
              <a:rPr lang="zh-CN" altLang="en-US" sz="2400" dirty="0">
                <a:sym typeface="+mn-ea"/>
              </a:rPr>
              <a:t>5、《共产党宣言》发表时间、意义：</a:t>
            </a:r>
            <a:r>
              <a:rPr lang="en-US" altLang="zh-CN" sz="2400" dirty="0">
                <a:solidFill>
                  <a:srgbClr val="FF0000"/>
                </a:solidFill>
                <a:sym typeface="+mn-ea"/>
              </a:rPr>
              <a:t>1848</a:t>
            </a:r>
            <a:r>
              <a:rPr lang="zh-CN" altLang="en-US" sz="2400" dirty="0">
                <a:solidFill>
                  <a:srgbClr val="FF0000"/>
                </a:solidFill>
                <a:sym typeface="+mn-ea"/>
              </a:rPr>
              <a:t>年，为无产阶级斗争提供科学理论指导，国际共产主义运动兴起并蓬勃发展。</a:t>
            </a:r>
            <a:endParaRPr lang="zh-CN" altLang="en-US" sz="2400" dirty="0">
              <a:solidFill>
                <a:srgbClr val="FF0000"/>
              </a:solidFill>
            </a:endParaRPr>
          </a:p>
          <a:p>
            <a:pPr>
              <a:spcAft>
                <a:spcPts val="400"/>
              </a:spcAft>
            </a:pPr>
            <a:r>
              <a:rPr lang="zh-CN" altLang="en-US" sz="2400" dirty="0"/>
              <a:t>一工特点：技术发明多源于工匠的实践经验的积累，科学与技术尚未紧密结合；首先发生于英国，随后扩展到其他国家；以轻工业为突破口，以蒸汽机为动力来源。</a:t>
            </a:r>
          </a:p>
          <a:p>
            <a:pPr>
              <a:lnSpc>
                <a:spcPct val="150000"/>
              </a:lnSpc>
              <a:spcAft>
                <a:spcPts val="400"/>
              </a:spcAft>
            </a:pPr>
            <a:r>
              <a:rPr lang="zh-CN" altLang="en-US" sz="2400" dirty="0">
                <a:highlight>
                  <a:srgbClr val="FFFF00"/>
                </a:highlight>
              </a:rPr>
              <a:t>二工的特点：</a:t>
            </a:r>
            <a:r>
              <a:rPr lang="zh-CN" altLang="en-US" sz="2400" dirty="0">
                <a:solidFill>
                  <a:srgbClr val="FF0000"/>
                </a:solidFill>
                <a:highlight>
                  <a:srgbClr val="FFFF00"/>
                </a:highlight>
                <a:sym typeface="+mn-ea"/>
              </a:rPr>
              <a:t>1、科学研究同工业生产紧密结合。（最突出特点）</a:t>
            </a:r>
            <a:endParaRPr lang="zh-CN" altLang="en-US" sz="2400" dirty="0">
              <a:solidFill>
                <a:srgbClr val="FF0000"/>
              </a:solidFill>
              <a:highlight>
                <a:srgbClr val="FFFF00"/>
              </a:highlight>
            </a:endParaRPr>
          </a:p>
          <a:p>
            <a:pPr>
              <a:lnSpc>
                <a:spcPct val="150000"/>
              </a:lnSpc>
              <a:spcAft>
                <a:spcPts val="400"/>
              </a:spcAft>
            </a:pPr>
            <a:r>
              <a:rPr lang="zh-CN" altLang="en-US" sz="2400" dirty="0">
                <a:sym typeface="+mn-ea"/>
              </a:rPr>
              <a:t>2、几乎同时在欧美诸国展开；</a:t>
            </a:r>
            <a:endParaRPr lang="zh-CN" altLang="en-US" sz="2400" dirty="0"/>
          </a:p>
          <a:p>
            <a:pPr>
              <a:lnSpc>
                <a:spcPct val="150000"/>
              </a:lnSpc>
              <a:spcAft>
                <a:spcPts val="400"/>
              </a:spcAft>
            </a:pPr>
            <a:r>
              <a:rPr lang="zh-CN" altLang="en-US" sz="2400" dirty="0">
                <a:sym typeface="+mn-ea"/>
              </a:rPr>
              <a:t>3、侧重于重工业部门。</a:t>
            </a:r>
            <a:endParaRPr lang="zh-CN" altLang="en-US" sz="2400" dirty="0"/>
          </a:p>
          <a:p>
            <a:pPr>
              <a:lnSpc>
                <a:spcPct val="150000"/>
              </a:lnSpc>
              <a:spcAft>
                <a:spcPts val="400"/>
              </a:spcAft>
            </a:pPr>
            <a:r>
              <a:rPr lang="zh-CN" altLang="en-US" sz="2400" dirty="0">
                <a:sym typeface="+mn-ea"/>
              </a:rPr>
              <a:t>4、一些后起国家的两次工业革命交叉进行，加快了其经济的发展。</a:t>
            </a:r>
            <a:endParaRPr lang="zh-CN" altLang="en-US" sz="2400" dirty="0"/>
          </a:p>
          <a:p>
            <a:endParaRPr lang="zh-CN" altLang="en-US" sz="24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a="http://schemas.openxmlformats.org/drawingml/2006/main" xmlns:r="http://schemas.openxmlformats.org/officeDocument/2006/relationships" xmlns:p="http://schemas.openxmlformats.org/presentationml/2006/main">
  <p:tag name="KSO_WM_UNIT_TABLE_BEAUTIFY" val="smartTable{ecbe78a2-0875-42c6-9707-65e687b91367}"/>
  <p:tag name="TABLE_ENDDRAG_ORIGIN_RECT" val="787*221"/>
  <p:tag name="TABLE_ENDDRAG_RECT" val="34*0*787*221"/>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5716</TotalTime>
  <Words>12176</Words>
  <Application>Microsoft Macintosh PowerPoint</Application>
  <PresentationFormat>宽屏</PresentationFormat>
  <Paragraphs>688</Paragraphs>
  <Slides>60</Slides>
  <Notes>60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60</vt:i4>
      </vt:variant>
    </vt:vector>
  </HeadingPairs>
  <TitlesOfParts>
    <vt:vector size="64" baseType="lpstr">
      <vt:lpstr>Arial</vt:lpstr>
      <vt:lpstr>Calibri</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第二次工业革命   19C60、70S-20C初</vt:lpstr>
      <vt:lpstr>PowerPoint 演示文稿</vt:lpstr>
      <vt:lpstr>民族民主运动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andrew</cp:lastModifiedBy>
  <cp:revision>176</cp:revision>
  <cp:lastPrinted>2026-04-24T14:37:33Z</cp:lastPrinted>
  <dcterms:created xsi:type="dcterms:W3CDTF">2019-06-19T02:08:00Z</dcterms:created>
  <dcterms:modified xsi:type="dcterms:W3CDTF">2026-04-24T15:07:05Z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E20C5E92CC434C69AC5ECA0FDADF0D7F_11</vt:lpwstr>
  </property>
</Properties>
</file>